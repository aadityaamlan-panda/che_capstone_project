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5A_6F20358.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2"/>
  </p:notesMasterIdLst>
  <p:sldIdLst>
    <p:sldId id="322" r:id="rId2"/>
    <p:sldId id="311" r:id="rId3"/>
    <p:sldId id="275" r:id="rId4"/>
    <p:sldId id="323" r:id="rId5"/>
    <p:sldId id="325" r:id="rId6"/>
    <p:sldId id="338" r:id="rId7"/>
    <p:sldId id="339" r:id="rId8"/>
    <p:sldId id="336" r:id="rId9"/>
    <p:sldId id="337" r:id="rId10"/>
    <p:sldId id="258" r:id="rId11"/>
    <p:sldId id="326" r:id="rId12"/>
    <p:sldId id="327" r:id="rId13"/>
    <p:sldId id="328" r:id="rId14"/>
    <p:sldId id="329" r:id="rId15"/>
    <p:sldId id="312" r:id="rId16"/>
    <p:sldId id="334" r:id="rId17"/>
    <p:sldId id="332" r:id="rId18"/>
    <p:sldId id="333" r:id="rId19"/>
    <p:sldId id="256" r:id="rId20"/>
    <p:sldId id="287" r:id="rId21"/>
    <p:sldId id="297" r:id="rId22"/>
    <p:sldId id="298" r:id="rId23"/>
    <p:sldId id="347" r:id="rId24"/>
    <p:sldId id="316" r:id="rId25"/>
    <p:sldId id="301" r:id="rId26"/>
    <p:sldId id="313" r:id="rId27"/>
    <p:sldId id="283" r:id="rId28"/>
    <p:sldId id="260" r:id="rId29"/>
    <p:sldId id="319" r:id="rId30"/>
    <p:sldId id="318" r:id="rId31"/>
    <p:sldId id="320" r:id="rId32"/>
    <p:sldId id="321" r:id="rId33"/>
    <p:sldId id="317" r:id="rId34"/>
    <p:sldId id="288" r:id="rId35"/>
    <p:sldId id="289" r:id="rId36"/>
    <p:sldId id="341" r:id="rId37"/>
    <p:sldId id="342" r:id="rId38"/>
    <p:sldId id="346" r:id="rId39"/>
    <p:sldId id="264" r:id="rId40"/>
    <p:sldId id="308" r:id="rId41"/>
    <p:sldId id="395" r:id="rId42"/>
    <p:sldId id="396" r:id="rId43"/>
    <p:sldId id="384" r:id="rId44"/>
    <p:sldId id="348" r:id="rId45"/>
    <p:sldId id="349" r:id="rId46"/>
    <p:sldId id="350" r:id="rId47"/>
    <p:sldId id="351" r:id="rId48"/>
    <p:sldId id="353" r:id="rId49"/>
    <p:sldId id="354" r:id="rId50"/>
    <p:sldId id="355" r:id="rId51"/>
    <p:sldId id="379" r:id="rId52"/>
    <p:sldId id="357" r:id="rId53"/>
    <p:sldId id="356" r:id="rId54"/>
    <p:sldId id="358" r:id="rId55"/>
    <p:sldId id="398" r:id="rId56"/>
    <p:sldId id="397" r:id="rId57"/>
    <p:sldId id="381" r:id="rId58"/>
    <p:sldId id="385" r:id="rId59"/>
    <p:sldId id="383" r:id="rId60"/>
    <p:sldId id="382" r:id="rId61"/>
    <p:sldId id="386" r:id="rId62"/>
    <p:sldId id="387" r:id="rId63"/>
    <p:sldId id="388" r:id="rId64"/>
    <p:sldId id="389" r:id="rId65"/>
    <p:sldId id="390" r:id="rId66"/>
    <p:sldId id="391" r:id="rId67"/>
    <p:sldId id="392" r:id="rId68"/>
    <p:sldId id="393" r:id="rId69"/>
    <p:sldId id="394" r:id="rId70"/>
    <p:sldId id="286"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stillation Column Sequencing" id="{A323E7C0-88C9-4CCC-8433-2BE45F99076D}">
          <p14:sldIdLst>
            <p14:sldId id="322"/>
            <p14:sldId id="311"/>
            <p14:sldId id="275"/>
            <p14:sldId id="323"/>
            <p14:sldId id="325"/>
            <p14:sldId id="338"/>
            <p14:sldId id="339"/>
            <p14:sldId id="336"/>
            <p14:sldId id="337"/>
            <p14:sldId id="258"/>
            <p14:sldId id="326"/>
            <p14:sldId id="327"/>
            <p14:sldId id="328"/>
            <p14:sldId id="329"/>
            <p14:sldId id="312"/>
            <p14:sldId id="334"/>
            <p14:sldId id="332"/>
            <p14:sldId id="333"/>
          </p14:sldIdLst>
        </p14:section>
        <p14:section name="section 1" id="{1B9671D3-2941-4CB4-88F2-9A5AB39FA612}">
          <p14:sldIdLst>
            <p14:sldId id="256"/>
          </p14:sldIdLst>
        </p14:section>
        <p14:section name="Economic Analysis and Thermo Checks" id="{3816B4B9-A08F-41E6-8822-3AA2B39F60AD}">
          <p14:sldIdLst>
            <p14:sldId id="287"/>
            <p14:sldId id="297"/>
            <p14:sldId id="298"/>
            <p14:sldId id="347"/>
            <p14:sldId id="316"/>
            <p14:sldId id="301"/>
            <p14:sldId id="313"/>
            <p14:sldId id="283"/>
            <p14:sldId id="260"/>
            <p14:sldId id="319"/>
            <p14:sldId id="318"/>
            <p14:sldId id="320"/>
            <p14:sldId id="321"/>
            <p14:sldId id="317"/>
            <p14:sldId id="288"/>
            <p14:sldId id="289"/>
          </p14:sldIdLst>
        </p14:section>
        <p14:section name="Cogen Plant" id="{EBC6BD86-3E18-4098-A5EF-852ABED3C27A}">
          <p14:sldIdLst>
            <p14:sldId id="341"/>
            <p14:sldId id="342"/>
            <p14:sldId id="346"/>
            <p14:sldId id="264"/>
            <p14:sldId id="308"/>
          </p14:sldIdLst>
        </p14:section>
        <p14:section name="Cooling Water Loop" id="{B0122D72-DA74-4AE7-A4A0-854AC1E984B9}">
          <p14:sldIdLst>
            <p14:sldId id="395"/>
            <p14:sldId id="396"/>
            <p14:sldId id="384"/>
          </p14:sldIdLst>
        </p14:section>
        <p14:section name="Reactor Design" id="{CFFD3B94-ADAE-4B44-BFA1-A0ABD7D150F8}">
          <p14:sldIdLst>
            <p14:sldId id="348"/>
            <p14:sldId id="349"/>
            <p14:sldId id="350"/>
            <p14:sldId id="351"/>
            <p14:sldId id="353"/>
            <p14:sldId id="354"/>
            <p14:sldId id="355"/>
            <p14:sldId id="379"/>
            <p14:sldId id="357"/>
            <p14:sldId id="356"/>
            <p14:sldId id="358"/>
          </p14:sldIdLst>
        </p14:section>
        <p14:section name="Pinch Technology" id="{5DCCA012-F1A4-450A-8E55-D87FB9115669}">
          <p14:sldIdLst>
            <p14:sldId id="398"/>
            <p14:sldId id="397"/>
            <p14:sldId id="381"/>
            <p14:sldId id="385"/>
            <p14:sldId id="383"/>
            <p14:sldId id="382"/>
          </p14:sldIdLst>
        </p14:section>
        <p14:section name="Techno-Economic Analysis" id="{73818F0C-9A5D-471E-AC6B-782A7889AB64}">
          <p14:sldIdLst>
            <p14:sldId id="386"/>
            <p14:sldId id="387"/>
            <p14:sldId id="388"/>
            <p14:sldId id="389"/>
            <p14:sldId id="390"/>
            <p14:sldId id="391"/>
            <p14:sldId id="392"/>
            <p14:sldId id="393"/>
            <p14:sldId id="394"/>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9C0466-F1BA-BA2D-DE68-3C74CD17BB6A}" name="Tushar Verma" initials="TV" userId="Tushar Verma" providerId="None"/>
  <p188:author id="{22265A76-A954-86E4-C7D4-FE29C35C25EE}" name="Guest User" initials="GU" userId="S::urn:spo:tenantanon#9ebcd82b-3a71-49bf-891e-86d819a0911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0D1117"/>
    <a:srgbClr val="C9C9C9"/>
    <a:srgbClr val="E7EAED"/>
    <a:srgbClr val="0000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13D0F-8569-4965-A7C6-A741C31E65E3}" v="294" dt="2025-11-16T09:45:52.923"/>
    <p1510:client id="{661E6478-A7BB-4AE2-B7BB-4E47350E1329}" v="29" dt="2025-11-15T17:54:03.448"/>
    <p1510:client id="{B2EDF402-354A-1392-0FFB-4F0105CE56BA}" v="8" dt="2025-11-16T12:08:52.267"/>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omments/modernComment_15A_6F20358.xml><?xml version="1.0" encoding="utf-8"?>
<p188:cmLst xmlns:a="http://schemas.openxmlformats.org/drawingml/2006/main" xmlns:r="http://schemas.openxmlformats.org/officeDocument/2006/relationships" xmlns:p188="http://schemas.microsoft.com/office/powerpoint/2018/8/main">
  <p188:cm id="{173E4FD9-36F6-4438-866B-0D110B2DBC9B}" authorId="{22265A76-A954-86E4-C7D4-FE29C35C25EE}" created="2025-09-25T08:29:43.579">
    <pc:sldMkLst xmlns:pc="http://schemas.microsoft.com/office/powerpoint/2013/main/command">
      <pc:docMk/>
      <pc:sldMk cId="116523864" sldId="346"/>
    </pc:sldMkLst>
    <p188:txBody>
      <a:bodyPr/>
      <a:lstStyle/>
      <a:p>
        <a:r>
          <a:rPr lang="en-GB"/>
          <a:t>High Pressure: 180-250
Medium Pressure: 130-180
Low: 130 below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3FC28-C972-4DA1-B125-EB352751E489}" type="datetimeFigureOut">
              <a:rPr lang="en-US" smtClean="0"/>
              <a:t>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3A0743-8306-406A-A39C-F65F28E4BDA9}" type="slidenum">
              <a:rPr lang="en-US" smtClean="0"/>
              <a:t>‹#›</a:t>
            </a:fld>
            <a:endParaRPr lang="en-US"/>
          </a:p>
        </p:txBody>
      </p:sp>
    </p:spTree>
    <p:extLst>
      <p:ext uri="{BB962C8B-B14F-4D97-AF65-F5344CB8AC3E}">
        <p14:creationId xmlns:p14="http://schemas.microsoft.com/office/powerpoint/2010/main" val="1834649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F3A0743-8306-406A-A39C-F65F28E4BDA9}" type="slidenum">
              <a:rPr lang="en-US" smtClean="0"/>
              <a:t>11</a:t>
            </a:fld>
            <a:endParaRPr lang="en-US"/>
          </a:p>
        </p:txBody>
      </p:sp>
    </p:spTree>
    <p:extLst>
      <p:ext uri="{BB962C8B-B14F-4D97-AF65-F5344CB8AC3E}">
        <p14:creationId xmlns:p14="http://schemas.microsoft.com/office/powerpoint/2010/main" val="3898424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19</a:t>
            </a:fld>
            <a:endParaRPr lang="en-US"/>
          </a:p>
        </p:txBody>
      </p:sp>
    </p:spTree>
    <p:extLst>
      <p:ext uri="{BB962C8B-B14F-4D97-AF65-F5344CB8AC3E}">
        <p14:creationId xmlns:p14="http://schemas.microsoft.com/office/powerpoint/2010/main" val="3921800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30</a:t>
            </a:fld>
            <a:endParaRPr lang="en-US"/>
          </a:p>
        </p:txBody>
      </p:sp>
    </p:spTree>
    <p:extLst>
      <p:ext uri="{BB962C8B-B14F-4D97-AF65-F5344CB8AC3E}">
        <p14:creationId xmlns:p14="http://schemas.microsoft.com/office/powerpoint/2010/main" val="4171138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36</a:t>
            </a:fld>
            <a:endParaRPr lang="en-US"/>
          </a:p>
        </p:txBody>
      </p:sp>
    </p:spTree>
    <p:extLst>
      <p:ext uri="{BB962C8B-B14F-4D97-AF65-F5344CB8AC3E}">
        <p14:creationId xmlns:p14="http://schemas.microsoft.com/office/powerpoint/2010/main" val="2911008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800"/>
          </a:p>
        </p:txBody>
      </p:sp>
      <p:sp>
        <p:nvSpPr>
          <p:cNvPr id="4" name="Slide Number Placeholder 3"/>
          <p:cNvSpPr>
            <a:spLocks noGrp="1"/>
          </p:cNvSpPr>
          <p:nvPr>
            <p:ph type="sldNum" sz="quarter" idx="5"/>
          </p:nvPr>
        </p:nvSpPr>
        <p:spPr/>
        <p:txBody>
          <a:bodyPr/>
          <a:lstStyle/>
          <a:p>
            <a:fld id="{3F3A0743-8306-406A-A39C-F65F28E4BDA9}" type="slidenum">
              <a:rPr lang="en-US" smtClean="0"/>
              <a:t>37</a:t>
            </a:fld>
            <a:endParaRPr lang="en-US"/>
          </a:p>
        </p:txBody>
      </p:sp>
    </p:spTree>
    <p:extLst>
      <p:ext uri="{BB962C8B-B14F-4D97-AF65-F5344CB8AC3E}">
        <p14:creationId xmlns:p14="http://schemas.microsoft.com/office/powerpoint/2010/main" val="223702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MBCWH AND MBCW cooling inlet and hot outlet water from cooling methyl benzoate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BACWH AND BACW cooling inlet and hot outlet water from cooling benzoic acid</a:t>
            </a:r>
          </a:p>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41</a:t>
            </a:fld>
            <a:endParaRPr lang="en-US"/>
          </a:p>
        </p:txBody>
      </p:sp>
    </p:spTree>
    <p:extLst>
      <p:ext uri="{BB962C8B-B14F-4D97-AF65-F5344CB8AC3E}">
        <p14:creationId xmlns:p14="http://schemas.microsoft.com/office/powerpoint/2010/main" val="4039176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MBCWH AND MBCW cooling inlet and hot outlet water from cooling methyl benzoate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BACWH AND BACW cooling inlet and hot outlet water from cooling benzoic acid</a:t>
            </a:r>
          </a:p>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42</a:t>
            </a:fld>
            <a:endParaRPr lang="en-US"/>
          </a:p>
        </p:txBody>
      </p:sp>
    </p:spTree>
    <p:extLst>
      <p:ext uri="{BB962C8B-B14F-4D97-AF65-F5344CB8AC3E}">
        <p14:creationId xmlns:p14="http://schemas.microsoft.com/office/powerpoint/2010/main" val="2474353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I'll be presenting the detailed design of our *Shell and Tube Heat Exchanger*. The fundamental conceptual theory at play here is *convective heat transfer* </a:t>
            </a:r>
            <a:endParaRPr lang="en-US">
              <a:ea typeface="Calibri"/>
              <a:cs typeface="+mn-lt"/>
            </a:endParaRPr>
          </a:p>
          <a:p>
            <a:r>
              <a:rPr lang="en-US"/>
              <a:t>. We use this Shell and Tube Heat Exchanger to separate the hot and cold fluids, forcing heat to transfer efficiently across the metal tube walls.  We chose the standard *TEMA E-Type shell* , which is the most common and cost-effective choice for general duties.</a:t>
            </a:r>
            <a:endParaRPr lang="en-US">
              <a:ea typeface="Calibri"/>
              <a:cs typeface="Calibri"/>
            </a:endParaRPr>
          </a:p>
        </p:txBody>
      </p:sp>
      <p:sp>
        <p:nvSpPr>
          <p:cNvPr id="4" name="Slide Number Placeholder 3"/>
          <p:cNvSpPr>
            <a:spLocks noGrp="1"/>
          </p:cNvSpPr>
          <p:nvPr>
            <p:ph type="sldNum" sz="quarter" idx="5"/>
          </p:nvPr>
        </p:nvSpPr>
        <p:spPr/>
        <p:txBody>
          <a:bodyPr/>
          <a:lstStyle/>
          <a:p>
            <a:fld id="{3F3A0743-8306-406A-A39C-F65F28E4BDA9}" type="slidenum">
              <a:rPr lang="en-US" smtClean="0"/>
              <a:t>48</a:t>
            </a:fld>
            <a:endParaRPr lang="en-US"/>
          </a:p>
        </p:txBody>
      </p:sp>
    </p:spTree>
    <p:extLst>
      <p:ext uri="{BB962C8B-B14F-4D97-AF65-F5344CB8AC3E}">
        <p14:creationId xmlns:p14="http://schemas.microsoft.com/office/powerpoint/2010/main" val="2950868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r>
              <a:rPr lang="en-US"/>
              <a:t>2.  *Performance Requirement:* The shell-side fluid is our process stream, which has a significant mass flow rate of *600,000 kilograms per hour. Our design must heat this stream from *$25^{\circ}C$ to $40^{\circ}C$*.</a:t>
            </a:r>
            <a:endParaRPr lang="en-US">
              <a:ea typeface="Calibri"/>
              <a:cs typeface="Calibri"/>
            </a:endParaRPr>
          </a:p>
          <a:p>
            <a:r>
              <a:rPr lang="en-US"/>
              <a:t>3.  *Optimization:*  This required a significant geometry: the final design contains *2,425 tubes, each with a standard length of **4.88 meters* and a $20 \text{ mm}$ outer diameter."</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3F3A0743-8306-406A-A39C-F65F28E4BDA9}" type="slidenum">
              <a:rPr lang="en-US" smtClean="0"/>
              <a:t>49</a:t>
            </a:fld>
            <a:endParaRPr lang="en-US"/>
          </a:p>
        </p:txBody>
      </p:sp>
    </p:spTree>
    <p:extLst>
      <p:ext uri="{BB962C8B-B14F-4D97-AF65-F5344CB8AC3E}">
        <p14:creationId xmlns:p14="http://schemas.microsoft.com/office/powerpoint/2010/main" val="3230284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maximize heat exchange, we use *baffles* with a *25% cut. This forces the fluid into a turbulent, zigzag **cross-flow* pattern around the tubes, which greatly enhances the heat transfer rate.</a:t>
            </a:r>
            <a:endParaRPr lang="en-US">
              <a:ea typeface="Calibri"/>
              <a:cs typeface="Calibri"/>
            </a:endParaRPr>
          </a:p>
        </p:txBody>
      </p:sp>
      <p:sp>
        <p:nvSpPr>
          <p:cNvPr id="4" name="Slide Number Placeholder 3"/>
          <p:cNvSpPr>
            <a:spLocks noGrp="1"/>
          </p:cNvSpPr>
          <p:nvPr>
            <p:ph type="sldNum" sz="quarter" idx="5"/>
          </p:nvPr>
        </p:nvSpPr>
        <p:spPr/>
        <p:txBody>
          <a:bodyPr/>
          <a:lstStyle/>
          <a:p>
            <a:fld id="{3F3A0743-8306-406A-A39C-F65F28E4BDA9}" type="slidenum">
              <a:rPr lang="en-US" smtClean="0"/>
              <a:t>50</a:t>
            </a:fld>
            <a:endParaRPr lang="en-US"/>
          </a:p>
        </p:txBody>
      </p:sp>
    </p:spTree>
    <p:extLst>
      <p:ext uri="{BB962C8B-B14F-4D97-AF65-F5344CB8AC3E}">
        <p14:creationId xmlns:p14="http://schemas.microsoft.com/office/powerpoint/2010/main" val="1746878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Technical Result (Re):* The most important result is the calculated *Reynolds number* for the shell-side flow: *32,004.6. Since this is well above 10,000, we confirm **highly turbulent flow* is achieved. </a:t>
            </a:r>
          </a:p>
        </p:txBody>
      </p:sp>
      <p:sp>
        <p:nvSpPr>
          <p:cNvPr id="4" name="Slide Number Placeholder 3"/>
          <p:cNvSpPr>
            <a:spLocks noGrp="1"/>
          </p:cNvSpPr>
          <p:nvPr>
            <p:ph type="sldNum" sz="quarter" idx="5"/>
          </p:nvPr>
        </p:nvSpPr>
        <p:spPr/>
        <p:txBody>
          <a:bodyPr/>
          <a:lstStyle/>
          <a:p>
            <a:fld id="{3F3A0743-8306-406A-A39C-F65F28E4BDA9}" type="slidenum">
              <a:rPr lang="en-US" smtClean="0"/>
              <a:t>51</a:t>
            </a:fld>
            <a:endParaRPr lang="en-US"/>
          </a:p>
        </p:txBody>
      </p:sp>
    </p:spTree>
    <p:extLst>
      <p:ext uri="{BB962C8B-B14F-4D97-AF65-F5344CB8AC3E}">
        <p14:creationId xmlns:p14="http://schemas.microsoft.com/office/powerpoint/2010/main" val="2090594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We can see the results of hot and cold fluid in tube </a:t>
            </a:r>
            <a:r>
              <a:rPr lang="en-US"/>
              <a:t>and shell side and we can also see the value of </a:t>
            </a:r>
            <a:r>
              <a:rPr lang="en-US" err="1"/>
              <a:t>temerature</a:t>
            </a:r>
            <a:r>
              <a:rPr lang="en-US"/>
              <a:t> dependent properties</a:t>
            </a:r>
            <a:endParaRPr lang="en-US" err="1">
              <a:ea typeface="Calibri"/>
              <a:cs typeface="Calibri"/>
            </a:endParaRPr>
          </a:p>
        </p:txBody>
      </p:sp>
      <p:sp>
        <p:nvSpPr>
          <p:cNvPr id="4" name="Slide Number Placeholder 3"/>
          <p:cNvSpPr>
            <a:spLocks noGrp="1"/>
          </p:cNvSpPr>
          <p:nvPr>
            <p:ph type="sldNum" sz="quarter" idx="5"/>
          </p:nvPr>
        </p:nvSpPr>
        <p:spPr/>
        <p:txBody>
          <a:bodyPr/>
          <a:lstStyle/>
          <a:p>
            <a:fld id="{3F3A0743-8306-406A-A39C-F65F28E4BDA9}" type="slidenum">
              <a:rPr lang="en-US" smtClean="0"/>
              <a:t>53</a:t>
            </a:fld>
            <a:endParaRPr lang="en-US"/>
          </a:p>
        </p:txBody>
      </p:sp>
    </p:spTree>
    <p:extLst>
      <p:ext uri="{BB962C8B-B14F-4D97-AF65-F5344CB8AC3E}">
        <p14:creationId xmlns:p14="http://schemas.microsoft.com/office/powerpoint/2010/main" val="2474371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Corrosion Resistance, Corrosion Resistance, he addition of 10% Nickel improves the mechanical strength</a:t>
            </a:r>
          </a:p>
        </p:txBody>
      </p:sp>
      <p:sp>
        <p:nvSpPr>
          <p:cNvPr id="4" name="Slide Number Placeholder 3"/>
          <p:cNvSpPr>
            <a:spLocks noGrp="1"/>
          </p:cNvSpPr>
          <p:nvPr>
            <p:ph type="sldNum" sz="quarter" idx="5"/>
          </p:nvPr>
        </p:nvSpPr>
        <p:spPr/>
        <p:txBody>
          <a:bodyPr/>
          <a:lstStyle/>
          <a:p>
            <a:fld id="{3F3A0743-8306-406A-A39C-F65F28E4BDA9}" type="slidenum">
              <a:rPr lang="en-US" smtClean="0"/>
              <a:t>54</a:t>
            </a:fld>
            <a:endParaRPr lang="en-US"/>
          </a:p>
        </p:txBody>
      </p:sp>
    </p:spTree>
    <p:extLst>
      <p:ext uri="{BB962C8B-B14F-4D97-AF65-F5344CB8AC3E}">
        <p14:creationId xmlns:p14="http://schemas.microsoft.com/office/powerpoint/2010/main" val="956228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77006-CD7B-B5F8-3110-8028D3C26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72FA9-4E96-6306-43F3-F0BEFF420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9C2851-5558-DD50-356B-41A32A51CF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A6B21D-F617-3D13-7CB3-DEA6BEAC38D2}"/>
              </a:ext>
            </a:extLst>
          </p:cNvPr>
          <p:cNvSpPr>
            <a:spLocks noGrp="1"/>
          </p:cNvSpPr>
          <p:nvPr>
            <p:ph type="sldNum" sz="quarter" idx="5"/>
          </p:nvPr>
        </p:nvSpPr>
        <p:spPr/>
        <p:txBody>
          <a:bodyPr/>
          <a:lstStyle/>
          <a:p>
            <a:fld id="{3F3A0743-8306-406A-A39C-F65F28E4BDA9}" type="slidenum">
              <a:rPr lang="en-US" smtClean="0"/>
              <a:t>55</a:t>
            </a:fld>
            <a:endParaRPr lang="en-US"/>
          </a:p>
        </p:txBody>
      </p:sp>
    </p:spTree>
    <p:extLst>
      <p:ext uri="{BB962C8B-B14F-4D97-AF65-F5344CB8AC3E}">
        <p14:creationId xmlns:p14="http://schemas.microsoft.com/office/powerpoint/2010/main" val="5962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56</a:t>
            </a:fld>
            <a:endParaRPr lang="en-US"/>
          </a:p>
        </p:txBody>
      </p:sp>
    </p:spTree>
    <p:extLst>
      <p:ext uri="{BB962C8B-B14F-4D97-AF65-F5344CB8AC3E}">
        <p14:creationId xmlns:p14="http://schemas.microsoft.com/office/powerpoint/2010/main" val="22605901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58</a:t>
            </a:fld>
            <a:endParaRPr lang="en-US"/>
          </a:p>
        </p:txBody>
      </p:sp>
    </p:spTree>
    <p:extLst>
      <p:ext uri="{BB962C8B-B14F-4D97-AF65-F5344CB8AC3E}">
        <p14:creationId xmlns:p14="http://schemas.microsoft.com/office/powerpoint/2010/main" val="723576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3A0743-8306-406A-A39C-F65F28E4BDA9}" type="slidenum">
              <a:rPr lang="en-US" smtClean="0"/>
              <a:t>61</a:t>
            </a:fld>
            <a:endParaRPr lang="en-US"/>
          </a:p>
        </p:txBody>
      </p:sp>
    </p:spTree>
    <p:extLst>
      <p:ext uri="{BB962C8B-B14F-4D97-AF65-F5344CB8AC3E}">
        <p14:creationId xmlns:p14="http://schemas.microsoft.com/office/powerpoint/2010/main" val="3480237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87BD-652D-D795-1575-66F1D649B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93593-3891-6407-47AF-28EC33470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83FF5-CAE3-D298-27CC-CBA42D93A3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9CB6E4-1375-5483-976F-D9879D2E0D1D}"/>
              </a:ext>
            </a:extLst>
          </p:cNvPr>
          <p:cNvSpPr>
            <a:spLocks noGrp="1"/>
          </p:cNvSpPr>
          <p:nvPr>
            <p:ph type="sldNum" sz="quarter" idx="5"/>
          </p:nvPr>
        </p:nvSpPr>
        <p:spPr/>
        <p:txBody>
          <a:bodyPr/>
          <a:lstStyle/>
          <a:p>
            <a:fld id="{3F3A0743-8306-406A-A39C-F65F28E4BDA9}" type="slidenum">
              <a:rPr lang="en-US" smtClean="0"/>
              <a:t>62</a:t>
            </a:fld>
            <a:endParaRPr lang="en-US"/>
          </a:p>
        </p:txBody>
      </p:sp>
    </p:spTree>
    <p:extLst>
      <p:ext uri="{BB962C8B-B14F-4D97-AF65-F5344CB8AC3E}">
        <p14:creationId xmlns:p14="http://schemas.microsoft.com/office/powerpoint/2010/main" val="766685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ACC06-F811-43CC-C4B0-FD94CB54D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2252E-D33D-B939-C765-867C4F97E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907CF-4584-63D6-53F3-BBDA06CE8F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3B6C25-1025-518F-C23F-6C6E5FA2CDB6}"/>
              </a:ext>
            </a:extLst>
          </p:cNvPr>
          <p:cNvSpPr>
            <a:spLocks noGrp="1"/>
          </p:cNvSpPr>
          <p:nvPr>
            <p:ph type="sldNum" sz="quarter" idx="5"/>
          </p:nvPr>
        </p:nvSpPr>
        <p:spPr/>
        <p:txBody>
          <a:bodyPr/>
          <a:lstStyle/>
          <a:p>
            <a:fld id="{3F3A0743-8306-406A-A39C-F65F28E4BDA9}" type="slidenum">
              <a:rPr lang="en-US" smtClean="0"/>
              <a:t>63</a:t>
            </a:fld>
            <a:endParaRPr lang="en-US"/>
          </a:p>
        </p:txBody>
      </p:sp>
    </p:spTree>
    <p:extLst>
      <p:ext uri="{BB962C8B-B14F-4D97-AF65-F5344CB8AC3E}">
        <p14:creationId xmlns:p14="http://schemas.microsoft.com/office/powerpoint/2010/main" val="61385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23431-B50D-887E-3C8C-7A955F8DA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8997D-28BE-D017-EF2F-8B4262D7C8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41A1A1-61BF-BF37-282B-12299844D8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01F454-DE64-E4BB-3BD0-05B812D0D3AE}"/>
              </a:ext>
            </a:extLst>
          </p:cNvPr>
          <p:cNvSpPr>
            <a:spLocks noGrp="1"/>
          </p:cNvSpPr>
          <p:nvPr>
            <p:ph type="sldNum" sz="quarter" idx="5"/>
          </p:nvPr>
        </p:nvSpPr>
        <p:spPr/>
        <p:txBody>
          <a:bodyPr/>
          <a:lstStyle/>
          <a:p>
            <a:fld id="{3F3A0743-8306-406A-A39C-F65F28E4BDA9}" type="slidenum">
              <a:rPr lang="en-US" smtClean="0"/>
              <a:t>64</a:t>
            </a:fld>
            <a:endParaRPr lang="en-US"/>
          </a:p>
        </p:txBody>
      </p:sp>
    </p:spTree>
    <p:extLst>
      <p:ext uri="{BB962C8B-B14F-4D97-AF65-F5344CB8AC3E}">
        <p14:creationId xmlns:p14="http://schemas.microsoft.com/office/powerpoint/2010/main" val="578378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85B47-BDE9-0BA0-A10B-13CC30908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B56AF-B5A4-F728-8DE7-B17148B0C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217AD-FB17-E183-322B-EAC05BF254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569873-053C-A23A-3159-06436B2B3383}"/>
              </a:ext>
            </a:extLst>
          </p:cNvPr>
          <p:cNvSpPr>
            <a:spLocks noGrp="1"/>
          </p:cNvSpPr>
          <p:nvPr>
            <p:ph type="sldNum" sz="quarter" idx="5"/>
          </p:nvPr>
        </p:nvSpPr>
        <p:spPr/>
        <p:txBody>
          <a:bodyPr/>
          <a:lstStyle/>
          <a:p>
            <a:fld id="{3F3A0743-8306-406A-A39C-F65F28E4BDA9}" type="slidenum">
              <a:rPr lang="en-US" smtClean="0"/>
              <a:t>65</a:t>
            </a:fld>
            <a:endParaRPr lang="en-US"/>
          </a:p>
        </p:txBody>
      </p:sp>
    </p:spTree>
    <p:extLst>
      <p:ext uri="{BB962C8B-B14F-4D97-AF65-F5344CB8AC3E}">
        <p14:creationId xmlns:p14="http://schemas.microsoft.com/office/powerpoint/2010/main" val="1059034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24D99-91C5-E828-EEC9-80F4CB0D3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B1B24-3624-005C-B349-132B365CC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D662E-4AB0-E6D1-0E2A-5EC1EFC807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4C7511-8D00-A601-C7BF-B358E1120716}"/>
              </a:ext>
            </a:extLst>
          </p:cNvPr>
          <p:cNvSpPr>
            <a:spLocks noGrp="1"/>
          </p:cNvSpPr>
          <p:nvPr>
            <p:ph type="sldNum" sz="quarter" idx="5"/>
          </p:nvPr>
        </p:nvSpPr>
        <p:spPr/>
        <p:txBody>
          <a:bodyPr/>
          <a:lstStyle/>
          <a:p>
            <a:fld id="{3F3A0743-8306-406A-A39C-F65F28E4BDA9}" type="slidenum">
              <a:rPr lang="en-US" smtClean="0"/>
              <a:t>66</a:t>
            </a:fld>
            <a:endParaRPr lang="en-US"/>
          </a:p>
        </p:txBody>
      </p:sp>
    </p:spTree>
    <p:extLst>
      <p:ext uri="{BB962C8B-B14F-4D97-AF65-F5344CB8AC3E}">
        <p14:creationId xmlns:p14="http://schemas.microsoft.com/office/powerpoint/2010/main" val="6081732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Reactor cost v/s conversion tradeoff </a:t>
            </a:r>
          </a:p>
        </p:txBody>
      </p:sp>
      <p:sp>
        <p:nvSpPr>
          <p:cNvPr id="4" name="Slide Number Placeholder 3"/>
          <p:cNvSpPr>
            <a:spLocks noGrp="1"/>
          </p:cNvSpPr>
          <p:nvPr>
            <p:ph type="sldNum" sz="quarter" idx="5"/>
          </p:nvPr>
        </p:nvSpPr>
        <p:spPr/>
        <p:txBody>
          <a:bodyPr/>
          <a:lstStyle/>
          <a:p>
            <a:fld id="{3F3A0743-8306-406A-A39C-F65F28E4BDA9}" type="slidenum">
              <a:rPr lang="en-US" smtClean="0"/>
              <a:t>67</a:t>
            </a:fld>
            <a:endParaRPr lang="en-US"/>
          </a:p>
        </p:txBody>
      </p:sp>
    </p:spTree>
    <p:extLst>
      <p:ext uri="{BB962C8B-B14F-4D97-AF65-F5344CB8AC3E}">
        <p14:creationId xmlns:p14="http://schemas.microsoft.com/office/powerpoint/2010/main" val="1131622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Methanol recovery increases fresh req reduces hence cost </a:t>
            </a:r>
          </a:p>
          <a:p>
            <a:r>
              <a:rPr lang="en-US"/>
              <a:t>Water recovery increases causing higher reboiler duty </a:t>
            </a:r>
          </a:p>
        </p:txBody>
      </p:sp>
      <p:sp>
        <p:nvSpPr>
          <p:cNvPr id="4" name="Slide Number Placeholder 3"/>
          <p:cNvSpPr>
            <a:spLocks noGrp="1"/>
          </p:cNvSpPr>
          <p:nvPr>
            <p:ph type="sldNum" sz="quarter" idx="5"/>
          </p:nvPr>
        </p:nvSpPr>
        <p:spPr/>
        <p:txBody>
          <a:bodyPr/>
          <a:lstStyle/>
          <a:p>
            <a:fld id="{3F3A0743-8306-406A-A39C-F65F28E4BDA9}" type="slidenum">
              <a:rPr lang="en-US" smtClean="0"/>
              <a:t>68</a:t>
            </a:fld>
            <a:endParaRPr lang="en-US"/>
          </a:p>
        </p:txBody>
      </p:sp>
    </p:spTree>
    <p:extLst>
      <p:ext uri="{BB962C8B-B14F-4D97-AF65-F5344CB8AC3E}">
        <p14:creationId xmlns:p14="http://schemas.microsoft.com/office/powerpoint/2010/main" val="2195257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Enriching this stream cause higher reboiler duty </a:t>
            </a:r>
          </a:p>
        </p:txBody>
      </p:sp>
      <p:sp>
        <p:nvSpPr>
          <p:cNvPr id="4" name="Slide Number Placeholder 3"/>
          <p:cNvSpPr>
            <a:spLocks noGrp="1"/>
          </p:cNvSpPr>
          <p:nvPr>
            <p:ph type="sldNum" sz="quarter" idx="5"/>
          </p:nvPr>
        </p:nvSpPr>
        <p:spPr/>
        <p:txBody>
          <a:bodyPr/>
          <a:lstStyle/>
          <a:p>
            <a:fld id="{3F3A0743-8306-406A-A39C-F65F28E4BDA9}" type="slidenum">
              <a:rPr lang="en-US" smtClean="0"/>
              <a:t>69</a:t>
            </a:fld>
            <a:endParaRPr lang="en-US"/>
          </a:p>
        </p:txBody>
      </p:sp>
    </p:spTree>
    <p:extLst>
      <p:ext uri="{BB962C8B-B14F-4D97-AF65-F5344CB8AC3E}">
        <p14:creationId xmlns:p14="http://schemas.microsoft.com/office/powerpoint/2010/main" val="2317088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s://pubs.acs.org/doi/10.1021/ja01277a028"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emf"/><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emf"/><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emf"/><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dataintelo.com/report/global-methyl-benzoate-market" TargetMode="External"/><Relationship Id="rId2" Type="http://schemas.openxmlformats.org/officeDocument/2006/relationships/image" Target="../media/image19.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pubs.acs.org/doi/10.1021/ja01277a028"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hyperlink" Target="https://dimensionmarketresearch.com/report/benzoic-acid-market" TargetMode="External"/><Relationship Id="rId4" Type="http://schemas.openxmlformats.org/officeDocument/2006/relationships/hyperlink" Target="https://www.polarismarketresearch.com/industry-analysis/methanol-market"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https://pubs.acs.org/doi/10.1021/ja01277a028"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emf"/><Relationship Id="rId2" Type="http://schemas.microsoft.com/office/2018/10/relationships/comments" Target="../comments/modernComment_15A_6F2035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2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1D588-78F1-03F0-1431-8BDA25D38595}"/>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15FE9A6F-E5BD-4AEC-B1BD-53780476D8D3}"/>
              </a:ext>
            </a:extLst>
          </p:cNvPr>
          <p:cNvSpPr/>
          <p:nvPr/>
        </p:nvSpPr>
        <p:spPr>
          <a:xfrm>
            <a:off x="2417689" y="3340996"/>
            <a:ext cx="7351098" cy="631657"/>
          </a:xfrm>
          <a:prstGeom prst="roundRect">
            <a:avLst>
              <a:gd name="adj" fmla="val 50000"/>
            </a:avLst>
          </a:prstGeom>
          <a:solidFill>
            <a:schemeClr val="bg1">
              <a:lumMod val="9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4F469D-2685-F691-4416-3EA6473EF11F}"/>
              </a:ext>
            </a:extLst>
          </p:cNvPr>
          <p:cNvSpPr txBox="1"/>
          <p:nvPr/>
        </p:nvSpPr>
        <p:spPr>
          <a:xfrm>
            <a:off x="541085" y="1265515"/>
            <a:ext cx="1110430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solidFill>
                  <a:srgbClr val="1B1C1D"/>
                </a:solidFill>
                <a:latin typeface="Times New Roman"/>
                <a:cs typeface="Times New Roman"/>
              </a:rPr>
              <a:t>R1 (Equilibrium reactor):</a:t>
            </a:r>
            <a:r>
              <a:rPr lang="en-US">
                <a:solidFill>
                  <a:srgbClr val="1B1C1D"/>
                </a:solidFill>
                <a:latin typeface="Times New Roman"/>
                <a:cs typeface="Times New Roman"/>
              </a:rPr>
              <a:t> The flowsheet utilizes an </a:t>
            </a:r>
            <a:r>
              <a:rPr lang="en-US" b="1">
                <a:solidFill>
                  <a:srgbClr val="1B1C1D"/>
                </a:solidFill>
                <a:latin typeface="Times New Roman"/>
                <a:cs typeface="Times New Roman"/>
              </a:rPr>
              <a:t>equilibrium reactor</a:t>
            </a:r>
            <a:r>
              <a:rPr lang="en-US">
                <a:solidFill>
                  <a:srgbClr val="1B1C1D"/>
                </a:solidFill>
                <a:latin typeface="Times New Roman"/>
                <a:cs typeface="Times New Roman"/>
              </a:rPr>
              <a:t> for the esterification reaction. A near-complete conversion of Benzoic Acid has been observed in the equilibrium reactor, yielding a large k, which we will correct once we obtain the detailed kinetics. </a:t>
            </a:r>
          </a:p>
          <a:p>
            <a:pPr algn="just"/>
            <a:endParaRPr lang="en-US">
              <a:solidFill>
                <a:srgbClr val="1B1C1D"/>
              </a:solidFill>
              <a:latin typeface="Times New Roman"/>
              <a:cs typeface="Times New Roman"/>
            </a:endParaRPr>
          </a:p>
          <a:p>
            <a:pPr algn="just"/>
            <a:r>
              <a:rPr lang="en-US">
                <a:latin typeface="Times New Roman"/>
                <a:cs typeface="Times New Roman"/>
              </a:rPr>
              <a:t>Since it's Equilibrium Reactor</a:t>
            </a:r>
            <a:r>
              <a:rPr lang="en-US">
                <a:latin typeface="Times New Roman"/>
                <a:ea typeface="+mn-lt"/>
                <a:cs typeface="Times New Roman"/>
              </a:rPr>
              <a:t>, t</a:t>
            </a:r>
            <a:r>
              <a:rPr lang="en-US">
                <a:latin typeface="Times New Roman"/>
                <a:ea typeface="+mn-lt"/>
                <a:cs typeface="+mn-lt"/>
              </a:rPr>
              <a:t>emperature &amp; pressure are taken </a:t>
            </a:r>
            <a:r>
              <a:rPr lang="en-US" b="1">
                <a:latin typeface="Times New Roman"/>
                <a:ea typeface="+mn-lt"/>
                <a:cs typeface="+mn-lt"/>
              </a:rPr>
              <a:t> directly from the feed stream(s) </a:t>
            </a:r>
            <a:r>
              <a:rPr lang="en-US">
                <a:latin typeface="Times New Roman"/>
                <a:ea typeface="+mn-lt"/>
                <a:cs typeface="+mn-lt"/>
              </a:rPr>
              <a:t>entering in it, implying Temperature is 25 °C and Pressure is 1 bar.</a:t>
            </a:r>
            <a:endParaRPr lang="en-US">
              <a:latin typeface="Times New Roman"/>
              <a:cs typeface="Times New Roman"/>
            </a:endParaRPr>
          </a:p>
        </p:txBody>
      </p:sp>
      <p:pic>
        <p:nvPicPr>
          <p:cNvPr id="2" name="Picture 1" descr="A diagram of a chemical reaction&#10;&#10;AI-generated content may be incorrect.">
            <a:extLst>
              <a:ext uri="{FF2B5EF4-FFF2-40B4-BE49-F238E27FC236}">
                <a16:creationId xmlns:a16="http://schemas.microsoft.com/office/drawing/2014/main" id="{AC3C8E4C-B2F5-6009-136A-3BF831D87C94}"/>
              </a:ext>
            </a:extLst>
          </p:cNvPr>
          <p:cNvPicPr>
            <a:picLocks noChangeAspect="1"/>
          </p:cNvPicPr>
          <p:nvPr/>
        </p:nvPicPr>
        <p:blipFill>
          <a:blip r:embed="rId2"/>
          <a:stretch>
            <a:fillRect/>
          </a:stretch>
        </p:blipFill>
        <p:spPr>
          <a:xfrm>
            <a:off x="2380151" y="4231699"/>
            <a:ext cx="7497274" cy="1365480"/>
          </a:xfrm>
          <a:prstGeom prst="rect">
            <a:avLst/>
          </a:prstGeom>
        </p:spPr>
      </p:pic>
      <p:sp>
        <p:nvSpPr>
          <p:cNvPr id="7" name="TextBox 6">
            <a:extLst>
              <a:ext uri="{FF2B5EF4-FFF2-40B4-BE49-F238E27FC236}">
                <a16:creationId xmlns:a16="http://schemas.microsoft.com/office/drawing/2014/main" id="{29053CE0-650B-6FCB-9C01-486E6D45EEEB}"/>
              </a:ext>
            </a:extLst>
          </p:cNvPr>
          <p:cNvSpPr txBox="1"/>
          <p:nvPr/>
        </p:nvSpPr>
        <p:spPr>
          <a:xfrm>
            <a:off x="2004212" y="3409276"/>
            <a:ext cx="817805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Times New Roman"/>
                <a:cs typeface="Times New Roman"/>
              </a:rPr>
              <a:t>Benzoic Acid + Methanol  → Methyl Benzoate + H</a:t>
            </a:r>
            <a:r>
              <a:rPr lang="en-US" sz="2400" b="1" baseline="-25000">
                <a:latin typeface="Times New Roman"/>
                <a:cs typeface="Times New Roman"/>
              </a:rPr>
              <a:t>2</a:t>
            </a:r>
            <a:r>
              <a:rPr lang="en-US" sz="2400" b="1">
                <a:latin typeface="Times New Roman"/>
                <a:cs typeface="Times New Roman"/>
              </a:rPr>
              <a:t>O</a:t>
            </a:r>
          </a:p>
        </p:txBody>
      </p:sp>
      <p:sp>
        <p:nvSpPr>
          <p:cNvPr id="6" name="Slide Number Placeholder 5">
            <a:extLst>
              <a:ext uri="{FF2B5EF4-FFF2-40B4-BE49-F238E27FC236}">
                <a16:creationId xmlns:a16="http://schemas.microsoft.com/office/drawing/2014/main" id="{2C42B773-1297-8660-15F2-C86C63BEA033}"/>
              </a:ext>
            </a:extLst>
          </p:cNvPr>
          <p:cNvSpPr>
            <a:spLocks noGrp="1"/>
          </p:cNvSpPr>
          <p:nvPr>
            <p:ph type="sldNum" sz="quarter" idx="12"/>
          </p:nvPr>
        </p:nvSpPr>
        <p:spPr/>
        <p:txBody>
          <a:bodyPr/>
          <a:lstStyle/>
          <a:p>
            <a:fld id="{330EA680-D336-4FF7-8B7A-9848BB0A1C32}" type="slidenum">
              <a:rPr lang="en-US" smtClean="0"/>
              <a:t>1</a:t>
            </a:fld>
            <a:endParaRPr lang="en-US"/>
          </a:p>
        </p:txBody>
      </p:sp>
      <p:pic>
        <p:nvPicPr>
          <p:cNvPr id="12" name="Picture 11">
            <a:extLst>
              <a:ext uri="{FF2B5EF4-FFF2-40B4-BE49-F238E27FC236}">
                <a16:creationId xmlns:a16="http://schemas.microsoft.com/office/drawing/2014/main" id="{78BB52F7-3431-E468-0CC9-4630BDD5DB63}"/>
              </a:ext>
            </a:extLst>
          </p:cNvPr>
          <p:cNvPicPr>
            <a:picLocks noChangeAspect="1"/>
          </p:cNvPicPr>
          <p:nvPr/>
        </p:nvPicPr>
        <p:blipFill>
          <a:blip r:embed="rId3"/>
          <a:srcRect l="11968" t="8946" r="15268" b="10995"/>
          <a:stretch/>
        </p:blipFill>
        <p:spPr>
          <a:xfrm>
            <a:off x="381000" y="4781365"/>
            <a:ext cx="1220323" cy="1733735"/>
          </a:xfrm>
          <a:prstGeom prst="rect">
            <a:avLst/>
          </a:prstGeom>
          <a:ln>
            <a:noFill/>
          </a:ln>
          <a:effectLst>
            <a:outerShdw blurRad="292100" dist="139700" dir="2700000" algn="tl" rotWithShape="0">
              <a:srgbClr val="333333">
                <a:alpha val="65000"/>
              </a:srgbClr>
            </a:outerShdw>
          </a:effectLst>
        </p:spPr>
      </p:pic>
      <p:sp>
        <p:nvSpPr>
          <p:cNvPr id="13" name="Rectangle 12">
            <a:extLst>
              <a:ext uri="{FF2B5EF4-FFF2-40B4-BE49-F238E27FC236}">
                <a16:creationId xmlns:a16="http://schemas.microsoft.com/office/drawing/2014/main" id="{E7ACB24C-C3EB-6D4B-66A0-C30D00D57F38}"/>
              </a:ext>
            </a:extLst>
          </p:cNvPr>
          <p:cNvSpPr/>
          <p:nvPr/>
        </p:nvSpPr>
        <p:spPr>
          <a:xfrm>
            <a:off x="2314575" y="4587627"/>
            <a:ext cx="9372439" cy="1860798"/>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IN"/>
          </a:p>
        </p:txBody>
      </p:sp>
      <p:sp>
        <p:nvSpPr>
          <p:cNvPr id="11" name="Rectangle 10">
            <a:extLst>
              <a:ext uri="{FF2B5EF4-FFF2-40B4-BE49-F238E27FC236}">
                <a16:creationId xmlns:a16="http://schemas.microsoft.com/office/drawing/2014/main" id="{FD4B5198-EF2D-4AAF-A01F-6E9A067E3BC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Reactor (T &amp; P) </a:t>
            </a:r>
          </a:p>
        </p:txBody>
      </p:sp>
    </p:spTree>
    <p:extLst>
      <p:ext uri="{BB962C8B-B14F-4D97-AF65-F5344CB8AC3E}">
        <p14:creationId xmlns:p14="http://schemas.microsoft.com/office/powerpoint/2010/main" val="275848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6A3DA-913F-3FCC-1A11-920AA7C2A6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E12D0BF-9666-BB1B-B30E-BC14522B5A52}"/>
              </a:ext>
            </a:extLst>
          </p:cNvPr>
          <p:cNvSpPr txBox="1"/>
          <p:nvPr/>
        </p:nvSpPr>
        <p:spPr>
          <a:xfrm>
            <a:off x="605987" y="4033346"/>
            <a:ext cx="108374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u="sng">
                <a:latin typeface="Times New Roman" panose="02020603050405020304" pitchFamily="18" charset="0"/>
                <a:cs typeface="Times New Roman" panose="02020603050405020304" pitchFamily="18" charset="0"/>
              </a:rPr>
              <a:t>Near Atmospheric Pressure (1 bar)</a:t>
            </a:r>
            <a:endParaRPr lang="en-US" b="1">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The primary reason is that this pressure is cost-effective equipment-wise. Another important reason is that no azeotropes are formed at this pressure.</a:t>
            </a:r>
          </a:p>
        </p:txBody>
      </p:sp>
      <p:sp>
        <p:nvSpPr>
          <p:cNvPr id="8" name="TextBox 7">
            <a:extLst>
              <a:ext uri="{FF2B5EF4-FFF2-40B4-BE49-F238E27FC236}">
                <a16:creationId xmlns:a16="http://schemas.microsoft.com/office/drawing/2014/main" id="{70DAB890-39E9-BFA7-A479-52F2F816A26B}"/>
              </a:ext>
            </a:extLst>
          </p:cNvPr>
          <p:cNvSpPr txBox="1"/>
          <p:nvPr/>
        </p:nvSpPr>
        <p:spPr>
          <a:xfrm>
            <a:off x="605987" y="1316087"/>
            <a:ext cx="5313527"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u="sng">
                <a:latin typeface="Times New Roman"/>
                <a:cs typeface="Times New Roman"/>
              </a:rPr>
              <a:t>The Molar Ratio (Methanol : Benz_A = 16.59 : 2.7)</a:t>
            </a:r>
            <a:endParaRPr lang="en-US" b="1">
              <a:latin typeface="Times New Roman"/>
              <a:cs typeface="Times New Roman"/>
            </a:endParaRPr>
          </a:p>
          <a:p>
            <a:pPr algn="just"/>
            <a:endParaRPr lang="en-US" b="1">
              <a:latin typeface="Times New Roman" panose="02020603050405020304" pitchFamily="18" charset="0"/>
              <a:cs typeface="Times New Roman" panose="02020603050405020304" pitchFamily="18" charset="0"/>
            </a:endParaRPr>
          </a:p>
          <a:p>
            <a:pPr algn="just"/>
            <a:r>
              <a:rPr lang="en-US" b="1">
                <a:latin typeface="Times New Roman"/>
                <a:cs typeface="Times New Roman"/>
              </a:rPr>
              <a:t>High Excess of Methanol: </a:t>
            </a:r>
            <a:r>
              <a:rPr lang="en-US">
                <a:latin typeface="Times New Roman"/>
                <a:cs typeface="Times New Roman"/>
              </a:rPr>
              <a:t>The Primary purpose is</a:t>
            </a:r>
            <a:r>
              <a:rPr lang="en-US" b="1">
                <a:latin typeface="Times New Roman"/>
                <a:cs typeface="Times New Roman"/>
              </a:rPr>
              <a:t> </a:t>
            </a:r>
            <a:r>
              <a:rPr lang="en-US">
                <a:latin typeface="Times New Roman"/>
                <a:cs typeface="Times New Roman"/>
              </a:rPr>
              <a:t>to drive equilibrium toward ester formation. This ratio enabled a large amount of water in the product. In our process, water helped in the energy-efficient separation of methanol.</a:t>
            </a:r>
          </a:p>
          <a:p>
            <a:pPr algn="just"/>
            <a:endParaRPr lang="en-US">
              <a:latin typeface="Times New Roman" panose="02020603050405020304" pitchFamily="18" charset="0"/>
              <a:cs typeface="Times New Roman" panose="02020603050405020304" pitchFamily="18" charset="0"/>
            </a:endParaRPr>
          </a:p>
          <a:p>
            <a:pPr algn="just"/>
            <a:r>
              <a:rPr lang="en-US" sz="1200">
                <a:latin typeface="Times New Roman"/>
                <a:cs typeface="Times New Roman"/>
              </a:rPr>
              <a:t>Source: Roberts &amp; Urey (1938)</a:t>
            </a:r>
            <a:r>
              <a:rPr lang="en-US" sz="1200" baseline="30000">
                <a:latin typeface="Times New Roman"/>
                <a:cs typeface="Times New Roman"/>
                <a:hlinkClick r:id="rId2"/>
              </a:rPr>
              <a:t>1</a:t>
            </a:r>
            <a:endParaRPr lang="en-US" sz="1200">
              <a:latin typeface="Times New Roman"/>
              <a:cs typeface="Times New Roman"/>
            </a:endParaRPr>
          </a:p>
        </p:txBody>
      </p:sp>
      <p:sp>
        <p:nvSpPr>
          <p:cNvPr id="6" name="Slide Number Placeholder 5">
            <a:extLst>
              <a:ext uri="{FF2B5EF4-FFF2-40B4-BE49-F238E27FC236}">
                <a16:creationId xmlns:a16="http://schemas.microsoft.com/office/drawing/2014/main" id="{547959B9-36CA-71AF-2A33-380E1EDA11DE}"/>
              </a:ext>
            </a:extLst>
          </p:cNvPr>
          <p:cNvSpPr>
            <a:spLocks noGrp="1"/>
          </p:cNvSpPr>
          <p:nvPr>
            <p:ph type="sldNum" sz="quarter" idx="12"/>
          </p:nvPr>
        </p:nvSpPr>
        <p:spPr/>
        <p:txBody>
          <a:bodyPr/>
          <a:lstStyle/>
          <a:p>
            <a:fld id="{330EA680-D336-4FF7-8B7A-9848BB0A1C32}" type="slidenum">
              <a:rPr lang="en-US" smtClean="0"/>
              <a:t>2</a:t>
            </a:fld>
            <a:endParaRPr lang="en-US"/>
          </a:p>
        </p:txBody>
      </p:sp>
      <p:sp>
        <p:nvSpPr>
          <p:cNvPr id="10" name="TextBox 4">
            <a:extLst>
              <a:ext uri="{FF2B5EF4-FFF2-40B4-BE49-F238E27FC236}">
                <a16:creationId xmlns:a16="http://schemas.microsoft.com/office/drawing/2014/main" id="{C6673BD6-E86C-4730-5B19-F0E4D76CB9D6}"/>
              </a:ext>
            </a:extLst>
          </p:cNvPr>
          <p:cNvSpPr txBox="1"/>
          <p:nvPr/>
        </p:nvSpPr>
        <p:spPr>
          <a:xfrm>
            <a:off x="6385518" y="1293806"/>
            <a:ext cx="5057929"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800" b="1" u="sng">
                <a:latin typeface="Times New Roman"/>
                <a:cs typeface="Arial"/>
              </a:rPr>
              <a:t>Moderate Temperature (25°C)</a:t>
            </a:r>
            <a:endParaRPr lang="en-US" b="1">
              <a:latin typeface="Times New Roman"/>
              <a:cs typeface="Arial"/>
            </a:endParaRPr>
          </a:p>
          <a:p>
            <a:pPr algn="just"/>
            <a:endParaRPr lang="en-US">
              <a:latin typeface="Times New Roman"/>
              <a:cs typeface="Arial"/>
            </a:endParaRPr>
          </a:p>
          <a:p>
            <a:pPr algn="just"/>
            <a:r>
              <a:rPr lang="en-US">
                <a:latin typeface="Times New Roman"/>
                <a:cs typeface="Arial"/>
              </a:rPr>
              <a:t>Warm enough to maintain reasonable reaction rates</a:t>
            </a:r>
            <a:br>
              <a:rPr lang="en-US">
                <a:latin typeface="Times New Roman"/>
                <a:cs typeface="Arial"/>
              </a:rPr>
            </a:br>
            <a:r>
              <a:rPr lang="en-US">
                <a:latin typeface="Times New Roman"/>
                <a:cs typeface="Arial"/>
              </a:rPr>
              <a:t>Cool enough to prevent excessive side reactions. And at this temperature all except the acids are in liquid phase. The excess methanol well encompasses the requirement of solvent for  Benzoic Acid (as per solubility data).</a:t>
            </a:r>
          </a:p>
        </p:txBody>
      </p:sp>
      <p:sp>
        <p:nvSpPr>
          <p:cNvPr id="11" name="Rectangle 10">
            <a:extLst>
              <a:ext uri="{FF2B5EF4-FFF2-40B4-BE49-F238E27FC236}">
                <a16:creationId xmlns:a16="http://schemas.microsoft.com/office/drawing/2014/main" id="{B1ACC581-27F4-4181-9C92-695473AB3408}"/>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Operating Conditions for Reactor:</a:t>
            </a:r>
          </a:p>
        </p:txBody>
      </p:sp>
    </p:spTree>
    <p:extLst>
      <p:ext uri="{BB962C8B-B14F-4D97-AF65-F5344CB8AC3E}">
        <p14:creationId xmlns:p14="http://schemas.microsoft.com/office/powerpoint/2010/main" val="2260270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87F48-3611-C968-F45F-454ECEAD62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2D29DF-AEAF-8B01-607D-BCC0B4AC0AD0}"/>
              </a:ext>
            </a:extLst>
          </p:cNvPr>
          <p:cNvSpPr txBox="1"/>
          <p:nvPr/>
        </p:nvSpPr>
        <p:spPr>
          <a:xfrm>
            <a:off x="7947427" y="5421422"/>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Distillation Column Sequencing:</a:t>
            </a:r>
          </a:p>
        </p:txBody>
      </p:sp>
      <p:sp>
        <p:nvSpPr>
          <p:cNvPr id="2" name="Slide Number Placeholder 1">
            <a:extLst>
              <a:ext uri="{FF2B5EF4-FFF2-40B4-BE49-F238E27FC236}">
                <a16:creationId xmlns:a16="http://schemas.microsoft.com/office/drawing/2014/main" id="{8CA48E5C-99EE-C6B2-D337-6B66B09F6E13}"/>
              </a:ext>
            </a:extLst>
          </p:cNvPr>
          <p:cNvSpPr>
            <a:spLocks noGrp="1"/>
          </p:cNvSpPr>
          <p:nvPr>
            <p:ph type="sldNum" sz="quarter" idx="12"/>
          </p:nvPr>
        </p:nvSpPr>
        <p:spPr/>
        <p:txBody>
          <a:bodyPr/>
          <a:lstStyle/>
          <a:p>
            <a:fld id="{330EA680-D336-4FF7-8B7A-9848BB0A1C32}" type="slidenum">
              <a:rPr lang="en-US" smtClean="0"/>
              <a:t>3</a:t>
            </a:fld>
            <a:endParaRPr lang="en-US"/>
          </a:p>
        </p:txBody>
      </p:sp>
      <p:sp>
        <p:nvSpPr>
          <p:cNvPr id="8" name="Rectangle 7">
            <a:extLst>
              <a:ext uri="{FF2B5EF4-FFF2-40B4-BE49-F238E27FC236}">
                <a16:creationId xmlns:a16="http://schemas.microsoft.com/office/drawing/2014/main" id="{D907DB8E-C53D-4AF7-AF93-05315AA3483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a:t>
            </a:r>
          </a:p>
        </p:txBody>
      </p:sp>
      <p:pic>
        <p:nvPicPr>
          <p:cNvPr id="4" name="Picture 3">
            <a:extLst>
              <a:ext uri="{FF2B5EF4-FFF2-40B4-BE49-F238E27FC236}">
                <a16:creationId xmlns:a16="http://schemas.microsoft.com/office/drawing/2014/main" id="{A4694518-A5B0-0FC8-7CD1-2EEE166DBC0F}"/>
              </a:ext>
            </a:extLst>
          </p:cNvPr>
          <p:cNvPicPr>
            <a:picLocks noChangeAspect="1"/>
          </p:cNvPicPr>
          <p:nvPr/>
        </p:nvPicPr>
        <p:blipFill>
          <a:blip r:embed="rId2"/>
          <a:stretch>
            <a:fillRect/>
          </a:stretch>
        </p:blipFill>
        <p:spPr>
          <a:xfrm>
            <a:off x="1978633" y="761861"/>
            <a:ext cx="8234734" cy="6096139"/>
          </a:xfrm>
          <a:prstGeom prst="rect">
            <a:avLst/>
          </a:prstGeom>
        </p:spPr>
      </p:pic>
    </p:spTree>
    <p:extLst>
      <p:ext uri="{BB962C8B-B14F-4D97-AF65-F5344CB8AC3E}">
        <p14:creationId xmlns:p14="http://schemas.microsoft.com/office/powerpoint/2010/main" val="2929547501"/>
      </p:ext>
    </p:extLst>
  </p:cSld>
  <p:clrMapOvr>
    <a:masterClrMapping/>
  </p:clrMapOvr>
  <mc:AlternateContent xmlns:mc="http://schemas.openxmlformats.org/markup-compatibility/2006" xmlns:p14="http://schemas.microsoft.com/office/powerpoint/2010/main">
    <mc:Choice Requires="p14">
      <p:transition p14:dur="250" advTm="10768">
        <p:fade/>
      </p:transition>
    </mc:Choice>
    <mc:Fallback xmlns="">
      <p:transition advTm="1076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B4B1-30CA-5917-1C37-23DCB66B33F3}"/>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2FF71C09-9681-4181-B7E5-3B0BE1BF342F}"/>
              </a:ext>
            </a:extLst>
          </p:cNvPr>
          <p:cNvGrpSpPr/>
          <p:nvPr/>
        </p:nvGrpSpPr>
        <p:grpSpPr>
          <a:xfrm>
            <a:off x="467127" y="1904520"/>
            <a:ext cx="2831145" cy="4204668"/>
            <a:chOff x="386736" y="2169291"/>
            <a:chExt cx="2831145" cy="4204668"/>
          </a:xfrm>
        </p:grpSpPr>
        <p:grpSp>
          <p:nvGrpSpPr>
            <p:cNvPr id="8" name="Group 7">
              <a:extLst>
                <a:ext uri="{FF2B5EF4-FFF2-40B4-BE49-F238E27FC236}">
                  <a16:creationId xmlns:a16="http://schemas.microsoft.com/office/drawing/2014/main" id="{7EB19397-454C-45BA-B156-819A940ADDF6}"/>
                </a:ext>
              </a:extLst>
            </p:cNvPr>
            <p:cNvGrpSpPr/>
            <p:nvPr/>
          </p:nvGrpSpPr>
          <p:grpSpPr>
            <a:xfrm>
              <a:off x="386736" y="2169291"/>
              <a:ext cx="2831145" cy="4204668"/>
              <a:chOff x="386736" y="2169291"/>
              <a:chExt cx="2831145" cy="4204668"/>
            </a:xfrm>
          </p:grpSpPr>
          <p:grpSp>
            <p:nvGrpSpPr>
              <p:cNvPr id="13" name="Group 12">
                <a:extLst>
                  <a:ext uri="{FF2B5EF4-FFF2-40B4-BE49-F238E27FC236}">
                    <a16:creationId xmlns:a16="http://schemas.microsoft.com/office/drawing/2014/main" id="{8455CD59-4EEA-6A59-9A61-05597D111A40}"/>
                  </a:ext>
                </a:extLst>
              </p:cNvPr>
              <p:cNvGrpSpPr/>
              <p:nvPr/>
            </p:nvGrpSpPr>
            <p:grpSpPr>
              <a:xfrm>
                <a:off x="1374473" y="2623056"/>
                <a:ext cx="855675" cy="2973056"/>
                <a:chOff x="1979590" y="2623056"/>
                <a:chExt cx="855675" cy="2973056"/>
              </a:xfrm>
            </p:grpSpPr>
            <p:sp>
              <p:nvSpPr>
                <p:cNvPr id="2" name="Rectangle 1">
                  <a:extLst>
                    <a:ext uri="{FF2B5EF4-FFF2-40B4-BE49-F238E27FC236}">
                      <a16:creationId xmlns:a16="http://schemas.microsoft.com/office/drawing/2014/main" id="{264E27EB-6C62-7FC9-9444-160C62AB24D3}"/>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Arrow: Up 8">
                  <a:extLst>
                    <a:ext uri="{FF2B5EF4-FFF2-40B4-BE49-F238E27FC236}">
                      <a16:creationId xmlns:a16="http://schemas.microsoft.com/office/drawing/2014/main" id="{7B3B2B35-B21E-BA89-6735-2F177CE95923}"/>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Arrow: Up 9">
                  <a:extLst>
                    <a:ext uri="{FF2B5EF4-FFF2-40B4-BE49-F238E27FC236}">
                      <a16:creationId xmlns:a16="http://schemas.microsoft.com/office/drawing/2014/main" id="{E8531CC6-E101-287A-CC6D-6F571007A0D9}"/>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11" name="TextBox 10">
                <a:extLst>
                  <a:ext uri="{FF2B5EF4-FFF2-40B4-BE49-F238E27FC236}">
                    <a16:creationId xmlns:a16="http://schemas.microsoft.com/office/drawing/2014/main" id="{34B4E17C-1F80-1B67-0841-D2A85CA0D332}"/>
                  </a:ext>
                </a:extLst>
              </p:cNvPr>
              <p:cNvSpPr txBox="1"/>
              <p:nvPr/>
            </p:nvSpPr>
            <p:spPr>
              <a:xfrm>
                <a:off x="878159"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Methanol + Water</a:t>
                </a:r>
              </a:p>
            </p:txBody>
          </p:sp>
          <p:sp>
            <p:nvSpPr>
              <p:cNvPr id="12" name="TextBox 11">
                <a:extLst>
                  <a:ext uri="{FF2B5EF4-FFF2-40B4-BE49-F238E27FC236}">
                    <a16:creationId xmlns:a16="http://schemas.microsoft.com/office/drawing/2014/main" id="{A448AA15-BEDC-3885-20F2-790598D7E4DA}"/>
                  </a:ext>
                </a:extLst>
              </p:cNvPr>
              <p:cNvSpPr txBox="1"/>
              <p:nvPr/>
            </p:nvSpPr>
            <p:spPr>
              <a:xfrm>
                <a:off x="386736" y="5727628"/>
                <a:ext cx="28311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Methyl Benzoate + Benzoic Acid + Phthalic Acid</a:t>
                </a:r>
              </a:p>
            </p:txBody>
          </p:sp>
        </p:grpSp>
        <p:sp>
          <p:nvSpPr>
            <p:cNvPr id="7" name="TextBox 6">
              <a:extLst>
                <a:ext uri="{FF2B5EF4-FFF2-40B4-BE49-F238E27FC236}">
                  <a16:creationId xmlns:a16="http://schemas.microsoft.com/office/drawing/2014/main" id="{D7E53CD2-C5D6-ECEE-06E1-0F7AEAF82E12}"/>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C1</a:t>
              </a:r>
            </a:p>
          </p:txBody>
        </p:sp>
      </p:grpSp>
      <p:sp>
        <p:nvSpPr>
          <p:cNvPr id="6" name="Slide Number Placeholder 5">
            <a:extLst>
              <a:ext uri="{FF2B5EF4-FFF2-40B4-BE49-F238E27FC236}">
                <a16:creationId xmlns:a16="http://schemas.microsoft.com/office/drawing/2014/main" id="{4FD900DE-8C5D-C138-D48C-37757AAA32FF}"/>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36" name="TextBox 35">
            <a:extLst>
              <a:ext uri="{FF2B5EF4-FFF2-40B4-BE49-F238E27FC236}">
                <a16:creationId xmlns:a16="http://schemas.microsoft.com/office/drawing/2014/main" id="{297EDACE-D7C5-4522-BB54-5AF69A62F6E2}"/>
              </a:ext>
            </a:extLst>
          </p:cNvPr>
          <p:cNvSpPr txBox="1"/>
          <p:nvPr/>
        </p:nvSpPr>
        <p:spPr>
          <a:xfrm>
            <a:off x="467127" y="1142547"/>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Distillation Column Sequencing:</a:t>
            </a:r>
          </a:p>
        </p:txBody>
      </p:sp>
      <p:grpSp>
        <p:nvGrpSpPr>
          <p:cNvPr id="41" name="Group 40">
            <a:extLst>
              <a:ext uri="{FF2B5EF4-FFF2-40B4-BE49-F238E27FC236}">
                <a16:creationId xmlns:a16="http://schemas.microsoft.com/office/drawing/2014/main" id="{04499BF6-8020-4EB9-82FD-14DD918F08BC}"/>
              </a:ext>
            </a:extLst>
          </p:cNvPr>
          <p:cNvGrpSpPr/>
          <p:nvPr/>
        </p:nvGrpSpPr>
        <p:grpSpPr>
          <a:xfrm>
            <a:off x="3300856" y="1904520"/>
            <a:ext cx="2831145" cy="3927669"/>
            <a:chOff x="386736" y="2169291"/>
            <a:chExt cx="2831145" cy="3927669"/>
          </a:xfrm>
        </p:grpSpPr>
        <p:grpSp>
          <p:nvGrpSpPr>
            <p:cNvPr id="42" name="Group 41">
              <a:extLst>
                <a:ext uri="{FF2B5EF4-FFF2-40B4-BE49-F238E27FC236}">
                  <a16:creationId xmlns:a16="http://schemas.microsoft.com/office/drawing/2014/main" id="{1E333EDB-8173-481D-BB5B-38EF3978ED7D}"/>
                </a:ext>
              </a:extLst>
            </p:cNvPr>
            <p:cNvGrpSpPr/>
            <p:nvPr/>
          </p:nvGrpSpPr>
          <p:grpSpPr>
            <a:xfrm>
              <a:off x="386736" y="2169291"/>
              <a:ext cx="2831145" cy="3927669"/>
              <a:chOff x="386736" y="2169291"/>
              <a:chExt cx="2831145" cy="3927669"/>
            </a:xfrm>
          </p:grpSpPr>
          <p:grpSp>
            <p:nvGrpSpPr>
              <p:cNvPr id="44" name="Group 43">
                <a:extLst>
                  <a:ext uri="{FF2B5EF4-FFF2-40B4-BE49-F238E27FC236}">
                    <a16:creationId xmlns:a16="http://schemas.microsoft.com/office/drawing/2014/main" id="{7AB250DF-41F6-4301-B206-9F239231D4FA}"/>
                  </a:ext>
                </a:extLst>
              </p:cNvPr>
              <p:cNvGrpSpPr/>
              <p:nvPr/>
            </p:nvGrpSpPr>
            <p:grpSpPr>
              <a:xfrm>
                <a:off x="1374473" y="2623056"/>
                <a:ext cx="855675" cy="2973056"/>
                <a:chOff x="1979590" y="2623056"/>
                <a:chExt cx="855675" cy="2973056"/>
              </a:xfrm>
            </p:grpSpPr>
            <p:sp>
              <p:nvSpPr>
                <p:cNvPr id="47" name="Rectangle 46">
                  <a:extLst>
                    <a:ext uri="{FF2B5EF4-FFF2-40B4-BE49-F238E27FC236}">
                      <a16:creationId xmlns:a16="http://schemas.microsoft.com/office/drawing/2014/main" id="{03F19138-9236-4753-AE40-2BF5AB117F81}"/>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8" name="Arrow: Up 47">
                  <a:extLst>
                    <a:ext uri="{FF2B5EF4-FFF2-40B4-BE49-F238E27FC236}">
                      <a16:creationId xmlns:a16="http://schemas.microsoft.com/office/drawing/2014/main" id="{57EF4D00-CB2C-4515-B838-370701187AF3}"/>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Arrow: Up 48">
                  <a:extLst>
                    <a:ext uri="{FF2B5EF4-FFF2-40B4-BE49-F238E27FC236}">
                      <a16:creationId xmlns:a16="http://schemas.microsoft.com/office/drawing/2014/main" id="{E5B15F71-EA3C-4F1A-99E3-B7FF9D418E01}"/>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45" name="TextBox 44">
                <a:extLst>
                  <a:ext uri="{FF2B5EF4-FFF2-40B4-BE49-F238E27FC236}">
                    <a16:creationId xmlns:a16="http://schemas.microsoft.com/office/drawing/2014/main" id="{3F3A2A72-F916-480D-8A06-3F6066427CE8}"/>
                  </a:ext>
                </a:extLst>
              </p:cNvPr>
              <p:cNvSpPr txBox="1"/>
              <p:nvPr/>
            </p:nvSpPr>
            <p:spPr>
              <a:xfrm>
                <a:off x="878156"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Methanol</a:t>
                </a:r>
              </a:p>
            </p:txBody>
          </p:sp>
          <p:sp>
            <p:nvSpPr>
              <p:cNvPr id="46" name="TextBox 45">
                <a:extLst>
                  <a:ext uri="{FF2B5EF4-FFF2-40B4-BE49-F238E27FC236}">
                    <a16:creationId xmlns:a16="http://schemas.microsoft.com/office/drawing/2014/main" id="{065F9513-08A0-4A3D-AE66-85D5AD6CF724}"/>
                  </a:ext>
                </a:extLst>
              </p:cNvPr>
              <p:cNvSpPr txBox="1"/>
              <p:nvPr/>
            </p:nvSpPr>
            <p:spPr>
              <a:xfrm>
                <a:off x="386736" y="5727628"/>
                <a:ext cx="28311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Water</a:t>
                </a:r>
              </a:p>
            </p:txBody>
          </p:sp>
        </p:grpSp>
        <p:sp>
          <p:nvSpPr>
            <p:cNvPr id="43" name="TextBox 42">
              <a:extLst>
                <a:ext uri="{FF2B5EF4-FFF2-40B4-BE49-F238E27FC236}">
                  <a16:creationId xmlns:a16="http://schemas.microsoft.com/office/drawing/2014/main" id="{881967EF-E384-4164-BA39-E01274607241}"/>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C2</a:t>
              </a:r>
            </a:p>
          </p:txBody>
        </p:sp>
      </p:grpSp>
      <p:grpSp>
        <p:nvGrpSpPr>
          <p:cNvPr id="50" name="Group 49">
            <a:extLst>
              <a:ext uri="{FF2B5EF4-FFF2-40B4-BE49-F238E27FC236}">
                <a16:creationId xmlns:a16="http://schemas.microsoft.com/office/drawing/2014/main" id="{818B8484-7766-408C-AED8-32075C9CF67E}"/>
              </a:ext>
            </a:extLst>
          </p:cNvPr>
          <p:cNvGrpSpPr/>
          <p:nvPr/>
        </p:nvGrpSpPr>
        <p:grpSpPr>
          <a:xfrm>
            <a:off x="6134585" y="1904520"/>
            <a:ext cx="2831145" cy="4204668"/>
            <a:chOff x="386736" y="2169291"/>
            <a:chExt cx="2831145" cy="4204668"/>
          </a:xfrm>
        </p:grpSpPr>
        <p:grpSp>
          <p:nvGrpSpPr>
            <p:cNvPr id="51" name="Group 50">
              <a:extLst>
                <a:ext uri="{FF2B5EF4-FFF2-40B4-BE49-F238E27FC236}">
                  <a16:creationId xmlns:a16="http://schemas.microsoft.com/office/drawing/2014/main" id="{F594A4B4-56B3-4625-B857-E974EB709DA3}"/>
                </a:ext>
              </a:extLst>
            </p:cNvPr>
            <p:cNvGrpSpPr/>
            <p:nvPr/>
          </p:nvGrpSpPr>
          <p:grpSpPr>
            <a:xfrm>
              <a:off x="386736" y="2169291"/>
              <a:ext cx="2831145" cy="4204668"/>
              <a:chOff x="386736" y="2169291"/>
              <a:chExt cx="2831145" cy="4204668"/>
            </a:xfrm>
          </p:grpSpPr>
          <p:grpSp>
            <p:nvGrpSpPr>
              <p:cNvPr id="53" name="Group 52">
                <a:extLst>
                  <a:ext uri="{FF2B5EF4-FFF2-40B4-BE49-F238E27FC236}">
                    <a16:creationId xmlns:a16="http://schemas.microsoft.com/office/drawing/2014/main" id="{CBED91B5-C64F-400D-9115-40BF43C63385}"/>
                  </a:ext>
                </a:extLst>
              </p:cNvPr>
              <p:cNvGrpSpPr/>
              <p:nvPr/>
            </p:nvGrpSpPr>
            <p:grpSpPr>
              <a:xfrm>
                <a:off x="1374473" y="2623056"/>
                <a:ext cx="855675" cy="2973056"/>
                <a:chOff x="1979590" y="2623056"/>
                <a:chExt cx="855675" cy="2973056"/>
              </a:xfrm>
            </p:grpSpPr>
            <p:sp>
              <p:nvSpPr>
                <p:cNvPr id="56" name="Rectangle 55">
                  <a:extLst>
                    <a:ext uri="{FF2B5EF4-FFF2-40B4-BE49-F238E27FC236}">
                      <a16:creationId xmlns:a16="http://schemas.microsoft.com/office/drawing/2014/main" id="{EF9B393D-BD0E-4902-8209-DABF405A97E1}"/>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7" name="Arrow: Up 56">
                  <a:extLst>
                    <a:ext uri="{FF2B5EF4-FFF2-40B4-BE49-F238E27FC236}">
                      <a16:creationId xmlns:a16="http://schemas.microsoft.com/office/drawing/2014/main" id="{C608F049-7BF2-43B2-8C47-3DB7BBDFF836}"/>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8" name="Arrow: Up 57">
                  <a:extLst>
                    <a:ext uri="{FF2B5EF4-FFF2-40B4-BE49-F238E27FC236}">
                      <a16:creationId xmlns:a16="http://schemas.microsoft.com/office/drawing/2014/main" id="{1E044A8F-E99C-4104-83D0-7D30763BF256}"/>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54" name="TextBox 53">
                <a:extLst>
                  <a:ext uri="{FF2B5EF4-FFF2-40B4-BE49-F238E27FC236}">
                    <a16:creationId xmlns:a16="http://schemas.microsoft.com/office/drawing/2014/main" id="{32BCB27F-0524-45FA-8E4B-C4595E285354}"/>
                  </a:ext>
                </a:extLst>
              </p:cNvPr>
              <p:cNvSpPr txBox="1"/>
              <p:nvPr/>
            </p:nvSpPr>
            <p:spPr>
              <a:xfrm>
                <a:off x="878157"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Methyl Benzoate</a:t>
                </a:r>
              </a:p>
            </p:txBody>
          </p:sp>
          <p:sp>
            <p:nvSpPr>
              <p:cNvPr id="55" name="TextBox 54">
                <a:extLst>
                  <a:ext uri="{FF2B5EF4-FFF2-40B4-BE49-F238E27FC236}">
                    <a16:creationId xmlns:a16="http://schemas.microsoft.com/office/drawing/2014/main" id="{5C52856A-1B94-4BE6-B65E-3A11709C5A7C}"/>
                  </a:ext>
                </a:extLst>
              </p:cNvPr>
              <p:cNvSpPr txBox="1"/>
              <p:nvPr/>
            </p:nvSpPr>
            <p:spPr>
              <a:xfrm>
                <a:off x="386736" y="5727628"/>
                <a:ext cx="28311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Benzoic Acid + Phthalic Acid</a:t>
                </a:r>
              </a:p>
            </p:txBody>
          </p:sp>
        </p:grpSp>
        <p:sp>
          <p:nvSpPr>
            <p:cNvPr id="52" name="TextBox 51">
              <a:extLst>
                <a:ext uri="{FF2B5EF4-FFF2-40B4-BE49-F238E27FC236}">
                  <a16:creationId xmlns:a16="http://schemas.microsoft.com/office/drawing/2014/main" id="{F68A7FB0-C5F8-484B-88E4-EF89131F1485}"/>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C3</a:t>
              </a:r>
            </a:p>
          </p:txBody>
        </p:sp>
      </p:grpSp>
      <p:grpSp>
        <p:nvGrpSpPr>
          <p:cNvPr id="59" name="Group 58">
            <a:extLst>
              <a:ext uri="{FF2B5EF4-FFF2-40B4-BE49-F238E27FC236}">
                <a16:creationId xmlns:a16="http://schemas.microsoft.com/office/drawing/2014/main" id="{17B6B156-E94E-4234-8069-59E2B4E932A3}"/>
              </a:ext>
            </a:extLst>
          </p:cNvPr>
          <p:cNvGrpSpPr/>
          <p:nvPr/>
        </p:nvGrpSpPr>
        <p:grpSpPr>
          <a:xfrm>
            <a:off x="8968313" y="1904520"/>
            <a:ext cx="2831145" cy="3927669"/>
            <a:chOff x="386736" y="2169291"/>
            <a:chExt cx="2831145" cy="3927669"/>
          </a:xfrm>
        </p:grpSpPr>
        <p:grpSp>
          <p:nvGrpSpPr>
            <p:cNvPr id="60" name="Group 59">
              <a:extLst>
                <a:ext uri="{FF2B5EF4-FFF2-40B4-BE49-F238E27FC236}">
                  <a16:creationId xmlns:a16="http://schemas.microsoft.com/office/drawing/2014/main" id="{B73F86FF-6DAE-43EC-A9CC-1C32B59E51F6}"/>
                </a:ext>
              </a:extLst>
            </p:cNvPr>
            <p:cNvGrpSpPr/>
            <p:nvPr/>
          </p:nvGrpSpPr>
          <p:grpSpPr>
            <a:xfrm>
              <a:off x="386736" y="2169291"/>
              <a:ext cx="2831145" cy="3927669"/>
              <a:chOff x="386736" y="2169291"/>
              <a:chExt cx="2831145" cy="3927669"/>
            </a:xfrm>
          </p:grpSpPr>
          <p:grpSp>
            <p:nvGrpSpPr>
              <p:cNvPr id="62" name="Group 61">
                <a:extLst>
                  <a:ext uri="{FF2B5EF4-FFF2-40B4-BE49-F238E27FC236}">
                    <a16:creationId xmlns:a16="http://schemas.microsoft.com/office/drawing/2014/main" id="{BAA7473C-AAF0-4371-8ADE-651CF087DD0C}"/>
                  </a:ext>
                </a:extLst>
              </p:cNvPr>
              <p:cNvGrpSpPr/>
              <p:nvPr/>
            </p:nvGrpSpPr>
            <p:grpSpPr>
              <a:xfrm>
                <a:off x="1374473" y="2623056"/>
                <a:ext cx="855675" cy="2973056"/>
                <a:chOff x="1979590" y="2623056"/>
                <a:chExt cx="855675" cy="2973056"/>
              </a:xfrm>
            </p:grpSpPr>
            <p:sp>
              <p:nvSpPr>
                <p:cNvPr id="65" name="Rectangle 64">
                  <a:extLst>
                    <a:ext uri="{FF2B5EF4-FFF2-40B4-BE49-F238E27FC236}">
                      <a16:creationId xmlns:a16="http://schemas.microsoft.com/office/drawing/2014/main" id="{53598047-0418-4CA2-9A10-2A7A57173592}"/>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6" name="Arrow: Up 65">
                  <a:extLst>
                    <a:ext uri="{FF2B5EF4-FFF2-40B4-BE49-F238E27FC236}">
                      <a16:creationId xmlns:a16="http://schemas.microsoft.com/office/drawing/2014/main" id="{EA999A88-0575-413B-8B06-44524840FF62}"/>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7" name="Arrow: Up 66">
                  <a:extLst>
                    <a:ext uri="{FF2B5EF4-FFF2-40B4-BE49-F238E27FC236}">
                      <a16:creationId xmlns:a16="http://schemas.microsoft.com/office/drawing/2014/main" id="{6D37FC21-9404-4E4E-B27F-29EA1A3E81FE}"/>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63" name="TextBox 62">
                <a:extLst>
                  <a:ext uri="{FF2B5EF4-FFF2-40B4-BE49-F238E27FC236}">
                    <a16:creationId xmlns:a16="http://schemas.microsoft.com/office/drawing/2014/main" id="{E6C2C72E-E15C-4793-A953-A37953653CA9}"/>
                  </a:ext>
                </a:extLst>
              </p:cNvPr>
              <p:cNvSpPr txBox="1"/>
              <p:nvPr/>
            </p:nvSpPr>
            <p:spPr>
              <a:xfrm>
                <a:off x="878159"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Benzoic Acid</a:t>
                </a:r>
              </a:p>
            </p:txBody>
          </p:sp>
          <p:sp>
            <p:nvSpPr>
              <p:cNvPr id="64" name="TextBox 63">
                <a:extLst>
                  <a:ext uri="{FF2B5EF4-FFF2-40B4-BE49-F238E27FC236}">
                    <a16:creationId xmlns:a16="http://schemas.microsoft.com/office/drawing/2014/main" id="{5F72F231-697C-4C94-AD2D-F054A3F34978}"/>
                  </a:ext>
                </a:extLst>
              </p:cNvPr>
              <p:cNvSpPr txBox="1"/>
              <p:nvPr/>
            </p:nvSpPr>
            <p:spPr>
              <a:xfrm>
                <a:off x="386736" y="5727628"/>
                <a:ext cx="28311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Phthalic Acid</a:t>
                </a:r>
              </a:p>
            </p:txBody>
          </p:sp>
        </p:grpSp>
        <p:sp>
          <p:nvSpPr>
            <p:cNvPr id="61" name="TextBox 60">
              <a:extLst>
                <a:ext uri="{FF2B5EF4-FFF2-40B4-BE49-F238E27FC236}">
                  <a16:creationId xmlns:a16="http://schemas.microsoft.com/office/drawing/2014/main" id="{1368FB44-E293-475B-A399-71A4F55F3746}"/>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C4</a:t>
              </a:r>
            </a:p>
          </p:txBody>
        </p:sp>
      </p:grpSp>
      <p:sp>
        <p:nvSpPr>
          <p:cNvPr id="68" name="Rectangle 67">
            <a:extLst>
              <a:ext uri="{FF2B5EF4-FFF2-40B4-BE49-F238E27FC236}">
                <a16:creationId xmlns:a16="http://schemas.microsoft.com/office/drawing/2014/main" id="{5AD9956F-91A3-45CB-A3E1-9D55D342B5E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a:t>
            </a:r>
          </a:p>
        </p:txBody>
      </p:sp>
    </p:spTree>
    <p:extLst>
      <p:ext uri="{BB962C8B-B14F-4D97-AF65-F5344CB8AC3E}">
        <p14:creationId xmlns:p14="http://schemas.microsoft.com/office/powerpoint/2010/main" val="753615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2795E-245B-6607-B378-9D28921F66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4DFA9C-2D76-538C-8410-6A75DFC5B753}"/>
              </a:ext>
            </a:extLst>
          </p:cNvPr>
          <p:cNvSpPr txBox="1"/>
          <p:nvPr/>
        </p:nvSpPr>
        <p:spPr>
          <a:xfrm>
            <a:off x="126468" y="1257803"/>
            <a:ext cx="4670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Distillation Column Design:</a:t>
            </a:r>
          </a:p>
        </p:txBody>
      </p:sp>
      <p:sp>
        <p:nvSpPr>
          <p:cNvPr id="6" name="Slide Number Placeholder 5">
            <a:extLst>
              <a:ext uri="{FF2B5EF4-FFF2-40B4-BE49-F238E27FC236}">
                <a16:creationId xmlns:a16="http://schemas.microsoft.com/office/drawing/2014/main" id="{F93CA820-DA31-8BD2-FD10-724A54E54072}"/>
              </a:ext>
            </a:extLst>
          </p:cNvPr>
          <p:cNvSpPr>
            <a:spLocks noGrp="1"/>
          </p:cNvSpPr>
          <p:nvPr>
            <p:ph type="sldNum" sz="quarter" idx="12"/>
          </p:nvPr>
        </p:nvSpPr>
        <p:spPr/>
        <p:txBody>
          <a:bodyPr/>
          <a:lstStyle/>
          <a:p>
            <a:fld id="{330EA680-D336-4FF7-8B7A-9848BB0A1C32}" type="slidenum">
              <a:rPr lang="en-US" smtClean="0"/>
              <a:t>5</a:t>
            </a:fld>
            <a:endParaRPr lang="en-US"/>
          </a:p>
        </p:txBody>
      </p:sp>
      <p:graphicFrame>
        <p:nvGraphicFramePr>
          <p:cNvPr id="11" name="Table 14">
            <a:extLst>
              <a:ext uri="{FF2B5EF4-FFF2-40B4-BE49-F238E27FC236}">
                <a16:creationId xmlns:a16="http://schemas.microsoft.com/office/drawing/2014/main" id="{FFF68D28-6FC2-41F6-8F95-A027EEC44CD7}"/>
              </a:ext>
            </a:extLst>
          </p:cNvPr>
          <p:cNvGraphicFramePr>
            <a:graphicFrameLocks noGrp="1"/>
          </p:cNvGraphicFramePr>
          <p:nvPr>
            <p:extLst>
              <p:ext uri="{D42A27DB-BD31-4B8C-83A1-F6EECF244321}">
                <p14:modId xmlns:p14="http://schemas.microsoft.com/office/powerpoint/2010/main" val="792597877"/>
              </p:ext>
            </p:extLst>
          </p:nvPr>
        </p:nvGraphicFramePr>
        <p:xfrm>
          <a:off x="558800" y="1891329"/>
          <a:ext cx="10972800" cy="3880743"/>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267023655"/>
                    </a:ext>
                  </a:extLst>
                </a:gridCol>
                <a:gridCol w="2743200">
                  <a:extLst>
                    <a:ext uri="{9D8B030D-6E8A-4147-A177-3AD203B41FA5}">
                      <a16:colId xmlns:a16="http://schemas.microsoft.com/office/drawing/2014/main" val="3843751379"/>
                    </a:ext>
                  </a:extLst>
                </a:gridCol>
                <a:gridCol w="2743200">
                  <a:extLst>
                    <a:ext uri="{9D8B030D-6E8A-4147-A177-3AD203B41FA5}">
                      <a16:colId xmlns:a16="http://schemas.microsoft.com/office/drawing/2014/main" val="385970972"/>
                    </a:ext>
                  </a:extLst>
                </a:gridCol>
                <a:gridCol w="2743200">
                  <a:extLst>
                    <a:ext uri="{9D8B030D-6E8A-4147-A177-3AD203B41FA5}">
                      <a16:colId xmlns:a16="http://schemas.microsoft.com/office/drawing/2014/main" val="1015586402"/>
                    </a:ext>
                  </a:extLst>
                </a:gridCol>
              </a:tblGrid>
              <a:tr h="611726">
                <a:tc>
                  <a:txBody>
                    <a:bodyPr/>
                    <a:lstStyle/>
                    <a:p>
                      <a:pPr algn="ctr"/>
                      <a:r>
                        <a:rPr lang="en-US" sz="2400">
                          <a:latin typeface="Times New Roman" panose="02020603050405020304" pitchFamily="18" charset="0"/>
                          <a:cs typeface="Times New Roman" panose="02020603050405020304" pitchFamily="18" charset="0"/>
                        </a:rPr>
                        <a:t>C1</a:t>
                      </a:r>
                    </a:p>
                  </a:txBody>
                  <a:tcPr anchor="ctr">
                    <a:solidFill>
                      <a:srgbClr val="002060"/>
                    </a:solidFill>
                  </a:tcPr>
                </a:tc>
                <a:tc>
                  <a:txBody>
                    <a:bodyPr/>
                    <a:lstStyle/>
                    <a:p>
                      <a:pPr algn="ctr"/>
                      <a:r>
                        <a:rPr lang="en-US" sz="2400">
                          <a:latin typeface="Times New Roman" panose="02020603050405020304" pitchFamily="18" charset="0"/>
                          <a:cs typeface="Times New Roman" panose="02020603050405020304" pitchFamily="18" charset="0"/>
                        </a:rPr>
                        <a:t>C2</a:t>
                      </a:r>
                    </a:p>
                  </a:txBody>
                  <a:tcPr anchor="ctr">
                    <a:solidFill>
                      <a:srgbClr val="002060"/>
                    </a:solidFill>
                  </a:tcPr>
                </a:tc>
                <a:tc>
                  <a:txBody>
                    <a:bodyPr/>
                    <a:lstStyle/>
                    <a:p>
                      <a:pPr algn="ctr"/>
                      <a:r>
                        <a:rPr lang="en-US" sz="2400">
                          <a:latin typeface="Times New Roman" panose="02020603050405020304" pitchFamily="18" charset="0"/>
                          <a:cs typeface="Times New Roman" panose="02020603050405020304" pitchFamily="18" charset="0"/>
                        </a:rPr>
                        <a:t>C3</a:t>
                      </a:r>
                    </a:p>
                  </a:txBody>
                  <a:tcPr anchor="ctr">
                    <a:solidFill>
                      <a:srgbClr val="002060"/>
                    </a:solidFill>
                  </a:tcPr>
                </a:tc>
                <a:tc>
                  <a:txBody>
                    <a:bodyPr/>
                    <a:lstStyle/>
                    <a:p>
                      <a:pPr algn="ctr"/>
                      <a:r>
                        <a:rPr lang="en-US" sz="2400">
                          <a:latin typeface="Times New Roman" panose="02020603050405020304" pitchFamily="18" charset="0"/>
                          <a:cs typeface="Times New Roman" panose="02020603050405020304" pitchFamily="18" charset="0"/>
                        </a:rPr>
                        <a:t>C4</a:t>
                      </a:r>
                    </a:p>
                  </a:txBody>
                  <a:tcPr anchor="ctr">
                    <a:solidFill>
                      <a:srgbClr val="002060"/>
                    </a:solidFill>
                  </a:tcPr>
                </a:tc>
                <a:extLst>
                  <a:ext uri="{0D108BD9-81ED-4DB2-BD59-A6C34878D82A}">
                    <a16:rowId xmlns:a16="http://schemas.microsoft.com/office/drawing/2014/main" val="137504793"/>
                  </a:ext>
                </a:extLst>
              </a:tr>
              <a:tr h="1031772">
                <a:tc>
                  <a:txBody>
                    <a:bodyPr/>
                    <a:lstStyle/>
                    <a:p>
                      <a:r>
                        <a:rPr lang="en-US">
                          <a:latin typeface="Times New Roman" panose="02020603050405020304" pitchFamily="18" charset="0"/>
                          <a:cs typeface="Times New Roman" panose="02020603050405020304" pitchFamily="18" charset="0"/>
                        </a:rPr>
                        <a:t>For </a:t>
                      </a:r>
                      <a:r>
                        <a:rPr lang="en-US" b="1">
                          <a:latin typeface="Times New Roman" panose="02020603050405020304" pitchFamily="18" charset="0"/>
                          <a:cs typeface="Times New Roman" panose="02020603050405020304" pitchFamily="18" charset="0"/>
                        </a:rPr>
                        <a:t>99.9%</a:t>
                      </a:r>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water</a:t>
                      </a:r>
                      <a:r>
                        <a:rPr lang="en-US">
                          <a:latin typeface="Times New Roman" panose="02020603050405020304" pitchFamily="18" charset="0"/>
                          <a:cs typeface="Times New Roman" panose="02020603050405020304" pitchFamily="18" charset="0"/>
                        </a:rPr>
                        <a:t> recovery: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For </a:t>
                      </a:r>
                      <a:r>
                        <a:rPr lang="en-US" b="1">
                          <a:latin typeface="Times New Roman" panose="02020603050405020304" pitchFamily="18" charset="0"/>
                          <a:cs typeface="Times New Roman" panose="02020603050405020304" pitchFamily="18" charset="0"/>
                        </a:rPr>
                        <a:t>99.99% methanol</a:t>
                      </a:r>
                      <a:r>
                        <a:rPr lang="en-US">
                          <a:latin typeface="Times New Roman" panose="02020603050405020304" pitchFamily="18" charset="0"/>
                          <a:cs typeface="Times New Roman" panose="02020603050405020304" pitchFamily="18" charset="0"/>
                        </a:rPr>
                        <a:t> recovery &amp;</a:t>
                      </a:r>
                      <a:r>
                        <a:rPr lang="en-US" b="1">
                          <a:latin typeface="Times New Roman" panose="02020603050405020304" pitchFamily="18" charset="0"/>
                          <a:cs typeface="Times New Roman" panose="02020603050405020304" pitchFamily="18" charset="0"/>
                        </a:rPr>
                        <a:t> 99.9% water</a:t>
                      </a:r>
                      <a:r>
                        <a:rPr lang="en-US">
                          <a:latin typeface="Times New Roman" panose="02020603050405020304" pitchFamily="18" charset="0"/>
                          <a:cs typeface="Times New Roman" panose="02020603050405020304" pitchFamily="18" charset="0"/>
                        </a:rPr>
                        <a:t> recovery:</a:t>
                      </a:r>
                    </a:p>
                  </a:txBody>
                  <a:tcPr anchor="ctr"/>
                </a:tc>
                <a:tc>
                  <a:txBody>
                    <a:bodyPr/>
                    <a:lstStyle/>
                    <a:p>
                      <a:r>
                        <a:rPr lang="en-US">
                          <a:latin typeface="Times New Roman" panose="02020603050405020304" pitchFamily="18" charset="0"/>
                          <a:cs typeface="Times New Roman" panose="02020603050405020304" pitchFamily="18" charset="0"/>
                        </a:rPr>
                        <a:t>For </a:t>
                      </a:r>
                      <a:r>
                        <a:rPr lang="en-US" b="1">
                          <a:latin typeface="Times New Roman" panose="02020603050405020304" pitchFamily="18" charset="0"/>
                          <a:cs typeface="Times New Roman" panose="02020603050405020304" pitchFamily="18" charset="0"/>
                        </a:rPr>
                        <a:t>99.7% Methyl Benzoate</a:t>
                      </a:r>
                      <a:r>
                        <a:rPr lang="en-US">
                          <a:latin typeface="Times New Roman" panose="02020603050405020304" pitchFamily="18" charset="0"/>
                          <a:cs typeface="Times New Roman" panose="02020603050405020304" pitchFamily="18" charset="0"/>
                        </a:rPr>
                        <a:t> recovery:</a:t>
                      </a:r>
                      <a:endParaRPr lang="en-US">
                        <a:solidFill>
                          <a:schemeClr val="tx1"/>
                        </a:solidFill>
                      </a:endParaRPr>
                    </a:p>
                  </a:txBody>
                  <a:tcPr anchor="ctr"/>
                </a:tc>
                <a:tc>
                  <a:txBody>
                    <a:bodyPr/>
                    <a:lstStyle/>
                    <a:p>
                      <a:r>
                        <a:rPr lang="en-US">
                          <a:latin typeface="Times New Roman" panose="02020603050405020304" pitchFamily="18" charset="0"/>
                          <a:cs typeface="Times New Roman" panose="02020603050405020304" pitchFamily="18" charset="0"/>
                        </a:rPr>
                        <a:t>For </a:t>
                      </a:r>
                      <a:r>
                        <a:rPr lang="en-US" b="1">
                          <a:latin typeface="Times New Roman" panose="02020603050405020304" pitchFamily="18" charset="0"/>
                          <a:cs typeface="Times New Roman" panose="02020603050405020304" pitchFamily="18" charset="0"/>
                        </a:rPr>
                        <a:t>99.9% Benzoic Acid</a:t>
                      </a:r>
                      <a:r>
                        <a:rPr lang="en-US">
                          <a:latin typeface="Times New Roman" panose="02020603050405020304" pitchFamily="18" charset="0"/>
                          <a:cs typeface="Times New Roman" panose="02020603050405020304" pitchFamily="18" charset="0"/>
                        </a:rPr>
                        <a:t> recovery: </a:t>
                      </a:r>
                      <a:endParaRPr lang="en-US">
                        <a:solidFill>
                          <a:schemeClr val="tx1"/>
                        </a:solidFill>
                      </a:endParaRPr>
                    </a:p>
                  </a:txBody>
                  <a:tcPr anchor="ctr"/>
                </a:tc>
                <a:extLst>
                  <a:ext uri="{0D108BD9-81ED-4DB2-BD59-A6C34878D82A}">
                    <a16:rowId xmlns:a16="http://schemas.microsoft.com/office/drawing/2014/main" val="3082728333"/>
                  </a:ext>
                </a:extLst>
              </a:tr>
              <a:tr h="2237245">
                <a:tc>
                  <a:txBody>
                    <a:bodyPr/>
                    <a:lstStyle/>
                    <a:p>
                      <a:r>
                        <a:rPr lang="en-US" b="1">
                          <a:latin typeface="Times New Roman" panose="02020603050405020304" pitchFamily="18" charset="0"/>
                          <a:cs typeface="Times New Roman" panose="02020603050405020304" pitchFamily="18" charset="0"/>
                        </a:rPr>
                        <a:t>No of Trays</a:t>
                      </a:r>
                      <a:r>
                        <a:rPr lang="en-US">
                          <a:latin typeface="Times New Roman" panose="02020603050405020304" pitchFamily="18" charset="0"/>
                          <a:cs typeface="Times New Roman" panose="02020603050405020304" pitchFamily="18" charset="0"/>
                        </a:rPr>
                        <a:t>: 20</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Feed Stage</a:t>
                      </a:r>
                      <a:r>
                        <a:rPr lang="en-US">
                          <a:latin typeface="Times New Roman" panose="02020603050405020304" pitchFamily="18" charset="0"/>
                          <a:cs typeface="Times New Roman" panose="02020603050405020304" pitchFamily="18" charset="0"/>
                        </a:rPr>
                        <a:t>: 11</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Reflux Ratio</a:t>
                      </a:r>
                      <a:r>
                        <a:rPr lang="en-US">
                          <a:latin typeface="Times New Roman" panose="02020603050405020304" pitchFamily="18" charset="0"/>
                          <a:cs typeface="Times New Roman" panose="02020603050405020304" pitchFamily="18" charset="0"/>
                        </a:rPr>
                        <a:t>: 0.018697</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Reboiler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22531.7 kW</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Condenser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-17596.4 kW</a:t>
                      </a:r>
                      <a:endParaRPr lang="en-US">
                        <a:solidFill>
                          <a:schemeClr val="tx1"/>
                        </a:solidFill>
                      </a:endParaRPr>
                    </a:p>
                  </a:txBody>
                  <a:tcPr anchor="ctr"/>
                </a:tc>
                <a:tc>
                  <a:txBody>
                    <a:bodyPr/>
                    <a:lstStyle/>
                    <a:p>
                      <a:r>
                        <a:rPr lang="en-US" b="1">
                          <a:latin typeface="Times New Roman" panose="02020603050405020304" pitchFamily="18" charset="0"/>
                          <a:cs typeface="Times New Roman" panose="02020603050405020304" pitchFamily="18" charset="0"/>
                        </a:rPr>
                        <a:t>No of Trays</a:t>
                      </a:r>
                      <a:r>
                        <a:rPr lang="en-US">
                          <a:latin typeface="Times New Roman" panose="02020603050405020304" pitchFamily="18" charset="0"/>
                          <a:cs typeface="Times New Roman" panose="02020603050405020304" pitchFamily="18" charset="0"/>
                        </a:rPr>
                        <a:t>: 20</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Feed Stage</a:t>
                      </a:r>
                      <a:r>
                        <a:rPr lang="en-US">
                          <a:latin typeface="Times New Roman" panose="02020603050405020304" pitchFamily="18" charset="0"/>
                          <a:cs typeface="Times New Roman" panose="02020603050405020304" pitchFamily="18" charset="0"/>
                        </a:rPr>
                        <a:t>: 14</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Reflux Ratio:</a:t>
                      </a:r>
                      <a:r>
                        <a:rPr lang="en-US">
                          <a:latin typeface="Times New Roman" panose="02020603050405020304" pitchFamily="18" charset="0"/>
                          <a:cs typeface="Times New Roman" panose="02020603050405020304" pitchFamily="18" charset="0"/>
                        </a:rPr>
                        <a:t> 1.7256</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Reboiler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38339.7 kW</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Condenser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-38109 kW</a:t>
                      </a:r>
                      <a:endParaRPr lang="en-US">
                        <a:solidFill>
                          <a:schemeClr val="tx1"/>
                        </a:solidFill>
                      </a:endParaRPr>
                    </a:p>
                  </a:txBody>
                  <a:tcPr anchor="ctr"/>
                </a:tc>
                <a:tc>
                  <a:txBody>
                    <a:bodyPr/>
                    <a:lstStyle/>
                    <a:p>
                      <a:r>
                        <a:rPr lang="en-US" b="1">
                          <a:latin typeface="Times New Roman" panose="02020603050405020304" pitchFamily="18" charset="0"/>
                          <a:cs typeface="Times New Roman" panose="02020603050405020304" pitchFamily="18" charset="0"/>
                        </a:rPr>
                        <a:t>No of Trays</a:t>
                      </a:r>
                      <a:r>
                        <a:rPr lang="en-US">
                          <a:latin typeface="Times New Roman" panose="02020603050405020304" pitchFamily="18" charset="0"/>
                          <a:cs typeface="Times New Roman" panose="02020603050405020304" pitchFamily="18" charset="0"/>
                        </a:rPr>
                        <a:t>: 20</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Feed Stage</a:t>
                      </a:r>
                      <a:r>
                        <a:rPr lang="en-US">
                          <a:latin typeface="Times New Roman" panose="02020603050405020304" pitchFamily="18" charset="0"/>
                          <a:cs typeface="Times New Roman" panose="02020603050405020304" pitchFamily="18" charset="0"/>
                        </a:rPr>
                        <a:t>: 11</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Reflux Ratio</a:t>
                      </a:r>
                      <a:r>
                        <a:rPr lang="en-US">
                          <a:latin typeface="Times New Roman" panose="02020603050405020304" pitchFamily="18" charset="0"/>
                          <a:cs typeface="Times New Roman" panose="02020603050405020304" pitchFamily="18" charset="0"/>
                        </a:rPr>
                        <a:t>: 0.3033</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Reboiler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4291.45 kW</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Condenser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-4435.88 kW</a:t>
                      </a:r>
                      <a:endParaRPr lang="en-US">
                        <a:solidFill>
                          <a:schemeClr val="tx1"/>
                        </a:solidFill>
                      </a:endParaRPr>
                    </a:p>
                  </a:txBody>
                  <a:tcPr anchor="ctr"/>
                </a:tc>
                <a:tc>
                  <a:txBody>
                    <a:bodyPr/>
                    <a:lstStyle/>
                    <a:p>
                      <a:r>
                        <a:rPr lang="en-US" b="1">
                          <a:latin typeface="Times New Roman" panose="02020603050405020304" pitchFamily="18" charset="0"/>
                          <a:cs typeface="Times New Roman" panose="02020603050405020304" pitchFamily="18" charset="0"/>
                        </a:rPr>
                        <a:t>No of Trays</a:t>
                      </a:r>
                      <a:r>
                        <a:rPr lang="en-US">
                          <a:latin typeface="Times New Roman" panose="02020603050405020304" pitchFamily="18" charset="0"/>
                          <a:cs typeface="Times New Roman" panose="02020603050405020304" pitchFamily="18" charset="0"/>
                        </a:rPr>
                        <a:t>: 20</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Feed Stage</a:t>
                      </a:r>
                      <a:r>
                        <a:rPr lang="en-US">
                          <a:latin typeface="Times New Roman" panose="02020603050405020304" pitchFamily="18" charset="0"/>
                          <a:cs typeface="Times New Roman" panose="02020603050405020304" pitchFamily="18" charset="0"/>
                        </a:rPr>
                        <a:t>: 10</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Reflux Ratio</a:t>
                      </a:r>
                      <a:r>
                        <a:rPr lang="en-US">
                          <a:latin typeface="Times New Roman" panose="02020603050405020304" pitchFamily="18" charset="0"/>
                          <a:cs typeface="Times New Roman" panose="02020603050405020304" pitchFamily="18" charset="0"/>
                        </a:rPr>
                        <a:t>:  1.19132</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Reboiler Duty</a:t>
                      </a:r>
                      <a:r>
                        <a:rPr lang="en-US">
                          <a:latin typeface="Times New Roman" panose="02020603050405020304" pitchFamily="18" charset="0"/>
                          <a:cs typeface="Times New Roman" panose="02020603050405020304" pitchFamily="18" charset="0"/>
                        </a:rPr>
                        <a:t>: 25 kW</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Condenser Duty</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-18.84 kW</a:t>
                      </a:r>
                      <a:endParaRPr lang="en-US">
                        <a:solidFill>
                          <a:schemeClr val="tx1"/>
                        </a:solidFill>
                      </a:endParaRPr>
                    </a:p>
                  </a:txBody>
                  <a:tcPr anchor="ctr"/>
                </a:tc>
                <a:extLst>
                  <a:ext uri="{0D108BD9-81ED-4DB2-BD59-A6C34878D82A}">
                    <a16:rowId xmlns:a16="http://schemas.microsoft.com/office/drawing/2014/main" val="1959777534"/>
                  </a:ext>
                </a:extLst>
              </a:tr>
            </a:tbl>
          </a:graphicData>
        </a:graphic>
      </p:graphicFrame>
      <p:sp>
        <p:nvSpPr>
          <p:cNvPr id="7" name="Rectangle 6">
            <a:extLst>
              <a:ext uri="{FF2B5EF4-FFF2-40B4-BE49-F238E27FC236}">
                <a16:creationId xmlns:a16="http://schemas.microsoft.com/office/drawing/2014/main" id="{E8121679-23E9-47FF-8E7E-D926D8E21165}"/>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a:t>
            </a:r>
          </a:p>
        </p:txBody>
      </p:sp>
    </p:spTree>
    <p:extLst>
      <p:ext uri="{BB962C8B-B14F-4D97-AF65-F5344CB8AC3E}">
        <p14:creationId xmlns:p14="http://schemas.microsoft.com/office/powerpoint/2010/main" val="11693628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1AA5-91BA-0E6B-9323-8EC810C1967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FA7FD15-19DF-FC80-A8E9-42CD351FE133}"/>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VLE checks </a:t>
            </a:r>
          </a:p>
        </p:txBody>
      </p:sp>
      <p:sp>
        <p:nvSpPr>
          <p:cNvPr id="14" name="TextBox 13">
            <a:extLst>
              <a:ext uri="{FF2B5EF4-FFF2-40B4-BE49-F238E27FC236}">
                <a16:creationId xmlns:a16="http://schemas.microsoft.com/office/drawing/2014/main" id="{70A26C1E-0A5A-97E8-E532-27F928605575}"/>
              </a:ext>
            </a:extLst>
          </p:cNvPr>
          <p:cNvSpPr txBox="1"/>
          <p:nvPr/>
        </p:nvSpPr>
        <p:spPr>
          <a:xfrm>
            <a:off x="595143" y="1062825"/>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Column 2 Distillate:</a:t>
            </a:r>
          </a:p>
        </p:txBody>
      </p:sp>
      <p:grpSp>
        <p:nvGrpSpPr>
          <p:cNvPr id="2" name="Group 1">
            <a:extLst>
              <a:ext uri="{FF2B5EF4-FFF2-40B4-BE49-F238E27FC236}">
                <a16:creationId xmlns:a16="http://schemas.microsoft.com/office/drawing/2014/main" id="{61D7609F-4DF6-79D2-E361-B0836BC99DC4}"/>
              </a:ext>
            </a:extLst>
          </p:cNvPr>
          <p:cNvGrpSpPr/>
          <p:nvPr/>
        </p:nvGrpSpPr>
        <p:grpSpPr>
          <a:xfrm>
            <a:off x="1137500" y="1498406"/>
            <a:ext cx="9917000" cy="4847529"/>
            <a:chOff x="0" y="0"/>
            <a:chExt cx="5731510" cy="2801620"/>
          </a:xfrm>
        </p:grpSpPr>
        <p:pic>
          <p:nvPicPr>
            <p:cNvPr id="3" name="Picture 2">
              <a:extLst>
                <a:ext uri="{FF2B5EF4-FFF2-40B4-BE49-F238E27FC236}">
                  <a16:creationId xmlns:a16="http://schemas.microsoft.com/office/drawing/2014/main" id="{165CE228-A427-CC6A-303E-A39B57E43F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731510" cy="2801620"/>
            </a:xfrm>
            <a:prstGeom prst="rect">
              <a:avLst/>
            </a:prstGeom>
            <a:noFill/>
            <a:ln>
              <a:noFill/>
            </a:ln>
          </p:spPr>
        </p:pic>
        <p:pic>
          <p:nvPicPr>
            <p:cNvPr id="4" name="Graphic 20" descr="Star with solid fill">
              <a:extLst>
                <a:ext uri="{FF2B5EF4-FFF2-40B4-BE49-F238E27FC236}">
                  <a16:creationId xmlns:a16="http://schemas.microsoft.com/office/drawing/2014/main" id="{5AE20C2B-5F04-5C9C-0221-4814942E24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97619" y="1778312"/>
              <a:ext cx="102235" cy="102235"/>
            </a:xfrm>
            <a:prstGeom prst="rect">
              <a:avLst/>
            </a:prstGeom>
          </p:spPr>
        </p:pic>
        <p:sp>
          <p:nvSpPr>
            <p:cNvPr id="5" name="Text Box 2">
              <a:extLst>
                <a:ext uri="{FF2B5EF4-FFF2-40B4-BE49-F238E27FC236}">
                  <a16:creationId xmlns:a16="http://schemas.microsoft.com/office/drawing/2014/main" id="{3E7251F4-EE7E-862B-E7A9-69FB77183E6E}"/>
                </a:ext>
              </a:extLst>
            </p:cNvPr>
            <p:cNvSpPr txBox="1">
              <a:spLocks noChangeArrowheads="1"/>
            </p:cNvSpPr>
            <p:nvPr/>
          </p:nvSpPr>
          <p:spPr bwMode="auto">
            <a:xfrm>
              <a:off x="3680039" y="258052"/>
              <a:ext cx="1231900" cy="78597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800"/>
                </a:spcAft>
              </a:pPr>
              <a:r>
                <a:rPr lang="en-US" sz="1400" kern="100">
                  <a:effectLst/>
                  <a:latin typeface="Times New Roman" panose="02020603050405020304" pitchFamily="18" charset="0"/>
                  <a:ea typeface="Aptos" panose="020B0004020202020204" pitchFamily="34" charset="0"/>
                  <a:cs typeface="Times New Roman" panose="02020603050405020304" pitchFamily="18" charset="0"/>
                </a:rPr>
                <a:t>Methanol = </a:t>
              </a: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0.9998</a:t>
              </a:r>
              <a:endParaRPr lang="en-IN" sz="14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sz="1400" kern="100">
                  <a:effectLst/>
                  <a:latin typeface="Times New Roman" panose="02020603050405020304" pitchFamily="18" charset="0"/>
                  <a:ea typeface="Aptos" panose="020B0004020202020204" pitchFamily="34" charset="0"/>
                  <a:cs typeface="Times New Roman" panose="02020603050405020304" pitchFamily="18" charset="0"/>
                </a:rPr>
                <a:t>Water = </a:t>
              </a: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0.0002</a:t>
              </a:r>
              <a:endParaRPr lang="en-IN" sz="1400"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sz="1400" kern="100">
                  <a:effectLst/>
                  <a:latin typeface="Times New Roman" panose="02020603050405020304" pitchFamily="18" charset="0"/>
                  <a:ea typeface="Aptos" panose="020B0004020202020204" pitchFamily="34" charset="0"/>
                  <a:cs typeface="Times New Roman" panose="02020603050405020304" pitchFamily="18" charset="0"/>
                </a:rPr>
                <a:t>Temp = </a:t>
              </a: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64.2 °C</a:t>
              </a:r>
            </a:p>
            <a:p>
              <a:pPr>
                <a:lnSpc>
                  <a:spcPct val="114999"/>
                </a:lnSpc>
                <a:spcAft>
                  <a:spcPts val="800"/>
                </a:spcAft>
              </a:pPr>
              <a:r>
                <a:rPr lang="en-US" sz="1400" kern="100">
                  <a:latin typeface="Times New Roman"/>
                  <a:cs typeface="Times New Roman"/>
                </a:rPr>
                <a:t>Tsat = </a:t>
              </a:r>
              <a:r>
                <a:rPr lang="en-US" sz="1400" b="1" kern="100">
                  <a:latin typeface="Times New Roman"/>
                  <a:cs typeface="Times New Roman"/>
                </a:rPr>
                <a:t>64.26 °C</a:t>
              </a:r>
              <a:endParaRPr lang="en-US">
                <a:latin typeface="Times New Roman"/>
                <a:cs typeface="Times New Roman"/>
              </a:endParaRPr>
            </a:p>
          </p:txBody>
        </p:sp>
        <p:cxnSp>
          <p:nvCxnSpPr>
            <p:cNvPr id="7" name="Straight Arrow Connector 6">
              <a:extLst>
                <a:ext uri="{FF2B5EF4-FFF2-40B4-BE49-F238E27FC236}">
                  <a16:creationId xmlns:a16="http://schemas.microsoft.com/office/drawing/2014/main" id="{214C97B0-6E6D-292B-915B-9B8ABFF2D9D7}"/>
                </a:ext>
              </a:extLst>
            </p:cNvPr>
            <p:cNvCxnSpPr/>
            <p:nvPr/>
          </p:nvCxnSpPr>
          <p:spPr>
            <a:xfrm>
              <a:off x="4908589" y="661959"/>
              <a:ext cx="624177" cy="1097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 name="Slide Number Placeholder 5">
            <a:extLst>
              <a:ext uri="{FF2B5EF4-FFF2-40B4-BE49-F238E27FC236}">
                <a16:creationId xmlns:a16="http://schemas.microsoft.com/office/drawing/2014/main" id="{408DDA98-6D92-AFFD-CEF1-3652A4334A2C}"/>
              </a:ext>
            </a:extLst>
          </p:cNvPr>
          <p:cNvSpPr>
            <a:spLocks noGrp="1"/>
          </p:cNvSpPr>
          <p:nvPr>
            <p:ph type="sldNum" sz="quarter" idx="12"/>
          </p:nvPr>
        </p:nvSpPr>
        <p:spPr>
          <a:xfrm>
            <a:off x="8610600" y="6356350"/>
            <a:ext cx="2743200" cy="365125"/>
          </a:xfrm>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41431130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1AA5-91BA-0E6B-9323-8EC810C1967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FA7FD15-19DF-FC80-A8E9-42CD351FE133}"/>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VLE checks </a:t>
            </a:r>
          </a:p>
        </p:txBody>
      </p:sp>
      <p:sp>
        <p:nvSpPr>
          <p:cNvPr id="14" name="TextBox 13">
            <a:extLst>
              <a:ext uri="{FF2B5EF4-FFF2-40B4-BE49-F238E27FC236}">
                <a16:creationId xmlns:a16="http://schemas.microsoft.com/office/drawing/2014/main" id="{70A26C1E-0A5A-97E8-E532-27F928605575}"/>
              </a:ext>
            </a:extLst>
          </p:cNvPr>
          <p:cNvSpPr txBox="1"/>
          <p:nvPr/>
        </p:nvSpPr>
        <p:spPr>
          <a:xfrm>
            <a:off x="595143" y="1062825"/>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Column 2 Bottom:</a:t>
            </a:r>
          </a:p>
        </p:txBody>
      </p:sp>
      <p:grpSp>
        <p:nvGrpSpPr>
          <p:cNvPr id="2" name="Group 1">
            <a:extLst>
              <a:ext uri="{FF2B5EF4-FFF2-40B4-BE49-F238E27FC236}">
                <a16:creationId xmlns:a16="http://schemas.microsoft.com/office/drawing/2014/main" id="{761DA47A-B2BC-1BD7-8B58-612921F65BE6}"/>
              </a:ext>
            </a:extLst>
          </p:cNvPr>
          <p:cNvGrpSpPr/>
          <p:nvPr/>
        </p:nvGrpSpPr>
        <p:grpSpPr>
          <a:xfrm>
            <a:off x="1155192" y="1498515"/>
            <a:ext cx="9881616" cy="4830234"/>
            <a:chOff x="0" y="0"/>
            <a:chExt cx="5731510" cy="2801620"/>
          </a:xfrm>
        </p:grpSpPr>
        <p:pic>
          <p:nvPicPr>
            <p:cNvPr id="3" name="Picture 2">
              <a:extLst>
                <a:ext uri="{FF2B5EF4-FFF2-40B4-BE49-F238E27FC236}">
                  <a16:creationId xmlns:a16="http://schemas.microsoft.com/office/drawing/2014/main" id="{EB4B5F89-6121-88D7-B217-A889C0E19C4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731510" cy="2801620"/>
            </a:xfrm>
            <a:prstGeom prst="rect">
              <a:avLst/>
            </a:prstGeom>
            <a:noFill/>
            <a:ln>
              <a:noFill/>
            </a:ln>
          </p:spPr>
        </p:pic>
        <p:sp>
          <p:nvSpPr>
            <p:cNvPr id="4" name="Text Box 2">
              <a:extLst>
                <a:ext uri="{FF2B5EF4-FFF2-40B4-BE49-F238E27FC236}">
                  <a16:creationId xmlns:a16="http://schemas.microsoft.com/office/drawing/2014/main" id="{56E2FD48-5734-A9BC-F959-CAFDD69933BB}"/>
                </a:ext>
              </a:extLst>
            </p:cNvPr>
            <p:cNvSpPr txBox="1">
              <a:spLocks noChangeArrowheads="1"/>
            </p:cNvSpPr>
            <p:nvPr/>
          </p:nvSpPr>
          <p:spPr bwMode="auto">
            <a:xfrm>
              <a:off x="433387" y="1581150"/>
              <a:ext cx="1059126" cy="76661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800"/>
                </a:spcAft>
              </a:pPr>
              <a:r>
                <a:rPr lang="en-US" sz="1400" kern="100">
                  <a:effectLst/>
                  <a:latin typeface="Times New Roman"/>
                  <a:ea typeface="Aptos" panose="020B0004020202020204" pitchFamily="34" charset="0"/>
                  <a:cs typeface="Times New Roman"/>
                </a:rPr>
                <a:t>Methanol = </a:t>
              </a:r>
              <a:r>
                <a:rPr lang="en-US" sz="1400" b="1" kern="100">
                  <a:effectLst/>
                  <a:latin typeface="Times New Roman"/>
                  <a:ea typeface="Aptos" panose="020B0004020202020204" pitchFamily="34" charset="0"/>
                  <a:cs typeface="Times New Roman"/>
                </a:rPr>
                <a:t>0.001</a:t>
              </a:r>
              <a:endParaRPr lang="en-IN" sz="1400" kern="100">
                <a:effectLst/>
                <a:latin typeface="Times New Roman"/>
                <a:ea typeface="Aptos" panose="020B0004020202020204" pitchFamily="34" charset="0"/>
                <a:cs typeface="Times New Roman"/>
              </a:endParaRPr>
            </a:p>
            <a:p>
              <a:pPr>
                <a:lnSpc>
                  <a:spcPct val="115000"/>
                </a:lnSpc>
                <a:spcAft>
                  <a:spcPts val="800"/>
                </a:spcAft>
              </a:pPr>
              <a:r>
                <a:rPr lang="en-US" sz="1400" kern="100">
                  <a:effectLst/>
                  <a:latin typeface="Times New Roman"/>
                  <a:ea typeface="Aptos" panose="020B0004020202020204" pitchFamily="34" charset="0"/>
                  <a:cs typeface="Times New Roman"/>
                </a:rPr>
                <a:t>Water = </a:t>
              </a:r>
              <a:r>
                <a:rPr lang="en-US" sz="1400" b="1" kern="100">
                  <a:effectLst/>
                  <a:latin typeface="Times New Roman"/>
                  <a:ea typeface="Aptos" panose="020B0004020202020204" pitchFamily="34" charset="0"/>
                  <a:cs typeface="Times New Roman"/>
                </a:rPr>
                <a:t>0.999</a:t>
              </a:r>
              <a:endParaRPr lang="en-IN" sz="1400" kern="100">
                <a:effectLst/>
                <a:latin typeface="Times New Roman"/>
                <a:ea typeface="Aptos" panose="020B0004020202020204" pitchFamily="34" charset="0"/>
                <a:cs typeface="Times New Roman"/>
              </a:endParaRPr>
            </a:p>
            <a:p>
              <a:pPr>
                <a:lnSpc>
                  <a:spcPct val="115000"/>
                </a:lnSpc>
                <a:spcAft>
                  <a:spcPts val="800"/>
                </a:spcAft>
              </a:pPr>
              <a:r>
                <a:rPr lang="en-US" sz="1400" kern="100">
                  <a:effectLst/>
                  <a:latin typeface="Times New Roman"/>
                  <a:ea typeface="Aptos" panose="020B0004020202020204" pitchFamily="34" charset="0"/>
                  <a:cs typeface="Times New Roman"/>
                </a:rPr>
                <a:t>Temp = </a:t>
              </a:r>
              <a:r>
                <a:rPr lang="en-US" sz="1400" b="1" kern="100">
                  <a:effectLst/>
                  <a:latin typeface="Times New Roman"/>
                  <a:ea typeface="Aptos" panose="020B0004020202020204" pitchFamily="34" charset="0"/>
                  <a:cs typeface="Times New Roman"/>
                </a:rPr>
                <a:t>104.34 °C</a:t>
              </a:r>
              <a:endParaRPr lang="en-IN" sz="1400" kern="100">
                <a:effectLst/>
                <a:latin typeface="Times New Roman"/>
                <a:ea typeface="Aptos" panose="020B0004020202020204" pitchFamily="34" charset="0"/>
                <a:cs typeface="Times New Roman"/>
              </a:endParaRPr>
            </a:p>
            <a:p>
              <a:pPr>
                <a:lnSpc>
                  <a:spcPct val="114999"/>
                </a:lnSpc>
                <a:spcAft>
                  <a:spcPts val="800"/>
                </a:spcAft>
              </a:pPr>
              <a:r>
                <a:rPr lang="en-US" sz="1400" kern="100">
                  <a:latin typeface="Times New Roman"/>
                  <a:cs typeface="Times New Roman"/>
                </a:rPr>
                <a:t>Tsat = </a:t>
              </a:r>
              <a:r>
                <a:rPr lang="en-US" sz="1400" b="1" kern="100">
                  <a:latin typeface="Times New Roman"/>
                  <a:cs typeface="Times New Roman"/>
                </a:rPr>
                <a:t>104.44 °C</a:t>
              </a:r>
              <a:endParaRPr lang="en-US"/>
            </a:p>
            <a:p>
              <a:pPr>
                <a:lnSpc>
                  <a:spcPct val="114999"/>
                </a:lnSpc>
                <a:spcAft>
                  <a:spcPts val="800"/>
                </a:spcAft>
              </a:pPr>
              <a:endParaRPr lang="en-US" sz="1400" b="1" kern="10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endParaRPr lang="en-IN" sz="1400" kern="100">
                <a:latin typeface="Times New Roman" panose="02020603050405020304" pitchFamily="18" charset="0"/>
                <a:ea typeface="Aptos" panose="020B0004020202020204" pitchFamily="34"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B0303FC0-AF99-B70E-F1DC-E5035B32FF9C}"/>
                </a:ext>
              </a:extLst>
            </p:cNvPr>
            <p:cNvCxnSpPr/>
            <p:nvPr/>
          </p:nvCxnSpPr>
          <p:spPr>
            <a:xfrm flipH="1" flipV="1">
              <a:off x="366712" y="342900"/>
              <a:ext cx="609600" cy="1238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Graphic 24" descr="Star with solid fill">
              <a:extLst>
                <a:ext uri="{FF2B5EF4-FFF2-40B4-BE49-F238E27FC236}">
                  <a16:creationId xmlns:a16="http://schemas.microsoft.com/office/drawing/2014/main" id="{A88EF38E-099F-1417-B141-2004637045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333375" y="280987"/>
              <a:ext cx="68580" cy="68580"/>
            </a:xfrm>
            <a:prstGeom prst="rect">
              <a:avLst/>
            </a:prstGeom>
          </p:spPr>
        </p:pic>
      </p:grpSp>
      <p:sp>
        <p:nvSpPr>
          <p:cNvPr id="9" name="Slide Number Placeholder 5">
            <a:extLst>
              <a:ext uri="{FF2B5EF4-FFF2-40B4-BE49-F238E27FC236}">
                <a16:creationId xmlns:a16="http://schemas.microsoft.com/office/drawing/2014/main" id="{CB1A49CD-C1AA-3C68-346B-9A362334D127}"/>
              </a:ext>
            </a:extLst>
          </p:cNvPr>
          <p:cNvSpPr>
            <a:spLocks noGrp="1"/>
          </p:cNvSpPr>
          <p:nvPr>
            <p:ph type="sldNum" sz="quarter" idx="12"/>
          </p:nvPr>
        </p:nvSpPr>
        <p:spPr>
          <a:xfrm>
            <a:off x="8610600" y="6356350"/>
            <a:ext cx="2743200" cy="365125"/>
          </a:xfrm>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1561931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1AA5-91BA-0E6B-9323-8EC810C1967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FA7FD15-19DF-FC80-A8E9-42CD351FE133}"/>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VLE checks </a:t>
            </a:r>
          </a:p>
        </p:txBody>
      </p:sp>
      <p:grpSp>
        <p:nvGrpSpPr>
          <p:cNvPr id="2" name="Group 1">
            <a:extLst>
              <a:ext uri="{FF2B5EF4-FFF2-40B4-BE49-F238E27FC236}">
                <a16:creationId xmlns:a16="http://schemas.microsoft.com/office/drawing/2014/main" id="{18DF08C3-0167-B4F5-8D3C-D6EBE6FC689B}"/>
              </a:ext>
            </a:extLst>
          </p:cNvPr>
          <p:cNvGrpSpPr/>
          <p:nvPr/>
        </p:nvGrpSpPr>
        <p:grpSpPr>
          <a:xfrm>
            <a:off x="1446593" y="1432157"/>
            <a:ext cx="9298813" cy="5094016"/>
            <a:chOff x="0" y="120126"/>
            <a:chExt cx="6912610" cy="3133724"/>
          </a:xfrm>
        </p:grpSpPr>
        <p:grpSp>
          <p:nvGrpSpPr>
            <p:cNvPr id="3" name="Group 2">
              <a:extLst>
                <a:ext uri="{FF2B5EF4-FFF2-40B4-BE49-F238E27FC236}">
                  <a16:creationId xmlns:a16="http://schemas.microsoft.com/office/drawing/2014/main" id="{251E4AEC-8314-A45D-A3D5-207EB7D325D9}"/>
                </a:ext>
              </a:extLst>
            </p:cNvPr>
            <p:cNvGrpSpPr/>
            <p:nvPr/>
          </p:nvGrpSpPr>
          <p:grpSpPr>
            <a:xfrm>
              <a:off x="0" y="120126"/>
              <a:ext cx="6912610" cy="3133724"/>
              <a:chOff x="0" y="120126"/>
              <a:chExt cx="6912610" cy="3133724"/>
            </a:xfrm>
          </p:grpSpPr>
          <p:pic>
            <p:nvPicPr>
              <p:cNvPr id="7" name="Picture 6">
                <a:extLst>
                  <a:ext uri="{FF2B5EF4-FFF2-40B4-BE49-F238E27FC236}">
                    <a16:creationId xmlns:a16="http://schemas.microsoft.com/office/drawing/2014/main" id="{9324AA9E-2B90-04A9-EACD-4A93C56316A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20126"/>
                <a:ext cx="6912610" cy="3133724"/>
              </a:xfrm>
              <a:prstGeom prst="rect">
                <a:avLst/>
              </a:prstGeom>
              <a:noFill/>
              <a:ln>
                <a:noFill/>
              </a:ln>
            </p:spPr>
          </p:pic>
          <p:sp>
            <p:nvSpPr>
              <p:cNvPr id="8" name="Text Box 2">
                <a:extLst>
                  <a:ext uri="{FF2B5EF4-FFF2-40B4-BE49-F238E27FC236}">
                    <a16:creationId xmlns:a16="http://schemas.microsoft.com/office/drawing/2014/main" id="{06FB363B-C976-1647-5901-6368B775BD38}"/>
                  </a:ext>
                </a:extLst>
              </p:cNvPr>
              <p:cNvSpPr txBox="1">
                <a:spLocks noChangeArrowheads="1"/>
              </p:cNvSpPr>
              <p:nvPr/>
            </p:nvSpPr>
            <p:spPr bwMode="auto">
              <a:xfrm>
                <a:off x="1327774" y="759577"/>
                <a:ext cx="1129795" cy="79568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800"/>
                  </a:spcAft>
                </a:pPr>
                <a:r>
                  <a:rPr lang="en-US" sz="1400" kern="100">
                    <a:effectLst/>
                    <a:latin typeface="Times New Roman"/>
                    <a:ea typeface="Aptos" panose="020B0004020202020204" pitchFamily="34" charset="0"/>
                    <a:cs typeface="Times New Roman"/>
                  </a:rPr>
                  <a:t>MEB = </a:t>
                </a:r>
                <a:r>
                  <a:rPr lang="en-US" sz="1400" b="1" kern="100">
                    <a:effectLst/>
                    <a:latin typeface="Times New Roman"/>
                    <a:ea typeface="Aptos" panose="020B0004020202020204" pitchFamily="34" charset="0"/>
                    <a:cs typeface="Times New Roman"/>
                  </a:rPr>
                  <a:t>0.99</a:t>
                </a:r>
                <a:endParaRPr lang="en-IN" sz="1400" kern="100">
                  <a:effectLst/>
                  <a:latin typeface="Times New Roman"/>
                  <a:ea typeface="Aptos" panose="020B0004020202020204" pitchFamily="34" charset="0"/>
                  <a:cs typeface="Times New Roman"/>
                </a:endParaRPr>
              </a:p>
              <a:p>
                <a:pPr>
                  <a:lnSpc>
                    <a:spcPct val="115000"/>
                  </a:lnSpc>
                  <a:spcAft>
                    <a:spcPts val="800"/>
                  </a:spcAft>
                </a:pPr>
                <a:r>
                  <a:rPr lang="en-US" sz="1400" kern="100">
                    <a:effectLst/>
                    <a:latin typeface="Times New Roman"/>
                    <a:ea typeface="Aptos" panose="020B0004020202020204" pitchFamily="34" charset="0"/>
                    <a:cs typeface="Times New Roman"/>
                  </a:rPr>
                  <a:t>Water = </a:t>
                </a:r>
                <a:r>
                  <a:rPr lang="en-US" sz="1400" b="1" kern="100">
                    <a:effectLst/>
                    <a:latin typeface="Times New Roman"/>
                    <a:ea typeface="Aptos" panose="020B0004020202020204" pitchFamily="34" charset="0"/>
                    <a:cs typeface="Times New Roman"/>
                  </a:rPr>
                  <a:t>0.01</a:t>
                </a:r>
                <a:endParaRPr lang="en-IN" sz="1400" kern="100">
                  <a:effectLst/>
                  <a:latin typeface="Times New Roman"/>
                  <a:ea typeface="Aptos" panose="020B0004020202020204" pitchFamily="34" charset="0"/>
                  <a:cs typeface="Times New Roman"/>
                </a:endParaRPr>
              </a:p>
              <a:p>
                <a:pPr>
                  <a:lnSpc>
                    <a:spcPct val="115000"/>
                  </a:lnSpc>
                  <a:spcAft>
                    <a:spcPts val="800"/>
                  </a:spcAft>
                </a:pPr>
                <a:r>
                  <a:rPr lang="en-US" sz="1400" kern="100">
                    <a:effectLst/>
                    <a:latin typeface="Times New Roman"/>
                    <a:ea typeface="Aptos" panose="020B0004020202020204" pitchFamily="34" charset="0"/>
                    <a:cs typeface="Times New Roman"/>
                  </a:rPr>
                  <a:t>Temp = </a:t>
                </a:r>
                <a:r>
                  <a:rPr lang="en-US" sz="1400" b="1" kern="100">
                    <a:effectLst/>
                    <a:latin typeface="Times New Roman"/>
                    <a:ea typeface="Aptos" panose="020B0004020202020204" pitchFamily="34" charset="0"/>
                    <a:cs typeface="Times New Roman"/>
                  </a:rPr>
                  <a:t>190 °C</a:t>
                </a:r>
              </a:p>
              <a:p>
                <a:r>
                  <a:rPr lang="en-US" sz="1400" kern="100">
                    <a:latin typeface="Times New Roman"/>
                    <a:ea typeface="Aptos" panose="020B0004020202020204" pitchFamily="34" charset="0"/>
                    <a:cs typeface="Times New Roman"/>
                  </a:rPr>
                  <a:t>Tsat = </a:t>
                </a:r>
                <a:r>
                  <a:rPr lang="en-US" sz="1400" b="1" kern="100">
                    <a:latin typeface="Times New Roman"/>
                    <a:ea typeface="Aptos" panose="020B0004020202020204" pitchFamily="34" charset="0"/>
                    <a:cs typeface="Times New Roman"/>
                  </a:rPr>
                  <a:t>191.32°C</a:t>
                </a:r>
                <a:endParaRPr lang="en-US" sz="1400" kern="100">
                  <a:latin typeface="Times New Roman"/>
                  <a:ea typeface="Aptos" panose="020B0004020202020204" pitchFamily="34" charset="0"/>
                  <a:cs typeface="Times New Roman"/>
                </a:endParaRPr>
              </a:p>
              <a:p>
                <a:pPr>
                  <a:lnSpc>
                    <a:spcPct val="114999"/>
                  </a:lnSpc>
                  <a:spcAft>
                    <a:spcPts val="800"/>
                  </a:spcAft>
                </a:pPr>
                <a:endParaRPr lang="en-US" sz="1400" b="1" kern="100">
                  <a:latin typeface="Times New Roman" panose="02020603050405020304" pitchFamily="18" charset="0"/>
                  <a:ea typeface="Aptos" panose="020B0004020202020204" pitchFamily="34" charset="0"/>
                  <a:cs typeface="Times New Roman" panose="02020603050405020304" pitchFamily="18" charset="0"/>
                </a:endParaRPr>
              </a:p>
            </p:txBody>
          </p:sp>
        </p:grpSp>
        <p:pic>
          <p:nvPicPr>
            <p:cNvPr id="4" name="Graphic 12" descr="Star with solid fill">
              <a:extLst>
                <a:ext uri="{FF2B5EF4-FFF2-40B4-BE49-F238E27FC236}">
                  <a16:creationId xmlns:a16="http://schemas.microsoft.com/office/drawing/2014/main" id="{6ED1D2FC-B2B2-D2E2-239A-535A2BD285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2273" y="391131"/>
              <a:ext cx="116205" cy="116205"/>
            </a:xfrm>
            <a:prstGeom prst="rect">
              <a:avLst/>
            </a:prstGeom>
          </p:spPr>
        </p:pic>
        <p:cxnSp>
          <p:nvCxnSpPr>
            <p:cNvPr id="5" name="Straight Arrow Connector 4">
              <a:extLst>
                <a:ext uri="{FF2B5EF4-FFF2-40B4-BE49-F238E27FC236}">
                  <a16:creationId xmlns:a16="http://schemas.microsoft.com/office/drawing/2014/main" id="{A9948868-2917-563B-A955-D8E584CB41A2}"/>
                </a:ext>
              </a:extLst>
            </p:cNvPr>
            <p:cNvCxnSpPr/>
            <p:nvPr/>
          </p:nvCxnSpPr>
          <p:spPr>
            <a:xfrm flipH="1" flipV="1">
              <a:off x="540227" y="460944"/>
              <a:ext cx="787547" cy="597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865A29B-4593-20BB-D59C-BCC1265E5D49}"/>
              </a:ext>
            </a:extLst>
          </p:cNvPr>
          <p:cNvSpPr txBox="1"/>
          <p:nvPr/>
        </p:nvSpPr>
        <p:spPr>
          <a:xfrm>
            <a:off x="595143" y="1062825"/>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Column 3 Distillate:</a:t>
            </a:r>
          </a:p>
        </p:txBody>
      </p:sp>
      <p:sp>
        <p:nvSpPr>
          <p:cNvPr id="11" name="Slide Number Placeholder 5">
            <a:extLst>
              <a:ext uri="{FF2B5EF4-FFF2-40B4-BE49-F238E27FC236}">
                <a16:creationId xmlns:a16="http://schemas.microsoft.com/office/drawing/2014/main" id="{1E9CF110-7FA7-E13D-F67E-FB88F584CE34}"/>
              </a:ext>
            </a:extLst>
          </p:cNvPr>
          <p:cNvSpPr>
            <a:spLocks noGrp="1"/>
          </p:cNvSpPr>
          <p:nvPr>
            <p:ph type="sldNum" sz="quarter" idx="12"/>
          </p:nvPr>
        </p:nvSpPr>
        <p:spPr>
          <a:xfrm>
            <a:off x="8610600" y="6356350"/>
            <a:ext cx="2743200" cy="365125"/>
          </a:xfrm>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1766805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1AA5-91BA-0E6B-9323-8EC810C1967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FA7FD15-19DF-FC80-A8E9-42CD351FE133}"/>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Design &amp; Sequencing: VLE checks </a:t>
            </a:r>
          </a:p>
        </p:txBody>
      </p:sp>
      <p:grpSp>
        <p:nvGrpSpPr>
          <p:cNvPr id="9" name="Group 8">
            <a:extLst>
              <a:ext uri="{FF2B5EF4-FFF2-40B4-BE49-F238E27FC236}">
                <a16:creationId xmlns:a16="http://schemas.microsoft.com/office/drawing/2014/main" id="{8DEEB832-9066-9D1B-218F-54CEBE5E7EDF}"/>
              </a:ext>
            </a:extLst>
          </p:cNvPr>
          <p:cNvGrpSpPr/>
          <p:nvPr/>
        </p:nvGrpSpPr>
        <p:grpSpPr>
          <a:xfrm>
            <a:off x="1237487" y="1247491"/>
            <a:ext cx="9717026" cy="5202402"/>
            <a:chOff x="0" y="0"/>
            <a:chExt cx="6091555" cy="3261360"/>
          </a:xfrm>
        </p:grpSpPr>
        <p:pic>
          <p:nvPicPr>
            <p:cNvPr id="10" name="Picture 9">
              <a:extLst>
                <a:ext uri="{FF2B5EF4-FFF2-40B4-BE49-F238E27FC236}">
                  <a16:creationId xmlns:a16="http://schemas.microsoft.com/office/drawing/2014/main" id="{3F966010-6128-152C-5936-3C7DDFD99A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91555" cy="3261360"/>
            </a:xfrm>
            <a:prstGeom prst="rect">
              <a:avLst/>
            </a:prstGeom>
            <a:noFill/>
            <a:ln>
              <a:noFill/>
            </a:ln>
          </p:spPr>
        </p:pic>
        <p:sp>
          <p:nvSpPr>
            <p:cNvPr id="11" name="Text Box 2">
              <a:extLst>
                <a:ext uri="{FF2B5EF4-FFF2-40B4-BE49-F238E27FC236}">
                  <a16:creationId xmlns:a16="http://schemas.microsoft.com/office/drawing/2014/main" id="{7EAB3D56-889B-A51B-A441-E56DB285C37C}"/>
                </a:ext>
              </a:extLst>
            </p:cNvPr>
            <p:cNvSpPr txBox="1">
              <a:spLocks noChangeArrowheads="1"/>
            </p:cNvSpPr>
            <p:nvPr/>
          </p:nvSpPr>
          <p:spPr bwMode="auto">
            <a:xfrm>
              <a:off x="672490" y="1828800"/>
              <a:ext cx="985495" cy="83048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800"/>
                </a:spcAft>
              </a:pPr>
              <a:r>
                <a:rPr lang="en-US" sz="1400" kern="100">
                  <a:effectLst/>
                  <a:latin typeface="Times New Roman"/>
                  <a:ea typeface="Aptos" panose="020B0004020202020204" pitchFamily="34" charset="0"/>
                  <a:cs typeface="Times New Roman"/>
                </a:rPr>
                <a:t>PTH = </a:t>
              </a:r>
              <a:r>
                <a:rPr lang="en-US" sz="1400" b="1" kern="100">
                  <a:effectLst/>
                  <a:latin typeface="Times New Roman"/>
                  <a:ea typeface="Aptos" panose="020B0004020202020204" pitchFamily="34" charset="0"/>
                  <a:cs typeface="Times New Roman"/>
                </a:rPr>
                <a:t>0.6</a:t>
              </a:r>
              <a:endParaRPr lang="en-IN" sz="1400" kern="100">
                <a:effectLst/>
                <a:latin typeface="Times New Roman"/>
                <a:ea typeface="Aptos" panose="020B0004020202020204" pitchFamily="34" charset="0"/>
                <a:cs typeface="Times New Roman"/>
              </a:endParaRPr>
            </a:p>
            <a:p>
              <a:pPr>
                <a:lnSpc>
                  <a:spcPct val="115000"/>
                </a:lnSpc>
                <a:spcAft>
                  <a:spcPts val="800"/>
                </a:spcAft>
              </a:pPr>
              <a:r>
                <a:rPr lang="en-US" sz="1400" kern="100">
                  <a:effectLst/>
                  <a:latin typeface="Times New Roman"/>
                  <a:ea typeface="Aptos" panose="020B0004020202020204" pitchFamily="34" charset="0"/>
                  <a:cs typeface="Times New Roman"/>
                </a:rPr>
                <a:t>MEB = </a:t>
              </a:r>
              <a:r>
                <a:rPr lang="en-US" sz="1400" b="1" kern="100">
                  <a:effectLst/>
                  <a:latin typeface="Times New Roman"/>
                  <a:ea typeface="Aptos" panose="020B0004020202020204" pitchFamily="34" charset="0"/>
                  <a:cs typeface="Times New Roman"/>
                </a:rPr>
                <a:t>0.4</a:t>
              </a:r>
              <a:endParaRPr lang="en-IN" sz="1400" kern="100">
                <a:effectLst/>
                <a:latin typeface="Times New Roman"/>
                <a:ea typeface="Aptos" panose="020B0004020202020204" pitchFamily="34" charset="0"/>
                <a:cs typeface="Times New Roman"/>
              </a:endParaRPr>
            </a:p>
            <a:p>
              <a:pPr>
                <a:lnSpc>
                  <a:spcPct val="115000"/>
                </a:lnSpc>
                <a:spcAft>
                  <a:spcPts val="800"/>
                </a:spcAft>
              </a:pPr>
              <a:r>
                <a:rPr lang="en-US" sz="1400" kern="100">
                  <a:effectLst/>
                  <a:latin typeface="Times New Roman"/>
                  <a:ea typeface="Aptos" panose="020B0004020202020204" pitchFamily="34" charset="0"/>
                  <a:cs typeface="Times New Roman"/>
                </a:rPr>
                <a:t>Temp = </a:t>
              </a:r>
              <a:r>
                <a:rPr lang="en-US" sz="1400" b="1" kern="100">
                  <a:effectLst/>
                  <a:latin typeface="Times New Roman"/>
                  <a:ea typeface="Aptos" panose="020B0004020202020204" pitchFamily="34" charset="0"/>
                  <a:cs typeface="Times New Roman"/>
                </a:rPr>
                <a:t>247 °C</a:t>
              </a:r>
            </a:p>
            <a:p>
              <a:pPr>
                <a:lnSpc>
                  <a:spcPct val="114999"/>
                </a:lnSpc>
                <a:spcAft>
                  <a:spcPts val="800"/>
                </a:spcAft>
              </a:pPr>
              <a:r>
                <a:rPr lang="en-US" sz="1400" kern="100">
                  <a:latin typeface="Times New Roman"/>
                  <a:cs typeface="Times New Roman"/>
                </a:rPr>
                <a:t>Tsat = </a:t>
              </a:r>
              <a:r>
                <a:rPr lang="en-US" sz="1400" b="1" kern="100">
                  <a:latin typeface="Times New Roman"/>
                  <a:cs typeface="Times New Roman"/>
                </a:rPr>
                <a:t>247.24°C</a:t>
              </a:r>
              <a:endParaRPr lang="en-US">
                <a:latin typeface="Times New Roman"/>
                <a:cs typeface="Times New Roman"/>
              </a:endParaRPr>
            </a:p>
          </p:txBody>
        </p:sp>
        <p:pic>
          <p:nvPicPr>
            <p:cNvPr id="12" name="Graphic 15" descr="Star with solid fill">
              <a:extLst>
                <a:ext uri="{FF2B5EF4-FFF2-40B4-BE49-F238E27FC236}">
                  <a16:creationId xmlns:a16="http://schemas.microsoft.com/office/drawing/2014/main" id="{98F1F2EC-BBB7-69FE-2110-24C9920FA3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76513" y="1947862"/>
              <a:ext cx="75565" cy="85725"/>
            </a:xfrm>
            <a:prstGeom prst="rect">
              <a:avLst/>
            </a:prstGeom>
          </p:spPr>
        </p:pic>
        <p:cxnSp>
          <p:nvCxnSpPr>
            <p:cNvPr id="13" name="Straight Arrow Connector 12">
              <a:extLst>
                <a:ext uri="{FF2B5EF4-FFF2-40B4-BE49-F238E27FC236}">
                  <a16:creationId xmlns:a16="http://schemas.microsoft.com/office/drawing/2014/main" id="{5D88CE1A-E718-A072-CD31-B64BC0524BB3}"/>
                </a:ext>
              </a:extLst>
            </p:cNvPr>
            <p:cNvCxnSpPr/>
            <p:nvPr/>
          </p:nvCxnSpPr>
          <p:spPr>
            <a:xfrm flipV="1">
              <a:off x="1657350" y="2005012"/>
              <a:ext cx="931566" cy="248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70A26C1E-0A5A-97E8-E532-27F928605575}"/>
              </a:ext>
            </a:extLst>
          </p:cNvPr>
          <p:cNvSpPr txBox="1"/>
          <p:nvPr/>
        </p:nvSpPr>
        <p:spPr>
          <a:xfrm>
            <a:off x="595143" y="1062825"/>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Column 3 Bottom:</a:t>
            </a:r>
          </a:p>
        </p:txBody>
      </p:sp>
      <p:sp>
        <p:nvSpPr>
          <p:cNvPr id="3" name="Slide Number Placeholder 5">
            <a:extLst>
              <a:ext uri="{FF2B5EF4-FFF2-40B4-BE49-F238E27FC236}">
                <a16:creationId xmlns:a16="http://schemas.microsoft.com/office/drawing/2014/main" id="{F5B9EDE9-FE21-7C70-B68C-79942170B4D0}"/>
              </a:ext>
            </a:extLst>
          </p:cNvPr>
          <p:cNvSpPr>
            <a:spLocks noGrp="1"/>
          </p:cNvSpPr>
          <p:nvPr>
            <p:ph type="sldNum" sz="quarter" idx="12"/>
          </p:nvPr>
        </p:nvSpPr>
        <p:spPr>
          <a:xfrm>
            <a:off x="8610600" y="6356350"/>
            <a:ext cx="2743200" cy="365125"/>
          </a:xfrm>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10296968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8BE1F5-5F5D-1630-9147-776415FF6EB0}"/>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7" name="Rectangle 6">
            <a:extLst>
              <a:ext uri="{FF2B5EF4-FFF2-40B4-BE49-F238E27FC236}">
                <a16:creationId xmlns:a16="http://schemas.microsoft.com/office/drawing/2014/main" id="{D48AA72E-5D97-441C-9A1C-BAA6EFBCA516}"/>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Operating Conditions for Distillation Columns</a:t>
            </a:r>
          </a:p>
        </p:txBody>
      </p:sp>
      <p:graphicFrame>
        <p:nvGraphicFramePr>
          <p:cNvPr id="4" name="Table 3">
            <a:extLst>
              <a:ext uri="{FF2B5EF4-FFF2-40B4-BE49-F238E27FC236}">
                <a16:creationId xmlns:a16="http://schemas.microsoft.com/office/drawing/2014/main" id="{0071D9EF-6CE7-38E9-3B45-4F25D1CF442E}"/>
              </a:ext>
            </a:extLst>
          </p:cNvPr>
          <p:cNvGraphicFramePr>
            <a:graphicFrameLocks noGrp="1"/>
          </p:cNvGraphicFramePr>
          <p:nvPr>
            <p:extLst>
              <p:ext uri="{D42A27DB-BD31-4B8C-83A1-F6EECF244321}">
                <p14:modId xmlns:p14="http://schemas.microsoft.com/office/powerpoint/2010/main" val="2588248914"/>
              </p:ext>
            </p:extLst>
          </p:nvPr>
        </p:nvGraphicFramePr>
        <p:xfrm>
          <a:off x="5292433" y="4104055"/>
          <a:ext cx="6068135" cy="1676400"/>
        </p:xfrm>
        <a:graphic>
          <a:graphicData uri="http://schemas.openxmlformats.org/drawingml/2006/table">
            <a:tbl>
              <a:tblPr bandRow="1">
                <a:tableStyleId>{5C22544A-7EE6-4342-B048-85BDC9FD1C3A}</a:tableStyleId>
              </a:tblPr>
              <a:tblGrid>
                <a:gridCol w="1213627">
                  <a:extLst>
                    <a:ext uri="{9D8B030D-6E8A-4147-A177-3AD203B41FA5}">
                      <a16:colId xmlns:a16="http://schemas.microsoft.com/office/drawing/2014/main" val="1422432030"/>
                    </a:ext>
                  </a:extLst>
                </a:gridCol>
                <a:gridCol w="1213627">
                  <a:extLst>
                    <a:ext uri="{9D8B030D-6E8A-4147-A177-3AD203B41FA5}">
                      <a16:colId xmlns:a16="http://schemas.microsoft.com/office/drawing/2014/main" val="628478495"/>
                    </a:ext>
                  </a:extLst>
                </a:gridCol>
                <a:gridCol w="1213627">
                  <a:extLst>
                    <a:ext uri="{9D8B030D-6E8A-4147-A177-3AD203B41FA5}">
                      <a16:colId xmlns:a16="http://schemas.microsoft.com/office/drawing/2014/main" val="2347599792"/>
                    </a:ext>
                  </a:extLst>
                </a:gridCol>
                <a:gridCol w="1213627">
                  <a:extLst>
                    <a:ext uri="{9D8B030D-6E8A-4147-A177-3AD203B41FA5}">
                      <a16:colId xmlns:a16="http://schemas.microsoft.com/office/drawing/2014/main" val="3731019087"/>
                    </a:ext>
                  </a:extLst>
                </a:gridCol>
                <a:gridCol w="1213627">
                  <a:extLst>
                    <a:ext uri="{9D8B030D-6E8A-4147-A177-3AD203B41FA5}">
                      <a16:colId xmlns:a16="http://schemas.microsoft.com/office/drawing/2014/main" val="4039008802"/>
                    </a:ext>
                  </a:extLst>
                </a:gridCol>
              </a:tblGrid>
              <a:tr h="304800">
                <a:tc>
                  <a:txBody>
                    <a:bodyPr/>
                    <a:lstStyle/>
                    <a:p>
                      <a:pPr algn="ctr" fontAlgn="base">
                        <a:lnSpc>
                          <a:spcPts val="1425"/>
                        </a:lnSpc>
                        <a:buNone/>
                      </a:pPr>
                      <a:r>
                        <a:rPr lang="en-US" sz="1200" b="1">
                          <a:solidFill>
                            <a:srgbClr val="FFFFFF"/>
                          </a:solidFill>
                          <a:effectLst/>
                          <a:latin typeface="Times New Roman"/>
                          <a:cs typeface="Times New Roman"/>
                        </a:rPr>
                        <a:t>Column</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200" b="1" err="1">
                          <a:solidFill>
                            <a:srgbClr val="FFFFFF"/>
                          </a:solidFill>
                          <a:effectLst/>
                          <a:latin typeface="Times New Roman"/>
                          <a:cs typeface="Times New Roman"/>
                        </a:rPr>
                        <a:t>Condensor</a:t>
                      </a:r>
                      <a:r>
                        <a:rPr lang="en-US" sz="1200" b="1">
                          <a:solidFill>
                            <a:srgbClr val="FFFFFF"/>
                          </a:solidFill>
                          <a:effectLst/>
                          <a:latin typeface="Times New Roman"/>
                          <a:cs typeface="Times New Roman"/>
                        </a:rPr>
                        <a:t> Pressure </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Condensor Temperature </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ct val="100000"/>
                        </a:lnSpc>
                        <a:spcBef>
                          <a:spcPts val="0"/>
                        </a:spcBef>
                        <a:spcAft>
                          <a:spcPts val="0"/>
                        </a:spcAft>
                        <a:buNone/>
                      </a:pPr>
                      <a:r>
                        <a:rPr lang="en-US" sz="1200" b="1" i="0" u="none" strike="noStrike" noProof="0">
                          <a:solidFill>
                            <a:srgbClr val="FFFFFF"/>
                          </a:solidFill>
                          <a:effectLst/>
                          <a:latin typeface="Times New Roman"/>
                          <a:cs typeface="Times New Roman"/>
                        </a:rPr>
                        <a:t>Reboiler</a:t>
                      </a:r>
                      <a:endParaRPr lang="en-US" sz="1200" b="0" i="0" u="none" strike="noStrike" noProof="0">
                        <a:solidFill>
                          <a:srgbClr val="000000"/>
                        </a:solidFill>
                        <a:effectLst/>
                        <a:latin typeface="Times New Roman"/>
                        <a:cs typeface="Times New Roman"/>
                      </a:endParaRPr>
                    </a:p>
                    <a:p>
                      <a:pPr lvl="0" algn="ctr">
                        <a:lnSpc>
                          <a:spcPct val="100000"/>
                        </a:lnSpc>
                        <a:spcBef>
                          <a:spcPts val="0"/>
                        </a:spcBef>
                        <a:spcAft>
                          <a:spcPts val="0"/>
                        </a:spcAft>
                        <a:buNone/>
                      </a:pPr>
                      <a:r>
                        <a:rPr lang="en-US" sz="1200" b="1" i="0" u="none" strike="noStrike" noProof="0">
                          <a:solidFill>
                            <a:srgbClr val="FFFFFF"/>
                          </a:solidFill>
                          <a:effectLst/>
                          <a:latin typeface="Times New Roman"/>
                          <a:cs typeface="Times New Roman"/>
                        </a:rPr>
                        <a:t>Pressure</a:t>
                      </a:r>
                      <a:endParaRPr lang="en-US" sz="1200" b="0" i="0" u="none" strike="noStrike" noProof="0">
                        <a:solidFill>
                          <a:srgbClr val="000000"/>
                        </a:solidFill>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ct val="100000"/>
                        </a:lnSpc>
                        <a:spcBef>
                          <a:spcPts val="0"/>
                        </a:spcBef>
                        <a:spcAft>
                          <a:spcPts val="0"/>
                        </a:spcAft>
                        <a:buNone/>
                      </a:pPr>
                      <a:r>
                        <a:rPr lang="en-US" sz="1200" b="1" i="0" u="none" strike="noStrike" noProof="0">
                          <a:solidFill>
                            <a:srgbClr val="FFFFFF"/>
                          </a:solidFill>
                          <a:effectLst/>
                          <a:latin typeface="Times New Roman"/>
                          <a:cs typeface="Times New Roman"/>
                        </a:rPr>
                        <a:t>Reboiler Temperature</a:t>
                      </a:r>
                      <a:endParaRPr lang="en-US" sz="1200" b="0" i="0" u="none" strike="noStrike" noProof="0">
                        <a:solidFill>
                          <a:srgbClr val="000000"/>
                        </a:solidFill>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304800">
                <a:tc>
                  <a:txBody>
                    <a:bodyPr/>
                    <a:lstStyle/>
                    <a:p>
                      <a:pPr algn="ctr" fontAlgn="base">
                        <a:lnSpc>
                          <a:spcPts val="1425"/>
                        </a:lnSpc>
                        <a:buNone/>
                      </a:pPr>
                      <a:r>
                        <a:rPr lang="en-US" sz="1200">
                          <a:effectLst/>
                          <a:latin typeface="Times New Roman"/>
                          <a:cs typeface="Times New Roman"/>
                        </a:rPr>
                        <a:t>C1</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200">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66.6  °C</a:t>
                      </a:r>
                      <a:endParaRPr lang="en-US">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1.2 bar</a:t>
                      </a:r>
                      <a:endParaRPr lang="en-US" sz="1200" b="0" i="0" u="none" strike="noStrike" noProof="0">
                        <a:solidFill>
                          <a:srgbClr val="000000"/>
                        </a:solidFill>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198.1  °C</a:t>
                      </a: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extLst>
                  <a:ext uri="{0D108BD9-81ED-4DB2-BD59-A6C34878D82A}">
                    <a16:rowId xmlns:a16="http://schemas.microsoft.com/office/drawing/2014/main" val="172329172"/>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C2</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64.2  °C</a:t>
                      </a:r>
                      <a:endParaRPr lang="en-US">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 bar</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104.4  °C</a:t>
                      </a:r>
                      <a:endParaRPr lang="en-IN"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extLst>
                  <a:ext uri="{0D108BD9-81ED-4DB2-BD59-A6C34878D82A}">
                    <a16:rowId xmlns:a16="http://schemas.microsoft.com/office/drawing/2014/main" val="2913045058"/>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C3 </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kern="1200" noProof="0">
                          <a:solidFill>
                            <a:srgbClr val="000000"/>
                          </a:solidFill>
                          <a:effectLst/>
                          <a:latin typeface="Times New Roman"/>
                          <a:ea typeface="+mn-ea"/>
                          <a:cs typeface="Times New Roman"/>
                        </a:rPr>
                        <a:t>190.8  °C</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 bar</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247.1  °C</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extLst>
                  <a:ext uri="{0D108BD9-81ED-4DB2-BD59-A6C34878D82A}">
                    <a16:rowId xmlns:a16="http://schemas.microsoft.com/office/drawing/2014/main" val="984635660"/>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C4 </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200.11  °C</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 bar</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331.45  °C</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980677396"/>
                  </a:ext>
                </a:extLst>
              </a:tr>
            </a:tbl>
          </a:graphicData>
        </a:graphic>
      </p:graphicFrame>
      <p:pic>
        <p:nvPicPr>
          <p:cNvPr id="14" name="Picture 13">
            <a:extLst>
              <a:ext uri="{FF2B5EF4-FFF2-40B4-BE49-F238E27FC236}">
                <a16:creationId xmlns:a16="http://schemas.microsoft.com/office/drawing/2014/main" id="{08A5AA20-2233-74FD-EC2A-A3A7237210CC}"/>
              </a:ext>
            </a:extLst>
          </p:cNvPr>
          <p:cNvPicPr>
            <a:picLocks noChangeAspect="1"/>
          </p:cNvPicPr>
          <p:nvPr/>
        </p:nvPicPr>
        <p:blipFill>
          <a:blip r:embed="rId2"/>
          <a:stretch>
            <a:fillRect/>
          </a:stretch>
        </p:blipFill>
        <p:spPr>
          <a:xfrm>
            <a:off x="374233" y="638175"/>
            <a:ext cx="7955952" cy="5882405"/>
          </a:xfrm>
          <a:prstGeom prst="rect">
            <a:avLst/>
          </a:prstGeom>
        </p:spPr>
      </p:pic>
    </p:spTree>
    <p:extLst>
      <p:ext uri="{BB962C8B-B14F-4D97-AF65-F5344CB8AC3E}">
        <p14:creationId xmlns:p14="http://schemas.microsoft.com/office/powerpoint/2010/main" val="1604821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B4B1-30CA-5917-1C37-23DCB66B33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512FEC-1C2C-AA5E-EB03-9B1F93EA1FB5}"/>
              </a:ext>
            </a:extLst>
          </p:cNvPr>
          <p:cNvSpPr txBox="1"/>
          <p:nvPr/>
        </p:nvSpPr>
        <p:spPr>
          <a:xfrm>
            <a:off x="600074" y="1032985"/>
            <a:ext cx="467061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Column 1</a:t>
            </a:r>
          </a:p>
        </p:txBody>
      </p:sp>
      <p:sp>
        <p:nvSpPr>
          <p:cNvPr id="6" name="Slide Number Placeholder 5">
            <a:extLst>
              <a:ext uri="{FF2B5EF4-FFF2-40B4-BE49-F238E27FC236}">
                <a16:creationId xmlns:a16="http://schemas.microsoft.com/office/drawing/2014/main" id="{4FD900DE-8C5D-C138-D48C-37757AAA32FF}"/>
              </a:ext>
            </a:extLst>
          </p:cNvPr>
          <p:cNvSpPr>
            <a:spLocks noGrp="1"/>
          </p:cNvSpPr>
          <p:nvPr>
            <p:ph type="sldNum" sz="quarter" idx="12"/>
          </p:nvPr>
        </p:nvSpPr>
        <p:spPr/>
        <p:txBody>
          <a:bodyPr/>
          <a:lstStyle/>
          <a:p>
            <a:fld id="{330EA680-D336-4FF7-8B7A-9848BB0A1C32}" type="slidenum">
              <a:rPr lang="en-US" smtClean="0"/>
              <a:t>11</a:t>
            </a:fld>
            <a:endParaRPr lang="en-US"/>
          </a:p>
        </p:txBody>
      </p:sp>
      <p:graphicFrame>
        <p:nvGraphicFramePr>
          <p:cNvPr id="29" name="Table 28">
            <a:extLst>
              <a:ext uri="{FF2B5EF4-FFF2-40B4-BE49-F238E27FC236}">
                <a16:creationId xmlns:a16="http://schemas.microsoft.com/office/drawing/2014/main" id="{DAA850E6-560C-5253-8D0B-15D7C2CBEB1C}"/>
              </a:ext>
            </a:extLst>
          </p:cNvPr>
          <p:cNvGraphicFramePr>
            <a:graphicFrameLocks noGrp="1"/>
          </p:cNvGraphicFramePr>
          <p:nvPr>
            <p:extLst>
              <p:ext uri="{D42A27DB-BD31-4B8C-83A1-F6EECF244321}">
                <p14:modId xmlns:p14="http://schemas.microsoft.com/office/powerpoint/2010/main" val="518340810"/>
              </p:ext>
            </p:extLst>
          </p:nvPr>
        </p:nvGraphicFramePr>
        <p:xfrm>
          <a:off x="6302175" y="2400780"/>
          <a:ext cx="4851204" cy="1028220"/>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Design Specification</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Component</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Mole Recovery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a:cs typeface="Times New Roman"/>
                        </a:rPr>
                        <a:t>Water (D1)</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0.99</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bl>
          </a:graphicData>
        </a:graphic>
      </p:graphicFrame>
      <p:graphicFrame>
        <p:nvGraphicFramePr>
          <p:cNvPr id="33" name="Table 32">
            <a:extLst>
              <a:ext uri="{FF2B5EF4-FFF2-40B4-BE49-F238E27FC236}">
                <a16:creationId xmlns:a16="http://schemas.microsoft.com/office/drawing/2014/main" id="{C04077C1-361E-2BC6-DCBF-097AF22CCAF7}"/>
              </a:ext>
            </a:extLst>
          </p:cNvPr>
          <p:cNvGraphicFramePr>
            <a:graphicFrameLocks noGrp="1"/>
          </p:cNvGraphicFramePr>
          <p:nvPr>
            <p:extLst>
              <p:ext uri="{D42A27DB-BD31-4B8C-83A1-F6EECF244321}">
                <p14:modId xmlns:p14="http://schemas.microsoft.com/office/powerpoint/2010/main" val="1342581581"/>
              </p:ext>
            </p:extLst>
          </p:nvPr>
        </p:nvGraphicFramePr>
        <p:xfrm>
          <a:off x="6302175" y="4191480"/>
          <a:ext cx="4851204" cy="1028220"/>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Vary</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Limit (kW)</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 (kW)</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Reboiler Duty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0.01-10</a:t>
                      </a:r>
                      <a:r>
                        <a:rPr lang="en-US" sz="1700" baseline="30000">
                          <a:effectLst/>
                          <a:latin typeface="Times New Roman" panose="02020603050405020304" pitchFamily="18" charset="0"/>
                          <a:cs typeface="Times New Roman" panose="02020603050405020304" pitchFamily="18" charset="0"/>
                        </a:rPr>
                        <a:t>7</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22531.659</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bl>
          </a:graphicData>
        </a:graphic>
      </p:graphicFrame>
      <p:sp>
        <p:nvSpPr>
          <p:cNvPr id="9" name="Rectangle 8">
            <a:extLst>
              <a:ext uri="{FF2B5EF4-FFF2-40B4-BE49-F238E27FC236}">
                <a16:creationId xmlns:a16="http://schemas.microsoft.com/office/drawing/2014/main" id="{DBC3BE9B-4268-4998-9B27-F8DD3AAFF330}"/>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Design Specifications</a:t>
            </a:r>
          </a:p>
        </p:txBody>
      </p:sp>
      <p:grpSp>
        <p:nvGrpSpPr>
          <p:cNvPr id="4" name="Group 3">
            <a:extLst>
              <a:ext uri="{FF2B5EF4-FFF2-40B4-BE49-F238E27FC236}">
                <a16:creationId xmlns:a16="http://schemas.microsoft.com/office/drawing/2014/main" id="{6EE7B378-1EE7-4380-A422-D12DC7778D4F}"/>
              </a:ext>
            </a:extLst>
          </p:cNvPr>
          <p:cNvGrpSpPr/>
          <p:nvPr/>
        </p:nvGrpSpPr>
        <p:grpSpPr>
          <a:xfrm>
            <a:off x="838200" y="1476958"/>
            <a:ext cx="4885946" cy="4920667"/>
            <a:chOff x="832430" y="1307583"/>
            <a:chExt cx="4885946" cy="4920667"/>
          </a:xfrm>
        </p:grpSpPr>
        <p:pic>
          <p:nvPicPr>
            <p:cNvPr id="3" name="Picture 2">
              <a:extLst>
                <a:ext uri="{FF2B5EF4-FFF2-40B4-BE49-F238E27FC236}">
                  <a16:creationId xmlns:a16="http://schemas.microsoft.com/office/drawing/2014/main" id="{66A41076-077F-8E74-05DA-ED4E6038A7F7}"/>
                </a:ext>
              </a:extLst>
            </p:cNvPr>
            <p:cNvPicPr>
              <a:picLocks noChangeAspect="1"/>
            </p:cNvPicPr>
            <p:nvPr/>
          </p:nvPicPr>
          <p:blipFill>
            <a:blip r:embed="rId3"/>
            <a:stretch>
              <a:fillRect/>
            </a:stretch>
          </p:blipFill>
          <p:spPr>
            <a:xfrm>
              <a:off x="832430" y="1559074"/>
              <a:ext cx="3238104" cy="4669176"/>
            </a:xfrm>
            <a:prstGeom prst="rect">
              <a:avLst/>
            </a:prstGeom>
          </p:spPr>
        </p:pic>
        <p:sp>
          <p:nvSpPr>
            <p:cNvPr id="10" name="TextBox 9">
              <a:extLst>
                <a:ext uri="{FF2B5EF4-FFF2-40B4-BE49-F238E27FC236}">
                  <a16:creationId xmlns:a16="http://schemas.microsoft.com/office/drawing/2014/main" id="{44F7E839-11D4-4DD5-85FF-CE60C8CA61AD}"/>
                </a:ext>
              </a:extLst>
            </p:cNvPr>
            <p:cNvSpPr txBox="1"/>
            <p:nvPr/>
          </p:nvSpPr>
          <p:spPr>
            <a:xfrm>
              <a:off x="3694305" y="1307583"/>
              <a:ext cx="1106295" cy="584775"/>
            </a:xfrm>
            <a:prstGeom prst="rect">
              <a:avLst/>
            </a:prstGeom>
            <a:noFill/>
          </p:spPr>
          <p:txBody>
            <a:bodyPr wrap="square">
              <a:spAutoFit/>
            </a:bodyPr>
            <a:lstStyle/>
            <a:p>
              <a:r>
                <a:rPr lang="en-US" sz="1600">
                  <a:solidFill>
                    <a:srgbClr val="FF0000"/>
                  </a:solidFill>
                  <a:latin typeface="Times New Roman" panose="02020603050405020304" pitchFamily="18" charset="0"/>
                  <a:cs typeface="Times New Roman" panose="02020603050405020304" pitchFamily="18" charset="0"/>
                </a:rPr>
                <a:t>Methanol + Water</a:t>
              </a:r>
            </a:p>
          </p:txBody>
        </p:sp>
        <p:sp>
          <p:nvSpPr>
            <p:cNvPr id="11" name="TextBox 10">
              <a:extLst>
                <a:ext uri="{FF2B5EF4-FFF2-40B4-BE49-F238E27FC236}">
                  <a16:creationId xmlns:a16="http://schemas.microsoft.com/office/drawing/2014/main" id="{0CC728B5-710F-438E-BFC2-95B0D41A11D9}"/>
                </a:ext>
              </a:extLst>
            </p:cNvPr>
            <p:cNvSpPr txBox="1"/>
            <p:nvPr/>
          </p:nvSpPr>
          <p:spPr>
            <a:xfrm>
              <a:off x="4070534" y="4467929"/>
              <a:ext cx="1647842" cy="830997"/>
            </a:xfrm>
            <a:prstGeom prst="rect">
              <a:avLst/>
            </a:prstGeom>
            <a:noFill/>
          </p:spPr>
          <p:txBody>
            <a:bodyPr wrap="square">
              <a:spAutoFit/>
            </a:bodyPr>
            <a:lstStyle/>
            <a:p>
              <a:r>
                <a:rPr lang="en-US" sz="1600">
                  <a:solidFill>
                    <a:srgbClr val="FF0000"/>
                  </a:solidFill>
                  <a:latin typeface="Times New Roman" panose="02020603050405020304" pitchFamily="18" charset="0"/>
                  <a:cs typeface="Times New Roman" panose="02020603050405020304" pitchFamily="18" charset="0"/>
                </a:rPr>
                <a:t>Methyl Benzoate + Benzoic Acid + Phthalic Acid</a:t>
              </a:r>
            </a:p>
          </p:txBody>
        </p:sp>
      </p:grpSp>
    </p:spTree>
    <p:extLst>
      <p:ext uri="{BB962C8B-B14F-4D97-AF65-F5344CB8AC3E}">
        <p14:creationId xmlns:p14="http://schemas.microsoft.com/office/powerpoint/2010/main" val="2231160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B4B1-30CA-5917-1C37-23DCB66B33F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FD900DE-8C5D-C138-D48C-37757AAA32FF}"/>
              </a:ext>
            </a:extLst>
          </p:cNvPr>
          <p:cNvSpPr>
            <a:spLocks noGrp="1"/>
          </p:cNvSpPr>
          <p:nvPr>
            <p:ph type="sldNum" sz="quarter" idx="12"/>
          </p:nvPr>
        </p:nvSpPr>
        <p:spPr/>
        <p:txBody>
          <a:bodyPr/>
          <a:lstStyle/>
          <a:p>
            <a:fld id="{330EA680-D336-4FF7-8B7A-9848BB0A1C32}" type="slidenum">
              <a:rPr lang="en-US" smtClean="0"/>
              <a:t>12</a:t>
            </a:fld>
            <a:endParaRPr lang="en-US"/>
          </a:p>
        </p:txBody>
      </p:sp>
      <p:graphicFrame>
        <p:nvGraphicFramePr>
          <p:cNvPr id="29" name="Table 28">
            <a:extLst>
              <a:ext uri="{FF2B5EF4-FFF2-40B4-BE49-F238E27FC236}">
                <a16:creationId xmlns:a16="http://schemas.microsoft.com/office/drawing/2014/main" id="{DAA850E6-560C-5253-8D0B-15D7C2CBEB1C}"/>
              </a:ext>
            </a:extLst>
          </p:cNvPr>
          <p:cNvGraphicFramePr>
            <a:graphicFrameLocks noGrp="1"/>
          </p:cNvGraphicFramePr>
          <p:nvPr>
            <p:extLst>
              <p:ext uri="{D42A27DB-BD31-4B8C-83A1-F6EECF244321}">
                <p14:modId xmlns:p14="http://schemas.microsoft.com/office/powerpoint/2010/main" val="886011850"/>
              </p:ext>
            </p:extLst>
          </p:nvPr>
        </p:nvGraphicFramePr>
        <p:xfrm>
          <a:off x="6302175" y="2410305"/>
          <a:ext cx="4851204" cy="1294061"/>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471487">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Design Specification</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Component</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Mole Recovery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a:cs typeface="Times New Roman"/>
                        </a:rPr>
                        <a:t>Methanol (D2)</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0.9998</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Mole Recovery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a:cs typeface="Times New Roman"/>
                        </a:rPr>
                        <a:t>Water (B2)</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0.999</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446109603"/>
                  </a:ext>
                </a:extLst>
              </a:tr>
            </a:tbl>
          </a:graphicData>
        </a:graphic>
      </p:graphicFrame>
      <p:graphicFrame>
        <p:nvGraphicFramePr>
          <p:cNvPr id="33" name="Table 32">
            <a:extLst>
              <a:ext uri="{FF2B5EF4-FFF2-40B4-BE49-F238E27FC236}">
                <a16:creationId xmlns:a16="http://schemas.microsoft.com/office/drawing/2014/main" id="{C04077C1-361E-2BC6-DCBF-097AF22CCAF7}"/>
              </a:ext>
            </a:extLst>
          </p:cNvPr>
          <p:cNvGraphicFramePr>
            <a:graphicFrameLocks noGrp="1"/>
          </p:cNvGraphicFramePr>
          <p:nvPr>
            <p:extLst>
              <p:ext uri="{D42A27DB-BD31-4B8C-83A1-F6EECF244321}">
                <p14:modId xmlns:p14="http://schemas.microsoft.com/office/powerpoint/2010/main" val="3161143701"/>
              </p:ext>
            </p:extLst>
          </p:nvPr>
        </p:nvGraphicFramePr>
        <p:xfrm>
          <a:off x="6302175" y="4191480"/>
          <a:ext cx="4851204" cy="1439507"/>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Vary</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Limit </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Reflux Ratio</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0.01-100</a:t>
                      </a:r>
                      <a:endParaRPr lang="en-US" sz="1700" baseline="300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1.726</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Reboiler Duty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0.01-10</a:t>
                      </a:r>
                      <a:r>
                        <a:rPr lang="en-US" sz="1700" baseline="30000">
                          <a:effectLst/>
                          <a:latin typeface="Times New Roman" panose="02020603050405020304" pitchFamily="18" charset="0"/>
                          <a:cs typeface="Times New Roman" panose="02020603050405020304" pitchFamily="18" charset="0"/>
                        </a:rPr>
                        <a:t>6</a:t>
                      </a:r>
                      <a:r>
                        <a:rPr lang="en-US" sz="1700" baseline="0">
                          <a:effectLst/>
                          <a:latin typeface="Times New Roman" panose="02020603050405020304" pitchFamily="18" charset="0"/>
                          <a:cs typeface="Times New Roman" panose="02020603050405020304" pitchFamily="18" charset="0"/>
                        </a:rPr>
                        <a:t> (kW)</a:t>
                      </a:r>
                      <a:endParaRPr lang="en-US" sz="1700" baseline="300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38339.74 (kW)</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110348903"/>
                  </a:ext>
                </a:extLst>
              </a:tr>
            </a:tbl>
          </a:graphicData>
        </a:graphic>
      </p:graphicFrame>
      <p:sp>
        <p:nvSpPr>
          <p:cNvPr id="9" name="Rectangle 8">
            <a:extLst>
              <a:ext uri="{FF2B5EF4-FFF2-40B4-BE49-F238E27FC236}">
                <a16:creationId xmlns:a16="http://schemas.microsoft.com/office/drawing/2014/main" id="{BEECBA56-17F8-4357-AED8-9B5DED0BD8D5}"/>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Design Specifications</a:t>
            </a:r>
          </a:p>
        </p:txBody>
      </p:sp>
      <p:grpSp>
        <p:nvGrpSpPr>
          <p:cNvPr id="7" name="Group 6">
            <a:extLst>
              <a:ext uri="{FF2B5EF4-FFF2-40B4-BE49-F238E27FC236}">
                <a16:creationId xmlns:a16="http://schemas.microsoft.com/office/drawing/2014/main" id="{585D367A-BD03-42AF-A502-66F00F33146E}"/>
              </a:ext>
            </a:extLst>
          </p:cNvPr>
          <p:cNvGrpSpPr/>
          <p:nvPr/>
        </p:nvGrpSpPr>
        <p:grpSpPr>
          <a:xfrm>
            <a:off x="771524" y="1684110"/>
            <a:ext cx="4708709" cy="4563766"/>
            <a:chOff x="771524" y="1684110"/>
            <a:chExt cx="4708709" cy="4563766"/>
          </a:xfrm>
        </p:grpSpPr>
        <p:pic>
          <p:nvPicPr>
            <p:cNvPr id="3" name="Picture 2">
              <a:extLst>
                <a:ext uri="{FF2B5EF4-FFF2-40B4-BE49-F238E27FC236}">
                  <a16:creationId xmlns:a16="http://schemas.microsoft.com/office/drawing/2014/main" id="{DD11C8BC-3E5D-82F4-A0CB-6FF578290051}"/>
                </a:ext>
              </a:extLst>
            </p:cNvPr>
            <p:cNvPicPr>
              <a:picLocks noChangeAspect="1"/>
            </p:cNvPicPr>
            <p:nvPr/>
          </p:nvPicPr>
          <p:blipFill>
            <a:blip r:embed="rId2"/>
            <a:stretch>
              <a:fillRect/>
            </a:stretch>
          </p:blipFill>
          <p:spPr>
            <a:xfrm>
              <a:off x="771524" y="1684110"/>
              <a:ext cx="4670610" cy="4563766"/>
            </a:xfrm>
            <a:prstGeom prst="rect">
              <a:avLst/>
            </a:prstGeom>
          </p:spPr>
        </p:pic>
        <p:sp>
          <p:nvSpPr>
            <p:cNvPr id="10" name="TextBox 9">
              <a:extLst>
                <a:ext uri="{FF2B5EF4-FFF2-40B4-BE49-F238E27FC236}">
                  <a16:creationId xmlns:a16="http://schemas.microsoft.com/office/drawing/2014/main" id="{C2BF5347-3AD2-4736-BF58-1E6777BB67C7}"/>
                </a:ext>
              </a:extLst>
            </p:cNvPr>
            <p:cNvSpPr txBox="1"/>
            <p:nvPr/>
          </p:nvSpPr>
          <p:spPr>
            <a:xfrm>
              <a:off x="4478714" y="2410305"/>
              <a:ext cx="1001519" cy="338554"/>
            </a:xfrm>
            <a:prstGeom prst="rect">
              <a:avLst/>
            </a:prstGeom>
            <a:noFill/>
          </p:spPr>
          <p:txBody>
            <a:bodyPr wrap="square">
              <a:spAutoFit/>
            </a:bodyPr>
            <a:lstStyle/>
            <a:p>
              <a:r>
                <a:rPr lang="en-US" sz="1600">
                  <a:solidFill>
                    <a:srgbClr val="FF0000"/>
                  </a:solidFill>
                  <a:latin typeface="Times New Roman" panose="02020603050405020304" pitchFamily="18" charset="0"/>
                  <a:cs typeface="Times New Roman" panose="02020603050405020304" pitchFamily="18" charset="0"/>
                </a:rPr>
                <a:t>Methanol</a:t>
              </a:r>
            </a:p>
          </p:txBody>
        </p:sp>
        <p:sp>
          <p:nvSpPr>
            <p:cNvPr id="12" name="TextBox 11">
              <a:extLst>
                <a:ext uri="{FF2B5EF4-FFF2-40B4-BE49-F238E27FC236}">
                  <a16:creationId xmlns:a16="http://schemas.microsoft.com/office/drawing/2014/main" id="{25E93F6B-6063-459D-AE1E-3673075338D2}"/>
                </a:ext>
              </a:extLst>
            </p:cNvPr>
            <p:cNvSpPr txBox="1"/>
            <p:nvPr/>
          </p:nvSpPr>
          <p:spPr>
            <a:xfrm>
              <a:off x="4278689" y="5036849"/>
              <a:ext cx="781050" cy="369332"/>
            </a:xfrm>
            <a:prstGeom prst="rect">
              <a:avLst/>
            </a:prstGeom>
            <a:noFill/>
          </p:spPr>
          <p:txBody>
            <a:bodyPr wrap="square">
              <a:spAutoFit/>
            </a:bodyPr>
            <a:lstStyle/>
            <a:p>
              <a:r>
                <a:rPr lang="en-US" sz="1800">
                  <a:solidFill>
                    <a:srgbClr val="FF0000"/>
                  </a:solidFill>
                  <a:latin typeface="Times New Roman" panose="02020603050405020304" pitchFamily="18" charset="0"/>
                  <a:cs typeface="Times New Roman" panose="02020603050405020304" pitchFamily="18" charset="0"/>
                </a:rPr>
                <a:t>Water</a:t>
              </a:r>
              <a:endParaRPr lang="en-US"/>
            </a:p>
          </p:txBody>
        </p:sp>
      </p:grpSp>
      <p:sp>
        <p:nvSpPr>
          <p:cNvPr id="14" name="TextBox 13">
            <a:extLst>
              <a:ext uri="{FF2B5EF4-FFF2-40B4-BE49-F238E27FC236}">
                <a16:creationId xmlns:a16="http://schemas.microsoft.com/office/drawing/2014/main" id="{D9C94075-3FA1-4ECB-972E-1DA08F84E5E5}"/>
              </a:ext>
            </a:extLst>
          </p:cNvPr>
          <p:cNvSpPr txBox="1"/>
          <p:nvPr/>
        </p:nvSpPr>
        <p:spPr>
          <a:xfrm>
            <a:off x="600074" y="1032985"/>
            <a:ext cx="467061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Column 2</a:t>
            </a:r>
          </a:p>
        </p:txBody>
      </p:sp>
    </p:spTree>
    <p:extLst>
      <p:ext uri="{BB962C8B-B14F-4D97-AF65-F5344CB8AC3E}">
        <p14:creationId xmlns:p14="http://schemas.microsoft.com/office/powerpoint/2010/main" val="23889487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B4B1-30CA-5917-1C37-23DCB66B33F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FD900DE-8C5D-C138-D48C-37757AAA32FF}"/>
              </a:ext>
            </a:extLst>
          </p:cNvPr>
          <p:cNvSpPr>
            <a:spLocks noGrp="1"/>
          </p:cNvSpPr>
          <p:nvPr>
            <p:ph type="sldNum" sz="quarter" idx="12"/>
          </p:nvPr>
        </p:nvSpPr>
        <p:spPr/>
        <p:txBody>
          <a:bodyPr/>
          <a:lstStyle/>
          <a:p>
            <a:fld id="{330EA680-D336-4FF7-8B7A-9848BB0A1C32}" type="slidenum">
              <a:rPr lang="en-US" smtClean="0"/>
              <a:t>13</a:t>
            </a:fld>
            <a:endParaRPr lang="en-US"/>
          </a:p>
        </p:txBody>
      </p:sp>
      <p:graphicFrame>
        <p:nvGraphicFramePr>
          <p:cNvPr id="2" name="Table 1">
            <a:extLst>
              <a:ext uri="{FF2B5EF4-FFF2-40B4-BE49-F238E27FC236}">
                <a16:creationId xmlns:a16="http://schemas.microsoft.com/office/drawing/2014/main" id="{E3C17829-93D7-9084-CA21-3EAF71494391}"/>
              </a:ext>
            </a:extLst>
          </p:cNvPr>
          <p:cNvGraphicFramePr>
            <a:graphicFrameLocks noGrp="1"/>
          </p:cNvGraphicFramePr>
          <p:nvPr>
            <p:extLst>
              <p:ext uri="{D42A27DB-BD31-4B8C-83A1-F6EECF244321}">
                <p14:modId xmlns:p14="http://schemas.microsoft.com/office/powerpoint/2010/main" val="1376333040"/>
              </p:ext>
            </p:extLst>
          </p:nvPr>
        </p:nvGraphicFramePr>
        <p:xfrm>
          <a:off x="6302175" y="2400780"/>
          <a:ext cx="4851204" cy="1028220"/>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Design Specification</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Component</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Mole Recovery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a:cs typeface="Times New Roman"/>
                        </a:rPr>
                        <a:t>MEB (D3)</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0.9975</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bl>
          </a:graphicData>
        </a:graphic>
      </p:graphicFrame>
      <p:graphicFrame>
        <p:nvGraphicFramePr>
          <p:cNvPr id="7" name="Table 6">
            <a:extLst>
              <a:ext uri="{FF2B5EF4-FFF2-40B4-BE49-F238E27FC236}">
                <a16:creationId xmlns:a16="http://schemas.microsoft.com/office/drawing/2014/main" id="{9B742A2F-4E80-3546-2096-658DBEC5E243}"/>
              </a:ext>
            </a:extLst>
          </p:cNvPr>
          <p:cNvGraphicFramePr>
            <a:graphicFrameLocks noGrp="1"/>
          </p:cNvGraphicFramePr>
          <p:nvPr>
            <p:extLst>
              <p:ext uri="{D42A27DB-BD31-4B8C-83A1-F6EECF244321}">
                <p14:modId xmlns:p14="http://schemas.microsoft.com/office/powerpoint/2010/main" val="2164521783"/>
              </p:ext>
            </p:extLst>
          </p:nvPr>
        </p:nvGraphicFramePr>
        <p:xfrm>
          <a:off x="6302175" y="4191480"/>
          <a:ext cx="4851204" cy="1028220"/>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Vary</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Limit</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Reflux Ratio</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0.0001-100</a:t>
                      </a:r>
                      <a:endParaRPr lang="en-US" sz="1700" baseline="300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0.30334847</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bl>
          </a:graphicData>
        </a:graphic>
      </p:graphicFrame>
      <p:sp>
        <p:nvSpPr>
          <p:cNvPr id="9" name="Rectangle 8">
            <a:extLst>
              <a:ext uri="{FF2B5EF4-FFF2-40B4-BE49-F238E27FC236}">
                <a16:creationId xmlns:a16="http://schemas.microsoft.com/office/drawing/2014/main" id="{4DD85182-A412-48B9-8672-5526B3A1C384}"/>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Design Specifications</a:t>
            </a:r>
          </a:p>
        </p:txBody>
      </p:sp>
      <p:grpSp>
        <p:nvGrpSpPr>
          <p:cNvPr id="8" name="Group 7">
            <a:extLst>
              <a:ext uri="{FF2B5EF4-FFF2-40B4-BE49-F238E27FC236}">
                <a16:creationId xmlns:a16="http://schemas.microsoft.com/office/drawing/2014/main" id="{7C229A59-6345-42DA-914E-99F870C5AEAB}"/>
              </a:ext>
            </a:extLst>
          </p:cNvPr>
          <p:cNvGrpSpPr/>
          <p:nvPr/>
        </p:nvGrpSpPr>
        <p:grpSpPr>
          <a:xfrm>
            <a:off x="838200" y="1728993"/>
            <a:ext cx="4867275" cy="5070288"/>
            <a:chOff x="838200" y="1728993"/>
            <a:chExt cx="4867275" cy="5070288"/>
          </a:xfrm>
        </p:grpSpPr>
        <p:pic>
          <p:nvPicPr>
            <p:cNvPr id="4" name="Picture 3">
              <a:extLst>
                <a:ext uri="{FF2B5EF4-FFF2-40B4-BE49-F238E27FC236}">
                  <a16:creationId xmlns:a16="http://schemas.microsoft.com/office/drawing/2014/main" id="{F505F95B-4F9F-32CF-1794-2C9A169A714B}"/>
                </a:ext>
              </a:extLst>
            </p:cNvPr>
            <p:cNvPicPr>
              <a:picLocks noChangeAspect="1"/>
            </p:cNvPicPr>
            <p:nvPr/>
          </p:nvPicPr>
          <p:blipFill>
            <a:blip r:embed="rId2"/>
            <a:stretch>
              <a:fillRect/>
            </a:stretch>
          </p:blipFill>
          <p:spPr>
            <a:xfrm>
              <a:off x="838200" y="1728993"/>
              <a:ext cx="4498334" cy="5070288"/>
            </a:xfrm>
            <a:prstGeom prst="rect">
              <a:avLst/>
            </a:prstGeom>
          </p:spPr>
        </p:pic>
        <p:sp>
          <p:nvSpPr>
            <p:cNvPr id="10" name="TextBox 9">
              <a:extLst>
                <a:ext uri="{FF2B5EF4-FFF2-40B4-BE49-F238E27FC236}">
                  <a16:creationId xmlns:a16="http://schemas.microsoft.com/office/drawing/2014/main" id="{2EB07DE6-F8F2-4883-8980-EBB84E88750A}"/>
                </a:ext>
              </a:extLst>
            </p:cNvPr>
            <p:cNvSpPr txBox="1"/>
            <p:nvPr/>
          </p:nvSpPr>
          <p:spPr>
            <a:xfrm>
              <a:off x="4533900" y="2153505"/>
              <a:ext cx="1171575" cy="646331"/>
            </a:xfrm>
            <a:prstGeom prst="rect">
              <a:avLst/>
            </a:prstGeom>
            <a:noFill/>
          </p:spPr>
          <p:txBody>
            <a:bodyPr wrap="square">
              <a:spAutoFit/>
            </a:bodyPr>
            <a:lstStyle/>
            <a:p>
              <a:r>
                <a:rPr lang="en-US" sz="1800">
                  <a:solidFill>
                    <a:srgbClr val="FF0000"/>
                  </a:solidFill>
                  <a:latin typeface="Times New Roman" panose="02020603050405020304" pitchFamily="18" charset="0"/>
                  <a:cs typeface="Times New Roman" panose="02020603050405020304" pitchFamily="18" charset="0"/>
                </a:rPr>
                <a:t>Methyl Benzoate</a:t>
              </a:r>
            </a:p>
          </p:txBody>
        </p:sp>
        <p:sp>
          <p:nvSpPr>
            <p:cNvPr id="14" name="TextBox 13">
              <a:extLst>
                <a:ext uri="{FF2B5EF4-FFF2-40B4-BE49-F238E27FC236}">
                  <a16:creationId xmlns:a16="http://schemas.microsoft.com/office/drawing/2014/main" id="{2F1CAAD2-C7C6-472C-A16F-B0739570B630}"/>
                </a:ext>
              </a:extLst>
            </p:cNvPr>
            <p:cNvSpPr txBox="1"/>
            <p:nvPr/>
          </p:nvSpPr>
          <p:spPr>
            <a:xfrm>
              <a:off x="1066800" y="5533522"/>
              <a:ext cx="1628775" cy="646331"/>
            </a:xfrm>
            <a:prstGeom prst="rect">
              <a:avLst/>
            </a:prstGeom>
            <a:noFill/>
          </p:spPr>
          <p:txBody>
            <a:bodyPr wrap="square">
              <a:spAutoFit/>
            </a:bodyPr>
            <a:lstStyle/>
            <a:p>
              <a:r>
                <a:rPr lang="en-US" sz="1800">
                  <a:solidFill>
                    <a:srgbClr val="FF0000"/>
                  </a:solidFill>
                  <a:latin typeface="Times New Roman" panose="02020603050405020304" pitchFamily="18" charset="0"/>
                  <a:cs typeface="Times New Roman" panose="02020603050405020304" pitchFamily="18" charset="0"/>
                </a:rPr>
                <a:t>Benzoic Acid + Phthalic Acid</a:t>
              </a:r>
            </a:p>
          </p:txBody>
        </p:sp>
      </p:grpSp>
      <p:sp>
        <p:nvSpPr>
          <p:cNvPr id="15" name="TextBox 14">
            <a:extLst>
              <a:ext uri="{FF2B5EF4-FFF2-40B4-BE49-F238E27FC236}">
                <a16:creationId xmlns:a16="http://schemas.microsoft.com/office/drawing/2014/main" id="{05527C70-31E9-460C-9F3F-1BD65C92D22B}"/>
              </a:ext>
            </a:extLst>
          </p:cNvPr>
          <p:cNvSpPr txBox="1"/>
          <p:nvPr/>
        </p:nvSpPr>
        <p:spPr>
          <a:xfrm>
            <a:off x="600074" y="1032985"/>
            <a:ext cx="467061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Column 3</a:t>
            </a:r>
          </a:p>
        </p:txBody>
      </p:sp>
    </p:spTree>
    <p:extLst>
      <p:ext uri="{BB962C8B-B14F-4D97-AF65-F5344CB8AC3E}">
        <p14:creationId xmlns:p14="http://schemas.microsoft.com/office/powerpoint/2010/main" val="1124341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3B4B1-30CA-5917-1C37-23DCB66B33F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FD900DE-8C5D-C138-D48C-37757AAA32FF}"/>
              </a:ext>
            </a:extLst>
          </p:cNvPr>
          <p:cNvSpPr>
            <a:spLocks noGrp="1"/>
          </p:cNvSpPr>
          <p:nvPr>
            <p:ph type="sldNum" sz="quarter" idx="12"/>
          </p:nvPr>
        </p:nvSpPr>
        <p:spPr/>
        <p:txBody>
          <a:bodyPr/>
          <a:lstStyle/>
          <a:p>
            <a:fld id="{330EA680-D336-4FF7-8B7A-9848BB0A1C32}" type="slidenum">
              <a:rPr lang="en-US" smtClean="0"/>
              <a:t>14</a:t>
            </a:fld>
            <a:endParaRPr lang="en-US"/>
          </a:p>
        </p:txBody>
      </p:sp>
      <p:graphicFrame>
        <p:nvGraphicFramePr>
          <p:cNvPr id="2" name="Table 1">
            <a:extLst>
              <a:ext uri="{FF2B5EF4-FFF2-40B4-BE49-F238E27FC236}">
                <a16:creationId xmlns:a16="http://schemas.microsoft.com/office/drawing/2014/main" id="{E3C17829-93D7-9084-CA21-3EAF71494391}"/>
              </a:ext>
            </a:extLst>
          </p:cNvPr>
          <p:cNvGraphicFramePr>
            <a:graphicFrameLocks noGrp="1"/>
          </p:cNvGraphicFramePr>
          <p:nvPr>
            <p:extLst>
              <p:ext uri="{D42A27DB-BD31-4B8C-83A1-F6EECF244321}">
                <p14:modId xmlns:p14="http://schemas.microsoft.com/office/powerpoint/2010/main" val="3716890812"/>
              </p:ext>
            </p:extLst>
          </p:nvPr>
        </p:nvGraphicFramePr>
        <p:xfrm>
          <a:off x="6302175" y="2400780"/>
          <a:ext cx="4851200" cy="1028220"/>
        </p:xfrm>
        <a:graphic>
          <a:graphicData uri="http://schemas.openxmlformats.org/drawingml/2006/table">
            <a:tbl>
              <a:tblPr bandRow="1">
                <a:tableStyleId>{5C22544A-7EE6-4342-B048-85BDC9FD1C3A}</a:tableStyleId>
              </a:tblPr>
              <a:tblGrid>
                <a:gridCol w="1617066">
                  <a:extLst>
                    <a:ext uri="{9D8B030D-6E8A-4147-A177-3AD203B41FA5}">
                      <a16:colId xmlns:a16="http://schemas.microsoft.com/office/drawing/2014/main" val="1422432030"/>
                    </a:ext>
                  </a:extLst>
                </a:gridCol>
                <a:gridCol w="1849120">
                  <a:extLst>
                    <a:ext uri="{9D8B030D-6E8A-4147-A177-3AD203B41FA5}">
                      <a16:colId xmlns:a16="http://schemas.microsoft.com/office/drawing/2014/main" val="628478495"/>
                    </a:ext>
                  </a:extLst>
                </a:gridCol>
                <a:gridCol w="1385014">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Design Specification</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Component</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Mole Recovery</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a:cs typeface="Times New Roman"/>
                        </a:rPr>
                        <a:t>Phthalic Acid (B4)</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0.999</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bl>
          </a:graphicData>
        </a:graphic>
      </p:graphicFrame>
      <p:graphicFrame>
        <p:nvGraphicFramePr>
          <p:cNvPr id="7" name="Table 6">
            <a:extLst>
              <a:ext uri="{FF2B5EF4-FFF2-40B4-BE49-F238E27FC236}">
                <a16:creationId xmlns:a16="http://schemas.microsoft.com/office/drawing/2014/main" id="{9B742A2F-4E80-3546-2096-658DBEC5E243}"/>
              </a:ext>
            </a:extLst>
          </p:cNvPr>
          <p:cNvGraphicFramePr>
            <a:graphicFrameLocks noGrp="1"/>
          </p:cNvGraphicFramePr>
          <p:nvPr>
            <p:extLst>
              <p:ext uri="{D42A27DB-BD31-4B8C-83A1-F6EECF244321}">
                <p14:modId xmlns:p14="http://schemas.microsoft.com/office/powerpoint/2010/main" val="3012876524"/>
              </p:ext>
            </p:extLst>
          </p:nvPr>
        </p:nvGraphicFramePr>
        <p:xfrm>
          <a:off x="6302175" y="4191480"/>
          <a:ext cx="4851204" cy="1028220"/>
        </p:xfrm>
        <a:graphic>
          <a:graphicData uri="http://schemas.openxmlformats.org/drawingml/2006/table">
            <a:tbl>
              <a:tblPr bandRow="1">
                <a:tableStyleId>{5C22544A-7EE6-4342-B048-85BDC9FD1C3A}</a:tableStyleId>
              </a:tblPr>
              <a:tblGrid>
                <a:gridCol w="1617068">
                  <a:extLst>
                    <a:ext uri="{9D8B030D-6E8A-4147-A177-3AD203B41FA5}">
                      <a16:colId xmlns:a16="http://schemas.microsoft.com/office/drawing/2014/main" val="1422432030"/>
                    </a:ext>
                  </a:extLst>
                </a:gridCol>
                <a:gridCol w="1617068">
                  <a:extLst>
                    <a:ext uri="{9D8B030D-6E8A-4147-A177-3AD203B41FA5}">
                      <a16:colId xmlns:a16="http://schemas.microsoft.com/office/drawing/2014/main" val="628478495"/>
                    </a:ext>
                  </a:extLst>
                </a:gridCol>
                <a:gridCol w="1617068">
                  <a:extLst>
                    <a:ext uri="{9D8B030D-6E8A-4147-A177-3AD203B41FA5}">
                      <a16:colId xmlns:a16="http://schemas.microsoft.com/office/drawing/2014/main" val="2347599792"/>
                    </a:ext>
                  </a:extLst>
                </a:gridCol>
              </a:tblGrid>
              <a:tr h="616933">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Vary</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Limit</a:t>
                      </a:r>
                      <a:endParaRPr lang="en-US" sz="17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700" b="1">
                          <a:solidFill>
                            <a:srgbClr val="FFFFFF"/>
                          </a:solidFill>
                          <a:effectLst/>
                          <a:latin typeface="Times New Roman" panose="02020603050405020304" pitchFamily="18" charset="0"/>
                          <a:cs typeface="Times New Roman" panose="02020603050405020304" pitchFamily="18" charset="0"/>
                        </a:rPr>
                        <a:t>Value</a:t>
                      </a:r>
                    </a:p>
                  </a:txBody>
                  <a:tcPr marL="109391" marR="109391" marT="54696" marB="54696"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411287">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Reflux Ratio</a:t>
                      </a: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700">
                          <a:effectLst/>
                          <a:latin typeface="Times New Roman" panose="02020603050405020304" pitchFamily="18" charset="0"/>
                          <a:cs typeface="Times New Roman" panose="02020603050405020304" pitchFamily="18" charset="0"/>
                        </a:rPr>
                        <a:t>0.001-100</a:t>
                      </a:r>
                      <a:endParaRPr lang="en-US" sz="1700" baseline="30000">
                        <a:effectLst/>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700" b="0" i="0" u="none" strike="noStrike" noProof="0">
                          <a:solidFill>
                            <a:srgbClr val="000000"/>
                          </a:solidFill>
                          <a:effectLst/>
                          <a:latin typeface="Times New Roman" panose="02020603050405020304" pitchFamily="18" charset="0"/>
                          <a:cs typeface="Times New Roman" panose="02020603050405020304" pitchFamily="18" charset="0"/>
                        </a:rPr>
                        <a:t>1.19131864</a:t>
                      </a:r>
                      <a:endParaRPr lang="en-US" sz="1700">
                        <a:latin typeface="Times New Roman" panose="02020603050405020304" pitchFamily="18" charset="0"/>
                        <a:cs typeface="Times New Roman" panose="02020603050405020304" pitchFamily="18" charset="0"/>
                      </a:endParaRPr>
                    </a:p>
                  </a:txBody>
                  <a:tcPr marL="109391" marR="109391" marT="54696" marB="54696"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2329172"/>
                  </a:ext>
                </a:extLst>
              </a:tr>
            </a:tbl>
          </a:graphicData>
        </a:graphic>
      </p:graphicFrame>
      <p:sp>
        <p:nvSpPr>
          <p:cNvPr id="9" name="Rectangle 8">
            <a:extLst>
              <a:ext uri="{FF2B5EF4-FFF2-40B4-BE49-F238E27FC236}">
                <a16:creationId xmlns:a16="http://schemas.microsoft.com/office/drawing/2014/main" id="{FC77E3A2-31DB-4EC4-9CE1-9A725F290628}"/>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Design Specifications</a:t>
            </a:r>
          </a:p>
        </p:txBody>
      </p:sp>
      <p:sp>
        <p:nvSpPr>
          <p:cNvPr id="10" name="TextBox 9">
            <a:extLst>
              <a:ext uri="{FF2B5EF4-FFF2-40B4-BE49-F238E27FC236}">
                <a16:creationId xmlns:a16="http://schemas.microsoft.com/office/drawing/2014/main" id="{2723EFBA-4FDA-4EE5-981B-3B98DD542543}"/>
              </a:ext>
            </a:extLst>
          </p:cNvPr>
          <p:cNvSpPr txBox="1"/>
          <p:nvPr/>
        </p:nvSpPr>
        <p:spPr>
          <a:xfrm>
            <a:off x="600074" y="1032985"/>
            <a:ext cx="467061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Column 4</a:t>
            </a:r>
          </a:p>
        </p:txBody>
      </p:sp>
      <p:grpSp>
        <p:nvGrpSpPr>
          <p:cNvPr id="3" name="Group 2">
            <a:extLst>
              <a:ext uri="{FF2B5EF4-FFF2-40B4-BE49-F238E27FC236}">
                <a16:creationId xmlns:a16="http://schemas.microsoft.com/office/drawing/2014/main" id="{0482AA0A-40A2-456E-919D-FE7826613FE6}"/>
              </a:ext>
            </a:extLst>
          </p:cNvPr>
          <p:cNvGrpSpPr/>
          <p:nvPr/>
        </p:nvGrpSpPr>
        <p:grpSpPr>
          <a:xfrm>
            <a:off x="188045" y="1494650"/>
            <a:ext cx="6114130" cy="4806386"/>
            <a:chOff x="188045" y="1494650"/>
            <a:chExt cx="6114130" cy="4806386"/>
          </a:xfrm>
        </p:grpSpPr>
        <p:pic>
          <p:nvPicPr>
            <p:cNvPr id="4" name="Picture 3">
              <a:extLst>
                <a:ext uri="{FF2B5EF4-FFF2-40B4-BE49-F238E27FC236}">
                  <a16:creationId xmlns:a16="http://schemas.microsoft.com/office/drawing/2014/main" id="{41858757-FC52-CAE6-A928-E98BEC30BE83}"/>
                </a:ext>
              </a:extLst>
            </p:cNvPr>
            <p:cNvPicPr>
              <a:picLocks noChangeAspect="1"/>
            </p:cNvPicPr>
            <p:nvPr/>
          </p:nvPicPr>
          <p:blipFill>
            <a:blip r:embed="rId2"/>
            <a:stretch>
              <a:fillRect/>
            </a:stretch>
          </p:blipFill>
          <p:spPr>
            <a:xfrm>
              <a:off x="188045" y="1494650"/>
              <a:ext cx="6114130" cy="4806386"/>
            </a:xfrm>
            <a:prstGeom prst="rect">
              <a:avLst/>
            </a:prstGeom>
          </p:spPr>
        </p:pic>
        <p:sp>
          <p:nvSpPr>
            <p:cNvPr id="12" name="TextBox 11">
              <a:extLst>
                <a:ext uri="{FF2B5EF4-FFF2-40B4-BE49-F238E27FC236}">
                  <a16:creationId xmlns:a16="http://schemas.microsoft.com/office/drawing/2014/main" id="{0480C2AF-C5CA-4F64-B5FB-A038F9F950B6}"/>
                </a:ext>
              </a:extLst>
            </p:cNvPr>
            <p:cNvSpPr txBox="1"/>
            <p:nvPr/>
          </p:nvSpPr>
          <p:spPr>
            <a:xfrm>
              <a:off x="914399" y="2268559"/>
              <a:ext cx="1581151" cy="369332"/>
            </a:xfrm>
            <a:prstGeom prst="rect">
              <a:avLst/>
            </a:prstGeom>
            <a:noFill/>
          </p:spPr>
          <p:txBody>
            <a:bodyPr wrap="square">
              <a:spAutoFit/>
            </a:bodyPr>
            <a:lstStyle/>
            <a:p>
              <a:pPr algn="just"/>
              <a:r>
                <a:rPr lang="en-US" sz="1800">
                  <a:solidFill>
                    <a:srgbClr val="FF0000"/>
                  </a:solidFill>
                  <a:latin typeface="Times New Roman" panose="02020603050405020304" pitchFamily="18" charset="0"/>
                  <a:cs typeface="Times New Roman" panose="02020603050405020304" pitchFamily="18" charset="0"/>
                </a:rPr>
                <a:t>Benzoic Acid</a:t>
              </a:r>
            </a:p>
          </p:txBody>
        </p:sp>
        <p:sp>
          <p:nvSpPr>
            <p:cNvPr id="13" name="TextBox 12">
              <a:extLst>
                <a:ext uri="{FF2B5EF4-FFF2-40B4-BE49-F238E27FC236}">
                  <a16:creationId xmlns:a16="http://schemas.microsoft.com/office/drawing/2014/main" id="{378C3715-259C-4D70-982D-A7108CF46F93}"/>
                </a:ext>
              </a:extLst>
            </p:cNvPr>
            <p:cNvSpPr txBox="1"/>
            <p:nvPr/>
          </p:nvSpPr>
          <p:spPr>
            <a:xfrm>
              <a:off x="790574" y="5035034"/>
              <a:ext cx="1581151" cy="369332"/>
            </a:xfrm>
            <a:prstGeom prst="rect">
              <a:avLst/>
            </a:prstGeom>
            <a:noFill/>
          </p:spPr>
          <p:txBody>
            <a:bodyPr wrap="square">
              <a:spAutoFit/>
            </a:bodyPr>
            <a:lstStyle/>
            <a:p>
              <a:pPr algn="just"/>
              <a:r>
                <a:rPr lang="en-US" sz="1800">
                  <a:solidFill>
                    <a:srgbClr val="FF0000"/>
                  </a:solidFill>
                  <a:latin typeface="Times New Roman" panose="02020603050405020304" pitchFamily="18" charset="0"/>
                  <a:cs typeface="Times New Roman" panose="02020603050405020304" pitchFamily="18" charset="0"/>
                </a:rPr>
                <a:t>Phthalic Acid</a:t>
              </a:r>
            </a:p>
          </p:txBody>
        </p:sp>
      </p:grpSp>
    </p:spTree>
    <p:extLst>
      <p:ext uri="{BB962C8B-B14F-4D97-AF65-F5344CB8AC3E}">
        <p14:creationId xmlns:p14="http://schemas.microsoft.com/office/powerpoint/2010/main" val="3882720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43EC0-DF22-01A7-45F6-7E3D015A158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DAA810-E40A-F44B-BB0F-F39AF74C07A6}"/>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16" name="Rectangle 15">
            <a:extLst>
              <a:ext uri="{FF2B5EF4-FFF2-40B4-BE49-F238E27FC236}">
                <a16:creationId xmlns:a16="http://schemas.microsoft.com/office/drawing/2014/main" id="{E92B9438-EAB8-4039-9F56-33EE22A331F6}"/>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Temperature Profiles for Distillation Columns</a:t>
            </a:r>
          </a:p>
        </p:txBody>
      </p:sp>
      <p:pic>
        <p:nvPicPr>
          <p:cNvPr id="6" name="Picture 5" descr="A graph showing the temperature profile&#10;&#10;AI-generated content may be incorrect.">
            <a:extLst>
              <a:ext uri="{FF2B5EF4-FFF2-40B4-BE49-F238E27FC236}">
                <a16:creationId xmlns:a16="http://schemas.microsoft.com/office/drawing/2014/main" id="{0446D752-72CE-179F-0513-AD0EDFDFFDCC}"/>
              </a:ext>
            </a:extLst>
          </p:cNvPr>
          <p:cNvPicPr>
            <a:picLocks noChangeAspect="1"/>
          </p:cNvPicPr>
          <p:nvPr/>
        </p:nvPicPr>
        <p:blipFill>
          <a:blip r:embed="rId2"/>
          <a:stretch>
            <a:fillRect/>
          </a:stretch>
        </p:blipFill>
        <p:spPr>
          <a:xfrm>
            <a:off x="210553" y="1598194"/>
            <a:ext cx="11770894" cy="4539915"/>
          </a:xfrm>
          <a:prstGeom prst="rect">
            <a:avLst/>
          </a:prstGeom>
        </p:spPr>
      </p:pic>
    </p:spTree>
    <p:extLst>
      <p:ext uri="{BB962C8B-B14F-4D97-AF65-F5344CB8AC3E}">
        <p14:creationId xmlns:p14="http://schemas.microsoft.com/office/powerpoint/2010/main" val="39823233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3817B-B1FC-60B4-1250-07EFE49F97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37413A-B850-EEC0-C32C-F23B9EE54B7B}"/>
              </a:ext>
            </a:extLst>
          </p:cNvPr>
          <p:cNvSpPr>
            <a:spLocks noGrp="1"/>
          </p:cNvSpPr>
          <p:nvPr>
            <p:ph type="sldNum" sz="quarter" idx="12"/>
          </p:nvPr>
        </p:nvSpPr>
        <p:spPr/>
        <p:txBody>
          <a:bodyPr/>
          <a:lstStyle/>
          <a:p>
            <a:fld id="{330EA680-D336-4FF7-8B7A-9848BB0A1C32}" type="slidenum">
              <a:rPr lang="en-US" smtClean="0"/>
              <a:t>16</a:t>
            </a:fld>
            <a:endParaRPr lang="en-US"/>
          </a:p>
        </p:txBody>
      </p:sp>
      <p:sp>
        <p:nvSpPr>
          <p:cNvPr id="16" name="Rectangle 15">
            <a:extLst>
              <a:ext uri="{FF2B5EF4-FFF2-40B4-BE49-F238E27FC236}">
                <a16:creationId xmlns:a16="http://schemas.microsoft.com/office/drawing/2014/main" id="{9A62D53D-4AC0-0BFF-1A25-0F8EB596ACE8}"/>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Temperature Profiles for Distillation Columns</a:t>
            </a:r>
          </a:p>
        </p:txBody>
      </p:sp>
      <p:pic>
        <p:nvPicPr>
          <p:cNvPr id="3" name="Picture 2" descr="A graph of a temperature profile&#10;&#10;AI-generated content may be incorrect.">
            <a:extLst>
              <a:ext uri="{FF2B5EF4-FFF2-40B4-BE49-F238E27FC236}">
                <a16:creationId xmlns:a16="http://schemas.microsoft.com/office/drawing/2014/main" id="{B6C741DD-56BF-F365-B6E0-8AD2D36A58CC}"/>
              </a:ext>
            </a:extLst>
          </p:cNvPr>
          <p:cNvPicPr>
            <a:picLocks noChangeAspect="1"/>
          </p:cNvPicPr>
          <p:nvPr/>
        </p:nvPicPr>
        <p:blipFill>
          <a:blip r:embed="rId2"/>
          <a:stretch>
            <a:fillRect/>
          </a:stretch>
        </p:blipFill>
        <p:spPr>
          <a:xfrm>
            <a:off x="185487" y="1565860"/>
            <a:ext cx="11821025" cy="4559466"/>
          </a:xfrm>
          <a:prstGeom prst="rect">
            <a:avLst/>
          </a:prstGeom>
        </p:spPr>
      </p:pic>
    </p:spTree>
    <p:extLst>
      <p:ext uri="{BB962C8B-B14F-4D97-AF65-F5344CB8AC3E}">
        <p14:creationId xmlns:p14="http://schemas.microsoft.com/office/powerpoint/2010/main" val="2107546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04290-7569-D7DC-AEF6-6570FE202A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DF9930-15D4-5E8C-53A9-C99BE0BF56E3}"/>
              </a:ext>
            </a:extLst>
          </p:cNvPr>
          <p:cNvSpPr>
            <a:spLocks noGrp="1"/>
          </p:cNvSpPr>
          <p:nvPr>
            <p:ph type="sldNum" sz="quarter" idx="12"/>
          </p:nvPr>
        </p:nvSpPr>
        <p:spPr/>
        <p:txBody>
          <a:bodyPr/>
          <a:lstStyle/>
          <a:p>
            <a:fld id="{330EA680-D336-4FF7-8B7A-9848BB0A1C32}" type="slidenum">
              <a:rPr lang="en-US" smtClean="0"/>
              <a:t>17</a:t>
            </a:fld>
            <a:endParaRPr lang="en-US"/>
          </a:p>
        </p:txBody>
      </p:sp>
      <p:sp>
        <p:nvSpPr>
          <p:cNvPr id="16" name="Rectangle 15">
            <a:extLst>
              <a:ext uri="{FF2B5EF4-FFF2-40B4-BE49-F238E27FC236}">
                <a16:creationId xmlns:a16="http://schemas.microsoft.com/office/drawing/2014/main" id="{67C14FAD-96B7-9271-DF8B-5A0F00A57BF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Temperature Profiles for Distillation Columns</a:t>
            </a:r>
          </a:p>
        </p:txBody>
      </p:sp>
      <p:pic>
        <p:nvPicPr>
          <p:cNvPr id="4" name="Picture 3" descr="A graph showing the temperature profile&#10;&#10;AI-generated content may be incorrect.">
            <a:extLst>
              <a:ext uri="{FF2B5EF4-FFF2-40B4-BE49-F238E27FC236}">
                <a16:creationId xmlns:a16="http://schemas.microsoft.com/office/drawing/2014/main" id="{B929389D-8C60-9C44-6C79-69EB659D85D8}"/>
              </a:ext>
            </a:extLst>
          </p:cNvPr>
          <p:cNvPicPr>
            <a:picLocks noChangeAspect="1"/>
          </p:cNvPicPr>
          <p:nvPr/>
        </p:nvPicPr>
        <p:blipFill>
          <a:blip r:embed="rId2"/>
          <a:stretch>
            <a:fillRect/>
          </a:stretch>
        </p:blipFill>
        <p:spPr>
          <a:xfrm>
            <a:off x="255671" y="1616241"/>
            <a:ext cx="11680657" cy="4499810"/>
          </a:xfrm>
          <a:prstGeom prst="rect">
            <a:avLst/>
          </a:prstGeom>
        </p:spPr>
      </p:pic>
    </p:spTree>
    <p:extLst>
      <p:ext uri="{BB962C8B-B14F-4D97-AF65-F5344CB8AC3E}">
        <p14:creationId xmlns:p14="http://schemas.microsoft.com/office/powerpoint/2010/main" val="10427669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E66C-0309-299E-DA7E-BF9661BFD7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6FE83-7C3D-4BF7-64BD-29F55232EE0C}"/>
              </a:ext>
            </a:extLst>
          </p:cNvPr>
          <p:cNvSpPr>
            <a:spLocks noGrp="1"/>
          </p:cNvSpPr>
          <p:nvPr>
            <p:ph type="sldNum" sz="quarter" idx="12"/>
          </p:nvPr>
        </p:nvSpPr>
        <p:spPr/>
        <p:txBody>
          <a:bodyPr/>
          <a:lstStyle/>
          <a:p>
            <a:fld id="{330EA680-D336-4FF7-8B7A-9848BB0A1C32}" type="slidenum">
              <a:rPr lang="en-US" smtClean="0"/>
              <a:t>18</a:t>
            </a:fld>
            <a:endParaRPr lang="en-US"/>
          </a:p>
        </p:txBody>
      </p:sp>
      <p:sp>
        <p:nvSpPr>
          <p:cNvPr id="16" name="Rectangle 15">
            <a:extLst>
              <a:ext uri="{FF2B5EF4-FFF2-40B4-BE49-F238E27FC236}">
                <a16:creationId xmlns:a16="http://schemas.microsoft.com/office/drawing/2014/main" id="{817FEB72-6ED0-A97F-E67A-E552949F23C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Temperature Profiles for Distillation Columns</a:t>
            </a:r>
          </a:p>
        </p:txBody>
      </p:sp>
      <p:pic>
        <p:nvPicPr>
          <p:cNvPr id="3" name="Picture 2" descr="A graph showing the temperature profile&#10;&#10;AI-generated content may be incorrect.">
            <a:extLst>
              <a:ext uri="{FF2B5EF4-FFF2-40B4-BE49-F238E27FC236}">
                <a16:creationId xmlns:a16="http://schemas.microsoft.com/office/drawing/2014/main" id="{66041EA0-22FB-272D-E282-991CFECCDBB9}"/>
              </a:ext>
            </a:extLst>
          </p:cNvPr>
          <p:cNvPicPr>
            <a:picLocks noChangeAspect="1"/>
          </p:cNvPicPr>
          <p:nvPr/>
        </p:nvPicPr>
        <p:blipFill>
          <a:blip r:embed="rId2"/>
          <a:stretch>
            <a:fillRect/>
          </a:stretch>
        </p:blipFill>
        <p:spPr>
          <a:xfrm>
            <a:off x="270711" y="1638551"/>
            <a:ext cx="11650578" cy="4499309"/>
          </a:xfrm>
          <a:prstGeom prst="rect">
            <a:avLst/>
          </a:prstGeom>
        </p:spPr>
      </p:pic>
    </p:spTree>
    <p:extLst>
      <p:ext uri="{BB962C8B-B14F-4D97-AF65-F5344CB8AC3E}">
        <p14:creationId xmlns:p14="http://schemas.microsoft.com/office/powerpoint/2010/main" val="34188399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93438"/>
            <a:ext cx="9144000" cy="1084512"/>
          </a:xfrm>
        </p:spPr>
        <p:txBody>
          <a:bodyPr/>
          <a:lstStyle/>
          <a:p>
            <a:r>
              <a:rPr lang="en-US" b="1">
                <a:solidFill>
                  <a:schemeClr val="tx1">
                    <a:lumMod val="85000"/>
                    <a:lumOff val="15000"/>
                  </a:schemeClr>
                </a:solidFill>
                <a:latin typeface="Times New Roman" panose="02020603050405020304" pitchFamily="18" charset="0"/>
                <a:cs typeface="Times New Roman" panose="02020603050405020304" pitchFamily="18" charset="0"/>
              </a:rPr>
              <a:t>ChE 453: Capstone Project</a:t>
            </a:r>
          </a:p>
        </p:txBody>
      </p:sp>
      <p:sp>
        <p:nvSpPr>
          <p:cNvPr id="5" name="TextBox 4">
            <a:extLst>
              <a:ext uri="{FF2B5EF4-FFF2-40B4-BE49-F238E27FC236}">
                <a16:creationId xmlns:a16="http://schemas.microsoft.com/office/drawing/2014/main" id="{001AEAAE-8C94-485E-8F94-B6F080A4A839}"/>
              </a:ext>
            </a:extLst>
          </p:cNvPr>
          <p:cNvSpPr txBox="1"/>
          <p:nvPr/>
        </p:nvSpPr>
        <p:spPr>
          <a:xfrm>
            <a:off x="1524000" y="2985526"/>
            <a:ext cx="9143999" cy="1446550"/>
          </a:xfrm>
          <a:prstGeom prst="rect">
            <a:avLst/>
          </a:prstGeom>
          <a:noFill/>
        </p:spPr>
        <p:txBody>
          <a:bodyPr wrap="square">
            <a:spAutoFit/>
          </a:bodyPr>
          <a:lstStyle/>
          <a:p>
            <a:pPr algn="ctr">
              <a:spcBef>
                <a:spcPts val="0"/>
              </a:spcBef>
            </a:pPr>
            <a:r>
              <a:rPr lang="en-US" sz="4400">
                <a:solidFill>
                  <a:schemeClr val="tx1">
                    <a:lumMod val="75000"/>
                    <a:lumOff val="25000"/>
                  </a:schemeClr>
                </a:solidFill>
                <a:latin typeface="Times New Roman" panose="02020603050405020304" pitchFamily="18" charset="0"/>
                <a:cs typeface="Times New Roman" panose="02020603050405020304" pitchFamily="18" charset="0"/>
              </a:rPr>
              <a:t>Mid Semester Presentation </a:t>
            </a:r>
          </a:p>
          <a:p>
            <a:pPr algn="ctr">
              <a:spcBef>
                <a:spcPts val="0"/>
              </a:spcBef>
            </a:pPr>
            <a:r>
              <a:rPr lang="en-US" sz="4400">
                <a:solidFill>
                  <a:schemeClr val="tx1">
                    <a:lumMod val="75000"/>
                    <a:lumOff val="25000"/>
                  </a:schemeClr>
                </a:solidFill>
                <a:latin typeface="Times New Roman" panose="02020603050405020304" pitchFamily="18" charset="0"/>
                <a:cs typeface="Times New Roman" panose="02020603050405020304" pitchFamily="18" charset="0"/>
              </a:rPr>
              <a:t>Group 4</a:t>
            </a:r>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1A62824-264F-0008-073A-433DDECA5DEB}"/>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Times New Roman"/>
              </a:rPr>
              <a:t>Rationale for choice of product (Methyl Benzoate)</a:t>
            </a:r>
            <a:endParaRPr lang="en-US" sz="2500">
              <a:latin typeface="Aptos"/>
              <a:cs typeface="Times New Roman"/>
            </a:endParaRPr>
          </a:p>
        </p:txBody>
      </p:sp>
      <p:sp>
        <p:nvSpPr>
          <p:cNvPr id="2" name="Slide Number Placeholder 1">
            <a:extLst>
              <a:ext uri="{FF2B5EF4-FFF2-40B4-BE49-F238E27FC236}">
                <a16:creationId xmlns:a16="http://schemas.microsoft.com/office/drawing/2014/main" id="{8BC96A39-87E6-10B0-844F-FE0DDB196C78}"/>
              </a:ext>
            </a:extLst>
          </p:cNvPr>
          <p:cNvSpPr>
            <a:spLocks noGrp="1"/>
          </p:cNvSpPr>
          <p:nvPr>
            <p:ph type="sldNum" sz="quarter" idx="12"/>
          </p:nvPr>
        </p:nvSpPr>
        <p:spPr/>
        <p:txBody>
          <a:bodyPr/>
          <a:lstStyle/>
          <a:p>
            <a:fld id="{330EA680-D336-4FF7-8B7A-9848BB0A1C32}" type="slidenum">
              <a:rPr lang="en-US" smtClean="0"/>
              <a:t>20</a:t>
            </a:fld>
            <a:endParaRPr lang="en-US"/>
          </a:p>
        </p:txBody>
      </p:sp>
      <p:sp>
        <p:nvSpPr>
          <p:cNvPr id="4" name="TextBox 3">
            <a:extLst>
              <a:ext uri="{FF2B5EF4-FFF2-40B4-BE49-F238E27FC236}">
                <a16:creationId xmlns:a16="http://schemas.microsoft.com/office/drawing/2014/main" id="{1002B63D-EFEE-765B-2875-E3808CD13686}"/>
              </a:ext>
            </a:extLst>
          </p:cNvPr>
          <p:cNvSpPr txBox="1"/>
          <p:nvPr/>
        </p:nvSpPr>
        <p:spPr>
          <a:xfrm>
            <a:off x="690282" y="1272987"/>
            <a:ext cx="1081143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Sans-Serif"/>
              <a:buChar char="•"/>
            </a:pPr>
            <a:r>
              <a:rPr lang="en-US" sz="2000" b="1">
                <a:latin typeface="Times New Roman"/>
                <a:cs typeface="Arial"/>
              </a:rPr>
              <a:t>  Methyl Benzoate</a:t>
            </a:r>
            <a:r>
              <a:rPr lang="en-US" sz="2000">
                <a:latin typeface="Times New Roman"/>
                <a:cs typeface="Arial"/>
              </a:rPr>
              <a:t> selected due to high demand in fragrance, flavor, and pharmaceutical industries.​</a:t>
            </a:r>
          </a:p>
          <a:p>
            <a:pPr marL="228600" indent="-228600">
              <a:buFont typeface="Arial,Sans-Serif"/>
              <a:buChar char="•"/>
            </a:pPr>
            <a:r>
              <a:rPr lang="en-US" sz="2000">
                <a:latin typeface="Times New Roman"/>
                <a:cs typeface="Arial"/>
              </a:rPr>
              <a:t>  Exhibits </a:t>
            </a:r>
            <a:r>
              <a:rPr lang="en-US" sz="2000" b="1">
                <a:latin typeface="Times New Roman"/>
                <a:cs typeface="Arial"/>
              </a:rPr>
              <a:t>6% CAGR growth (2024–2032)</a:t>
            </a:r>
            <a:r>
              <a:rPr lang="en-US" sz="2000">
                <a:latin typeface="Times New Roman"/>
                <a:cs typeface="Arial"/>
              </a:rPr>
              <a:t>, market projected to reach </a:t>
            </a:r>
            <a:r>
              <a:rPr lang="en-US" sz="2000" b="1">
                <a:latin typeface="Times New Roman"/>
                <a:cs typeface="Arial"/>
              </a:rPr>
              <a:t>USD 2,260 million by 2032</a:t>
            </a:r>
            <a:r>
              <a:rPr lang="en-US" sz="2000">
                <a:latin typeface="Times New Roman"/>
                <a:cs typeface="Arial"/>
              </a:rPr>
              <a:t>.​</a:t>
            </a:r>
          </a:p>
          <a:p>
            <a:pPr marL="228600" indent="-228600">
              <a:buFont typeface="Arial,Sans-Serif"/>
              <a:buChar char="•"/>
            </a:pPr>
            <a:r>
              <a:rPr lang="en-US" sz="2000">
                <a:latin typeface="Times New Roman"/>
                <a:cs typeface="Arial"/>
              </a:rPr>
              <a:t>  Multi-purpose applications: solvent, agrochemicals, intermediates, and antifungal uses.​</a:t>
            </a:r>
          </a:p>
          <a:p>
            <a:pPr marL="228600" indent="-228600">
              <a:buFont typeface="Arial,Sans-Serif"/>
              <a:buChar char="•"/>
            </a:pPr>
            <a:r>
              <a:rPr lang="en-US" sz="2000">
                <a:latin typeface="Times New Roman"/>
                <a:cs typeface="Arial"/>
              </a:rPr>
              <a:t>  High value product compared to raw feedstocks (Methanol &amp; Benzoic Acid).​</a:t>
            </a:r>
          </a:p>
        </p:txBody>
      </p:sp>
      <p:pic>
        <p:nvPicPr>
          <p:cNvPr id="6" name="Picture 5">
            <a:extLst>
              <a:ext uri="{FF2B5EF4-FFF2-40B4-BE49-F238E27FC236}">
                <a16:creationId xmlns:a16="http://schemas.microsoft.com/office/drawing/2014/main" id="{E946789C-BA3E-D02C-D1F2-DB2D153B5A90}"/>
              </a:ext>
            </a:extLst>
          </p:cNvPr>
          <p:cNvPicPr>
            <a:picLocks noChangeAspect="1"/>
          </p:cNvPicPr>
          <p:nvPr/>
        </p:nvPicPr>
        <p:blipFill>
          <a:blip r:embed="rId2"/>
          <a:stretch>
            <a:fillRect/>
          </a:stretch>
        </p:blipFill>
        <p:spPr>
          <a:xfrm>
            <a:off x="2629180" y="2700618"/>
            <a:ext cx="6922433" cy="3104029"/>
          </a:xfrm>
          <a:prstGeom prst="rect">
            <a:avLst/>
          </a:prstGeom>
        </p:spPr>
      </p:pic>
      <p:sp>
        <p:nvSpPr>
          <p:cNvPr id="8" name="TextBox 7">
            <a:extLst>
              <a:ext uri="{FF2B5EF4-FFF2-40B4-BE49-F238E27FC236}">
                <a16:creationId xmlns:a16="http://schemas.microsoft.com/office/drawing/2014/main" id="{287C501C-FBCB-F9A0-729C-F36CFAC78092}"/>
              </a:ext>
            </a:extLst>
          </p:cNvPr>
          <p:cNvSpPr txBox="1"/>
          <p:nvPr/>
        </p:nvSpPr>
        <p:spPr>
          <a:xfrm>
            <a:off x="1089872" y="5984838"/>
            <a:ext cx="999719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solidFill>
                  <a:srgbClr val="7030A0"/>
                </a:solidFill>
                <a:latin typeface="Times New Roman"/>
                <a:cs typeface="Times New Roman"/>
                <a:hlinkClick r:id="rId3">
                  <a:extLst>
                    <a:ext uri="{A12FA001-AC4F-418D-AE19-62706E023703}">
                      <ahyp:hlinkClr xmlns:ahyp="http://schemas.microsoft.com/office/drawing/2018/hyperlinkcolor" val="tx"/>
                    </a:ext>
                  </a:extLst>
                </a:hlinkClick>
              </a:rPr>
              <a:t>https://dataintelo.com/report/global-methyl-benzoate-market</a:t>
            </a:r>
            <a:endParaRPr lang="en-US" sz="1600">
              <a:solidFill>
                <a:srgbClr val="7030A0"/>
              </a:solidFill>
              <a:hlinkClick r:id="" action="ppaction://noaction">
                <a:extLst>
                  <a:ext uri="{A12FA001-AC4F-418D-AE19-62706E023703}">
                    <ahyp:hlinkClr xmlns:ahyp="http://schemas.microsoft.com/office/drawing/2018/hyperlinkcolor" val="tx"/>
                  </a:ext>
                </a:extLst>
              </a:hlinkClick>
            </a:endParaRPr>
          </a:p>
        </p:txBody>
      </p:sp>
      <p:pic>
        <p:nvPicPr>
          <p:cNvPr id="9" name="Picture 8" descr="3D euro dollar currency Backgrounds | 3D, Business, White, Yellow Templates  | Free PPT Grounds">
            <a:extLst>
              <a:ext uri="{FF2B5EF4-FFF2-40B4-BE49-F238E27FC236}">
                <a16:creationId xmlns:a16="http://schemas.microsoft.com/office/drawing/2014/main" id="{A1A6B7EC-244E-D600-66B8-E2FC8737079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a14:imgEffect>
                  </a14:imgLayer>
                </a14:imgProps>
              </a:ext>
            </a:extLst>
          </a:blip>
          <a:stretch>
            <a:fillRect/>
          </a:stretch>
        </p:blipFill>
        <p:spPr>
          <a:xfrm>
            <a:off x="0" y="4919134"/>
            <a:ext cx="2619022" cy="1941688"/>
          </a:xfrm>
          <a:prstGeom prst="rect">
            <a:avLst/>
          </a:prstGeom>
        </p:spPr>
      </p:pic>
    </p:spTree>
    <p:extLst>
      <p:ext uri="{BB962C8B-B14F-4D97-AF65-F5344CB8AC3E}">
        <p14:creationId xmlns:p14="http://schemas.microsoft.com/office/powerpoint/2010/main" val="3087849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4B8E9-32C5-C9A0-0DDD-38C3F6835E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D30F31D-8CE8-8AA0-C03A-C061CFBAD22E}"/>
              </a:ext>
            </a:extLst>
          </p:cNvPr>
          <p:cNvSpPr/>
          <p:nvPr/>
        </p:nvSpPr>
        <p:spPr>
          <a:xfrm>
            <a:off x="-1"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Product Purity Considerations</a:t>
            </a:r>
            <a:endParaRPr lang="en-US">
              <a:latin typeface="Times New Roman"/>
              <a:cs typeface="Times New Roman"/>
            </a:endParaRPr>
          </a:p>
        </p:txBody>
      </p:sp>
      <p:sp>
        <p:nvSpPr>
          <p:cNvPr id="5" name="Rectangle 4">
            <a:extLst>
              <a:ext uri="{FF2B5EF4-FFF2-40B4-BE49-F238E27FC236}">
                <a16:creationId xmlns:a16="http://schemas.microsoft.com/office/drawing/2014/main" id="{111F7254-7AD7-CECE-5438-2DBB367F2835}"/>
              </a:ext>
            </a:extLst>
          </p:cNvPr>
          <p:cNvSpPr/>
          <p:nvPr/>
        </p:nvSpPr>
        <p:spPr>
          <a:xfrm>
            <a:off x="752475" y="1757221"/>
            <a:ext cx="10687050" cy="3648497"/>
          </a:xfrm>
          <a:custGeom>
            <a:avLst/>
            <a:gdLst>
              <a:gd name="csX0" fmla="*/ 0 w 10687050"/>
              <a:gd name="csY0" fmla="*/ 0 h 3648497"/>
              <a:gd name="csX1" fmla="*/ 667941 w 10687050"/>
              <a:gd name="csY1" fmla="*/ 0 h 3648497"/>
              <a:gd name="csX2" fmla="*/ 1015270 w 10687050"/>
              <a:gd name="csY2" fmla="*/ 0 h 3648497"/>
              <a:gd name="csX3" fmla="*/ 1469469 w 10687050"/>
              <a:gd name="csY3" fmla="*/ 0 h 3648497"/>
              <a:gd name="csX4" fmla="*/ 1816799 w 10687050"/>
              <a:gd name="csY4" fmla="*/ 0 h 3648497"/>
              <a:gd name="csX5" fmla="*/ 2270998 w 10687050"/>
              <a:gd name="csY5" fmla="*/ 0 h 3648497"/>
              <a:gd name="csX6" fmla="*/ 3152680 w 10687050"/>
              <a:gd name="csY6" fmla="*/ 0 h 3648497"/>
              <a:gd name="csX7" fmla="*/ 4034361 w 10687050"/>
              <a:gd name="csY7" fmla="*/ 0 h 3648497"/>
              <a:gd name="csX8" fmla="*/ 4381691 w 10687050"/>
              <a:gd name="csY8" fmla="*/ 0 h 3648497"/>
              <a:gd name="csX9" fmla="*/ 5156502 w 10687050"/>
              <a:gd name="csY9" fmla="*/ 0 h 3648497"/>
              <a:gd name="csX10" fmla="*/ 5824442 w 10687050"/>
              <a:gd name="csY10" fmla="*/ 0 h 3648497"/>
              <a:gd name="csX11" fmla="*/ 6599253 w 10687050"/>
              <a:gd name="csY11" fmla="*/ 0 h 3648497"/>
              <a:gd name="csX12" fmla="*/ 7480935 w 10687050"/>
              <a:gd name="csY12" fmla="*/ 0 h 3648497"/>
              <a:gd name="csX13" fmla="*/ 7828264 w 10687050"/>
              <a:gd name="csY13" fmla="*/ 0 h 3648497"/>
              <a:gd name="csX14" fmla="*/ 8603075 w 10687050"/>
              <a:gd name="csY14" fmla="*/ 0 h 3648497"/>
              <a:gd name="csX15" fmla="*/ 9377886 w 10687050"/>
              <a:gd name="csY15" fmla="*/ 0 h 3648497"/>
              <a:gd name="csX16" fmla="*/ 9832086 w 10687050"/>
              <a:gd name="csY16" fmla="*/ 0 h 3648497"/>
              <a:gd name="csX17" fmla="*/ 10687050 w 10687050"/>
              <a:gd name="csY17" fmla="*/ 0 h 3648497"/>
              <a:gd name="csX18" fmla="*/ 10687050 w 10687050"/>
              <a:gd name="csY18" fmla="*/ 681053 h 3648497"/>
              <a:gd name="csX19" fmla="*/ 10687050 w 10687050"/>
              <a:gd name="csY19" fmla="*/ 1216166 h 3648497"/>
              <a:gd name="csX20" fmla="*/ 10687050 w 10687050"/>
              <a:gd name="csY20" fmla="*/ 1860733 h 3648497"/>
              <a:gd name="csX21" fmla="*/ 10687050 w 10687050"/>
              <a:gd name="csY21" fmla="*/ 2395846 h 3648497"/>
              <a:gd name="csX22" fmla="*/ 10687050 w 10687050"/>
              <a:gd name="csY22" fmla="*/ 2967444 h 3648497"/>
              <a:gd name="csX23" fmla="*/ 10687050 w 10687050"/>
              <a:gd name="csY23" fmla="*/ 3648497 h 3648497"/>
              <a:gd name="csX24" fmla="*/ 9805368 w 10687050"/>
              <a:gd name="csY24" fmla="*/ 3648497 h 3648497"/>
              <a:gd name="csX25" fmla="*/ 9351169 w 10687050"/>
              <a:gd name="csY25" fmla="*/ 3648497 h 3648497"/>
              <a:gd name="csX26" fmla="*/ 9003840 w 10687050"/>
              <a:gd name="csY26" fmla="*/ 3648497 h 3648497"/>
              <a:gd name="csX27" fmla="*/ 8335899 w 10687050"/>
              <a:gd name="csY27" fmla="*/ 3648497 h 3648497"/>
              <a:gd name="csX28" fmla="*/ 7561088 w 10687050"/>
              <a:gd name="csY28" fmla="*/ 3648497 h 3648497"/>
              <a:gd name="csX29" fmla="*/ 7106888 w 10687050"/>
              <a:gd name="csY29" fmla="*/ 3648497 h 3648497"/>
              <a:gd name="csX30" fmla="*/ 6759559 w 10687050"/>
              <a:gd name="csY30" fmla="*/ 3648497 h 3648497"/>
              <a:gd name="csX31" fmla="*/ 6305360 w 10687050"/>
              <a:gd name="csY31" fmla="*/ 3648497 h 3648497"/>
              <a:gd name="csX32" fmla="*/ 5744289 w 10687050"/>
              <a:gd name="csY32" fmla="*/ 3648497 h 3648497"/>
              <a:gd name="csX33" fmla="*/ 4862608 w 10687050"/>
              <a:gd name="csY33" fmla="*/ 3648497 h 3648497"/>
              <a:gd name="csX34" fmla="*/ 4515279 w 10687050"/>
              <a:gd name="csY34" fmla="*/ 3648497 h 3648497"/>
              <a:gd name="csX35" fmla="*/ 3740468 w 10687050"/>
              <a:gd name="csY35" fmla="*/ 3648497 h 3648497"/>
              <a:gd name="csX36" fmla="*/ 2858786 w 10687050"/>
              <a:gd name="csY36" fmla="*/ 3648497 h 3648497"/>
              <a:gd name="csX37" fmla="*/ 2190845 w 10687050"/>
              <a:gd name="csY37" fmla="*/ 3648497 h 3648497"/>
              <a:gd name="csX38" fmla="*/ 1843516 w 10687050"/>
              <a:gd name="csY38" fmla="*/ 3648497 h 3648497"/>
              <a:gd name="csX39" fmla="*/ 1068705 w 10687050"/>
              <a:gd name="csY39" fmla="*/ 3648497 h 3648497"/>
              <a:gd name="csX40" fmla="*/ 0 w 10687050"/>
              <a:gd name="csY40" fmla="*/ 3648497 h 3648497"/>
              <a:gd name="csX41" fmla="*/ 0 w 10687050"/>
              <a:gd name="csY41" fmla="*/ 3149869 h 3648497"/>
              <a:gd name="csX42" fmla="*/ 0 w 10687050"/>
              <a:gd name="csY42" fmla="*/ 2578271 h 3648497"/>
              <a:gd name="csX43" fmla="*/ 0 w 10687050"/>
              <a:gd name="csY43" fmla="*/ 1897218 h 3648497"/>
              <a:gd name="csX44" fmla="*/ 0 w 10687050"/>
              <a:gd name="csY44" fmla="*/ 1362106 h 3648497"/>
              <a:gd name="csX45" fmla="*/ 0 w 10687050"/>
              <a:gd name="csY45" fmla="*/ 790508 h 3648497"/>
              <a:gd name="csX46" fmla="*/ 0 w 10687050"/>
              <a:gd name="csY46" fmla="*/ 0 h 3648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687050" h="3648497" fill="none" extrusionOk="0">
                <a:moveTo>
                  <a:pt x="0" y="0"/>
                </a:moveTo>
                <a:cubicBezTo>
                  <a:pt x="140351" y="-8374"/>
                  <a:pt x="476687" y="-14993"/>
                  <a:pt x="667941" y="0"/>
                </a:cubicBezTo>
                <a:cubicBezTo>
                  <a:pt x="859195" y="14993"/>
                  <a:pt x="927787" y="-16759"/>
                  <a:pt x="1015270" y="0"/>
                </a:cubicBezTo>
                <a:cubicBezTo>
                  <a:pt x="1102753" y="16759"/>
                  <a:pt x="1333513" y="16146"/>
                  <a:pt x="1469469" y="0"/>
                </a:cubicBezTo>
                <a:cubicBezTo>
                  <a:pt x="1605425" y="-16146"/>
                  <a:pt x="1709287" y="1027"/>
                  <a:pt x="1816799" y="0"/>
                </a:cubicBezTo>
                <a:cubicBezTo>
                  <a:pt x="1924311" y="-1027"/>
                  <a:pt x="2169807" y="8737"/>
                  <a:pt x="2270998" y="0"/>
                </a:cubicBezTo>
                <a:cubicBezTo>
                  <a:pt x="2372189" y="-8737"/>
                  <a:pt x="2832641" y="-34357"/>
                  <a:pt x="3152680" y="0"/>
                </a:cubicBezTo>
                <a:cubicBezTo>
                  <a:pt x="3472719" y="34357"/>
                  <a:pt x="3754856" y="8594"/>
                  <a:pt x="4034361" y="0"/>
                </a:cubicBezTo>
                <a:cubicBezTo>
                  <a:pt x="4313866" y="-8594"/>
                  <a:pt x="4301499" y="7742"/>
                  <a:pt x="4381691" y="0"/>
                </a:cubicBezTo>
                <a:cubicBezTo>
                  <a:pt x="4461883" y="-7742"/>
                  <a:pt x="4835494" y="-37140"/>
                  <a:pt x="5156502" y="0"/>
                </a:cubicBezTo>
                <a:cubicBezTo>
                  <a:pt x="5477510" y="37140"/>
                  <a:pt x="5678391" y="-14647"/>
                  <a:pt x="5824442" y="0"/>
                </a:cubicBezTo>
                <a:cubicBezTo>
                  <a:pt x="5970493" y="14647"/>
                  <a:pt x="6305287" y="-28832"/>
                  <a:pt x="6599253" y="0"/>
                </a:cubicBezTo>
                <a:cubicBezTo>
                  <a:pt x="6893219" y="28832"/>
                  <a:pt x="7116222" y="26769"/>
                  <a:pt x="7480935" y="0"/>
                </a:cubicBezTo>
                <a:cubicBezTo>
                  <a:pt x="7845648" y="-26769"/>
                  <a:pt x="7725162" y="-11619"/>
                  <a:pt x="7828264" y="0"/>
                </a:cubicBezTo>
                <a:cubicBezTo>
                  <a:pt x="7931366" y="11619"/>
                  <a:pt x="8389015" y="18296"/>
                  <a:pt x="8603075" y="0"/>
                </a:cubicBezTo>
                <a:cubicBezTo>
                  <a:pt x="8817135" y="-18296"/>
                  <a:pt x="9012672" y="-19996"/>
                  <a:pt x="9377886" y="0"/>
                </a:cubicBezTo>
                <a:cubicBezTo>
                  <a:pt x="9743100" y="19996"/>
                  <a:pt x="9653510" y="-5452"/>
                  <a:pt x="9832086" y="0"/>
                </a:cubicBezTo>
                <a:cubicBezTo>
                  <a:pt x="10010662" y="5452"/>
                  <a:pt x="10357695" y="11294"/>
                  <a:pt x="10687050" y="0"/>
                </a:cubicBezTo>
                <a:cubicBezTo>
                  <a:pt x="10718244" y="191385"/>
                  <a:pt x="10671044" y="409490"/>
                  <a:pt x="10687050" y="681053"/>
                </a:cubicBezTo>
                <a:cubicBezTo>
                  <a:pt x="10703056" y="952616"/>
                  <a:pt x="10712820" y="960160"/>
                  <a:pt x="10687050" y="1216166"/>
                </a:cubicBezTo>
                <a:cubicBezTo>
                  <a:pt x="10661280" y="1472172"/>
                  <a:pt x="10716163" y="1725506"/>
                  <a:pt x="10687050" y="1860733"/>
                </a:cubicBezTo>
                <a:cubicBezTo>
                  <a:pt x="10657937" y="1995960"/>
                  <a:pt x="10707664" y="2256498"/>
                  <a:pt x="10687050" y="2395846"/>
                </a:cubicBezTo>
                <a:cubicBezTo>
                  <a:pt x="10666436" y="2535194"/>
                  <a:pt x="10669237" y="2740872"/>
                  <a:pt x="10687050" y="2967444"/>
                </a:cubicBezTo>
                <a:cubicBezTo>
                  <a:pt x="10704863" y="3194016"/>
                  <a:pt x="10653833" y="3504567"/>
                  <a:pt x="10687050" y="3648497"/>
                </a:cubicBezTo>
                <a:cubicBezTo>
                  <a:pt x="10439214" y="3625391"/>
                  <a:pt x="10061733" y="3630567"/>
                  <a:pt x="9805368" y="3648497"/>
                </a:cubicBezTo>
                <a:cubicBezTo>
                  <a:pt x="9549003" y="3666427"/>
                  <a:pt x="9548416" y="3645194"/>
                  <a:pt x="9351169" y="3648497"/>
                </a:cubicBezTo>
                <a:cubicBezTo>
                  <a:pt x="9153922" y="3651800"/>
                  <a:pt x="9127681" y="3648435"/>
                  <a:pt x="9003840" y="3648497"/>
                </a:cubicBezTo>
                <a:cubicBezTo>
                  <a:pt x="8879999" y="3648559"/>
                  <a:pt x="8649875" y="3670981"/>
                  <a:pt x="8335899" y="3648497"/>
                </a:cubicBezTo>
                <a:cubicBezTo>
                  <a:pt x="8021923" y="3626013"/>
                  <a:pt x="7720115" y="3631142"/>
                  <a:pt x="7561088" y="3648497"/>
                </a:cubicBezTo>
                <a:cubicBezTo>
                  <a:pt x="7402061" y="3665852"/>
                  <a:pt x="7247830" y="3626289"/>
                  <a:pt x="7106888" y="3648497"/>
                </a:cubicBezTo>
                <a:cubicBezTo>
                  <a:pt x="6965946" y="3670705"/>
                  <a:pt x="6833756" y="3656071"/>
                  <a:pt x="6759559" y="3648497"/>
                </a:cubicBezTo>
                <a:cubicBezTo>
                  <a:pt x="6685362" y="3640923"/>
                  <a:pt x="6495743" y="3635705"/>
                  <a:pt x="6305360" y="3648497"/>
                </a:cubicBezTo>
                <a:cubicBezTo>
                  <a:pt x="6114977" y="3661289"/>
                  <a:pt x="5911867" y="3666723"/>
                  <a:pt x="5744289" y="3648497"/>
                </a:cubicBezTo>
                <a:cubicBezTo>
                  <a:pt x="5576711" y="3630271"/>
                  <a:pt x="5138714" y="3653993"/>
                  <a:pt x="4862608" y="3648497"/>
                </a:cubicBezTo>
                <a:cubicBezTo>
                  <a:pt x="4586502" y="3643001"/>
                  <a:pt x="4618663" y="3654678"/>
                  <a:pt x="4515279" y="3648497"/>
                </a:cubicBezTo>
                <a:cubicBezTo>
                  <a:pt x="4411895" y="3642316"/>
                  <a:pt x="4052970" y="3653486"/>
                  <a:pt x="3740468" y="3648497"/>
                </a:cubicBezTo>
                <a:cubicBezTo>
                  <a:pt x="3427966" y="3643508"/>
                  <a:pt x="3040768" y="3619232"/>
                  <a:pt x="2858786" y="3648497"/>
                </a:cubicBezTo>
                <a:cubicBezTo>
                  <a:pt x="2676804" y="3677762"/>
                  <a:pt x="2348744" y="3620035"/>
                  <a:pt x="2190845" y="3648497"/>
                </a:cubicBezTo>
                <a:cubicBezTo>
                  <a:pt x="2032946" y="3676959"/>
                  <a:pt x="1913890" y="3644614"/>
                  <a:pt x="1843516" y="3648497"/>
                </a:cubicBezTo>
                <a:cubicBezTo>
                  <a:pt x="1773142" y="3652380"/>
                  <a:pt x="1238459" y="3656268"/>
                  <a:pt x="1068705" y="3648497"/>
                </a:cubicBezTo>
                <a:cubicBezTo>
                  <a:pt x="898951" y="3640726"/>
                  <a:pt x="351380" y="3672221"/>
                  <a:pt x="0" y="3648497"/>
                </a:cubicBezTo>
                <a:cubicBezTo>
                  <a:pt x="-8139" y="3468220"/>
                  <a:pt x="-20944" y="3329926"/>
                  <a:pt x="0" y="3149869"/>
                </a:cubicBezTo>
                <a:cubicBezTo>
                  <a:pt x="20944" y="2969812"/>
                  <a:pt x="8412" y="2792387"/>
                  <a:pt x="0" y="2578271"/>
                </a:cubicBezTo>
                <a:cubicBezTo>
                  <a:pt x="-8412" y="2364155"/>
                  <a:pt x="-3495" y="2205896"/>
                  <a:pt x="0" y="1897218"/>
                </a:cubicBezTo>
                <a:cubicBezTo>
                  <a:pt x="3495" y="1588540"/>
                  <a:pt x="196" y="1564726"/>
                  <a:pt x="0" y="1362106"/>
                </a:cubicBezTo>
                <a:cubicBezTo>
                  <a:pt x="-196" y="1159486"/>
                  <a:pt x="4582" y="907355"/>
                  <a:pt x="0" y="790508"/>
                </a:cubicBezTo>
                <a:cubicBezTo>
                  <a:pt x="-4582" y="673661"/>
                  <a:pt x="11822" y="358962"/>
                  <a:pt x="0" y="0"/>
                </a:cubicBezTo>
                <a:close/>
              </a:path>
              <a:path w="10687050" h="3648497" stroke="0" extrusionOk="0">
                <a:moveTo>
                  <a:pt x="0" y="0"/>
                </a:moveTo>
                <a:cubicBezTo>
                  <a:pt x="136490" y="4057"/>
                  <a:pt x="242520" y="8872"/>
                  <a:pt x="347329" y="0"/>
                </a:cubicBezTo>
                <a:cubicBezTo>
                  <a:pt x="452138" y="-8872"/>
                  <a:pt x="640321" y="-5341"/>
                  <a:pt x="801529" y="0"/>
                </a:cubicBezTo>
                <a:cubicBezTo>
                  <a:pt x="962737" y="5341"/>
                  <a:pt x="1410547" y="29276"/>
                  <a:pt x="1683210" y="0"/>
                </a:cubicBezTo>
                <a:cubicBezTo>
                  <a:pt x="1955873" y="-29276"/>
                  <a:pt x="2019297" y="-871"/>
                  <a:pt x="2137410" y="0"/>
                </a:cubicBezTo>
                <a:cubicBezTo>
                  <a:pt x="2255523" y="871"/>
                  <a:pt x="2617172" y="28772"/>
                  <a:pt x="3019092" y="0"/>
                </a:cubicBezTo>
                <a:cubicBezTo>
                  <a:pt x="3421012" y="-28772"/>
                  <a:pt x="3517524" y="-6341"/>
                  <a:pt x="3687032" y="0"/>
                </a:cubicBezTo>
                <a:cubicBezTo>
                  <a:pt x="3856540" y="6341"/>
                  <a:pt x="4046733" y="-15629"/>
                  <a:pt x="4248102" y="0"/>
                </a:cubicBezTo>
                <a:cubicBezTo>
                  <a:pt x="4449471" y="15629"/>
                  <a:pt x="4544487" y="17169"/>
                  <a:pt x="4702302" y="0"/>
                </a:cubicBezTo>
                <a:cubicBezTo>
                  <a:pt x="4860117" y="-17169"/>
                  <a:pt x="5048035" y="10921"/>
                  <a:pt x="5156502" y="0"/>
                </a:cubicBezTo>
                <a:cubicBezTo>
                  <a:pt x="5264969" y="-10921"/>
                  <a:pt x="5678554" y="38720"/>
                  <a:pt x="5931313" y="0"/>
                </a:cubicBezTo>
                <a:cubicBezTo>
                  <a:pt x="6184072" y="-38720"/>
                  <a:pt x="6181329" y="-14385"/>
                  <a:pt x="6278642" y="0"/>
                </a:cubicBezTo>
                <a:cubicBezTo>
                  <a:pt x="6375955" y="14385"/>
                  <a:pt x="6917307" y="43159"/>
                  <a:pt x="7160323" y="0"/>
                </a:cubicBezTo>
                <a:cubicBezTo>
                  <a:pt x="7403339" y="-43159"/>
                  <a:pt x="7634792" y="23118"/>
                  <a:pt x="8042005" y="0"/>
                </a:cubicBezTo>
                <a:cubicBezTo>
                  <a:pt x="8449218" y="-23118"/>
                  <a:pt x="8304104" y="-1832"/>
                  <a:pt x="8389334" y="0"/>
                </a:cubicBezTo>
                <a:cubicBezTo>
                  <a:pt x="8474564" y="1832"/>
                  <a:pt x="8942965" y="10230"/>
                  <a:pt x="9271016" y="0"/>
                </a:cubicBezTo>
                <a:cubicBezTo>
                  <a:pt x="9599067" y="-10230"/>
                  <a:pt x="9572053" y="-15551"/>
                  <a:pt x="9725216" y="0"/>
                </a:cubicBezTo>
                <a:cubicBezTo>
                  <a:pt x="9878379" y="15551"/>
                  <a:pt x="10423753" y="6853"/>
                  <a:pt x="10687050" y="0"/>
                </a:cubicBezTo>
                <a:cubicBezTo>
                  <a:pt x="10694531" y="129709"/>
                  <a:pt x="10665616" y="434522"/>
                  <a:pt x="10687050" y="608083"/>
                </a:cubicBezTo>
                <a:cubicBezTo>
                  <a:pt x="10708484" y="781644"/>
                  <a:pt x="10686730" y="1101010"/>
                  <a:pt x="10687050" y="1289136"/>
                </a:cubicBezTo>
                <a:cubicBezTo>
                  <a:pt x="10687370" y="1477262"/>
                  <a:pt x="10720363" y="1735145"/>
                  <a:pt x="10687050" y="1970188"/>
                </a:cubicBezTo>
                <a:cubicBezTo>
                  <a:pt x="10653737" y="2205231"/>
                  <a:pt x="10677445" y="2343824"/>
                  <a:pt x="10687050" y="2468816"/>
                </a:cubicBezTo>
                <a:cubicBezTo>
                  <a:pt x="10696655" y="2593808"/>
                  <a:pt x="10667412" y="2876112"/>
                  <a:pt x="10687050" y="3003929"/>
                </a:cubicBezTo>
                <a:cubicBezTo>
                  <a:pt x="10706688" y="3131746"/>
                  <a:pt x="10656671" y="3368991"/>
                  <a:pt x="10687050" y="3648497"/>
                </a:cubicBezTo>
                <a:cubicBezTo>
                  <a:pt x="10467392" y="3622723"/>
                  <a:pt x="10075948" y="3679637"/>
                  <a:pt x="9912239" y="3648497"/>
                </a:cubicBezTo>
                <a:cubicBezTo>
                  <a:pt x="9748530" y="3617357"/>
                  <a:pt x="9694262" y="3653747"/>
                  <a:pt x="9564910" y="3648497"/>
                </a:cubicBezTo>
                <a:cubicBezTo>
                  <a:pt x="9435558" y="3643247"/>
                  <a:pt x="9363351" y="3645808"/>
                  <a:pt x="9217581" y="3648497"/>
                </a:cubicBezTo>
                <a:cubicBezTo>
                  <a:pt x="9071811" y="3651186"/>
                  <a:pt x="8707344" y="3657573"/>
                  <a:pt x="8335899" y="3648497"/>
                </a:cubicBezTo>
                <a:cubicBezTo>
                  <a:pt x="7964454" y="3639421"/>
                  <a:pt x="8143756" y="3659827"/>
                  <a:pt x="7988570" y="3648497"/>
                </a:cubicBezTo>
                <a:cubicBezTo>
                  <a:pt x="7833384" y="3637167"/>
                  <a:pt x="7442504" y="3630945"/>
                  <a:pt x="7106888" y="3648497"/>
                </a:cubicBezTo>
                <a:cubicBezTo>
                  <a:pt x="6771272" y="3666049"/>
                  <a:pt x="6654504" y="3655960"/>
                  <a:pt x="6438948" y="3648497"/>
                </a:cubicBezTo>
                <a:cubicBezTo>
                  <a:pt x="6223392" y="3641034"/>
                  <a:pt x="6008552" y="3619565"/>
                  <a:pt x="5771007" y="3648497"/>
                </a:cubicBezTo>
                <a:cubicBezTo>
                  <a:pt x="5533462" y="3677429"/>
                  <a:pt x="5566950" y="3663432"/>
                  <a:pt x="5423678" y="3648497"/>
                </a:cubicBezTo>
                <a:cubicBezTo>
                  <a:pt x="5280406" y="3633562"/>
                  <a:pt x="5081404" y="3676516"/>
                  <a:pt x="4862608" y="3648497"/>
                </a:cubicBezTo>
                <a:cubicBezTo>
                  <a:pt x="4643812" y="3620479"/>
                  <a:pt x="4539114" y="3665612"/>
                  <a:pt x="4408408" y="3648497"/>
                </a:cubicBezTo>
                <a:cubicBezTo>
                  <a:pt x="4277702" y="3631382"/>
                  <a:pt x="4012333" y="3661451"/>
                  <a:pt x="3847338" y="3648497"/>
                </a:cubicBezTo>
                <a:cubicBezTo>
                  <a:pt x="3682343" y="3635544"/>
                  <a:pt x="3520391" y="3650183"/>
                  <a:pt x="3286268" y="3648497"/>
                </a:cubicBezTo>
                <a:cubicBezTo>
                  <a:pt x="3052145" y="3646812"/>
                  <a:pt x="2739573" y="3614174"/>
                  <a:pt x="2511457" y="3648497"/>
                </a:cubicBezTo>
                <a:cubicBezTo>
                  <a:pt x="2283341" y="3682820"/>
                  <a:pt x="2027287" y="3619276"/>
                  <a:pt x="1843516" y="3648497"/>
                </a:cubicBezTo>
                <a:cubicBezTo>
                  <a:pt x="1659745" y="3677718"/>
                  <a:pt x="1322126" y="3657802"/>
                  <a:pt x="961834" y="3648497"/>
                </a:cubicBezTo>
                <a:cubicBezTo>
                  <a:pt x="601542" y="3639192"/>
                  <a:pt x="686007" y="3642389"/>
                  <a:pt x="614505" y="3648497"/>
                </a:cubicBezTo>
                <a:cubicBezTo>
                  <a:pt x="543003" y="3654605"/>
                  <a:pt x="279620" y="3625038"/>
                  <a:pt x="0" y="3648497"/>
                </a:cubicBezTo>
                <a:cubicBezTo>
                  <a:pt x="21863" y="3452185"/>
                  <a:pt x="17893" y="3377659"/>
                  <a:pt x="0" y="3113384"/>
                </a:cubicBezTo>
                <a:cubicBezTo>
                  <a:pt x="-17893" y="2849109"/>
                  <a:pt x="21968" y="2754404"/>
                  <a:pt x="0" y="2578271"/>
                </a:cubicBezTo>
                <a:cubicBezTo>
                  <a:pt x="-21968" y="2402138"/>
                  <a:pt x="15643" y="2199455"/>
                  <a:pt x="0" y="2079643"/>
                </a:cubicBezTo>
                <a:cubicBezTo>
                  <a:pt x="-15643" y="1959831"/>
                  <a:pt x="17841" y="1671841"/>
                  <a:pt x="0" y="1435075"/>
                </a:cubicBezTo>
                <a:cubicBezTo>
                  <a:pt x="-17841" y="1198309"/>
                  <a:pt x="-23600" y="1014984"/>
                  <a:pt x="0" y="790508"/>
                </a:cubicBezTo>
                <a:cubicBezTo>
                  <a:pt x="23600" y="566032"/>
                  <a:pt x="-20885" y="306570"/>
                  <a:pt x="0" y="0"/>
                </a:cubicBezTo>
                <a:close/>
              </a:path>
            </a:pathLst>
          </a:custGeom>
          <a:solidFill>
            <a:schemeClr val="bg1">
              <a:lumMod val="95000"/>
            </a:schemeClr>
          </a:solidFill>
          <a:ln>
            <a:solidFill>
              <a:srgbClr val="002060"/>
            </a:solidFill>
            <a:extLst>
              <a:ext uri="{C807C97D-BFC1-408E-A445-0C87EB9F89A2}">
                <ask:lineSketchStyleProps xmlns:ask="http://schemas.microsoft.com/office/drawing/2018/sketchyshapes" sd="212219442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nSpc>
                <a:spcPct val="150000"/>
              </a:lnSpc>
              <a:buFont typeface="Arial" panose="020B0604020202020204" pitchFamily="34" charset="0"/>
              <a:buChar char="•"/>
            </a:pPr>
            <a:r>
              <a:rPr lang="en-US" sz="2400">
                <a:solidFill>
                  <a:schemeClr val="tx1"/>
                </a:solidFill>
                <a:latin typeface="Times New Roman"/>
                <a:ea typeface="+mn-lt"/>
                <a:cs typeface="+mn-lt"/>
              </a:rPr>
              <a:t>Target: </a:t>
            </a:r>
            <a:r>
              <a:rPr lang="en-US" sz="2400" b="1">
                <a:solidFill>
                  <a:schemeClr val="tx1"/>
                </a:solidFill>
                <a:latin typeface="Times New Roman"/>
                <a:ea typeface="+mn-lt"/>
                <a:cs typeface="+mn-lt"/>
              </a:rPr>
              <a:t>High-purity methyl benzoate</a:t>
            </a:r>
            <a:r>
              <a:rPr lang="en-US" sz="2400">
                <a:solidFill>
                  <a:schemeClr val="tx1"/>
                </a:solidFill>
                <a:latin typeface="Times New Roman"/>
                <a:ea typeface="+mn-lt"/>
                <a:cs typeface="+mn-lt"/>
              </a:rPr>
              <a:t> to meet industrial-grade standards (~99%).</a:t>
            </a:r>
            <a:endParaRPr lang="en-US">
              <a:solidFill>
                <a:schemeClr val="tx1"/>
              </a:solidFill>
              <a:latin typeface="Times New Roman"/>
              <a:ea typeface="+mn-lt"/>
              <a:cs typeface="Times New Roman" panose="02020603050405020304" pitchFamily="18" charset="0"/>
            </a:endParaRPr>
          </a:p>
          <a:p>
            <a:pPr marL="342900" indent="-342900">
              <a:lnSpc>
                <a:spcPct val="150000"/>
              </a:lnSpc>
              <a:buFont typeface="Arial" panose="020B0604020202020204" pitchFamily="34" charset="0"/>
              <a:buChar char="•"/>
            </a:pPr>
            <a:r>
              <a:rPr lang="en-US" sz="2400" b="1">
                <a:solidFill>
                  <a:schemeClr val="tx1"/>
                </a:solidFill>
                <a:latin typeface="Times New Roman"/>
                <a:ea typeface="+mn-lt"/>
                <a:cs typeface="+mn-lt"/>
              </a:rPr>
              <a:t>Impurities</a:t>
            </a:r>
            <a:r>
              <a:rPr lang="en-US" sz="2400">
                <a:solidFill>
                  <a:schemeClr val="tx1"/>
                </a:solidFill>
                <a:latin typeface="Times New Roman"/>
                <a:ea typeface="+mn-lt"/>
                <a:cs typeface="+mn-lt"/>
              </a:rPr>
              <a:t>: Trace phthalic acid (in Benzoic Acid)</a:t>
            </a:r>
            <a:endParaRPr lang="en-US">
              <a:solidFill>
                <a:schemeClr val="tx1"/>
              </a:solidFill>
              <a:latin typeface="Times New Roman"/>
              <a:ea typeface="+mn-lt"/>
              <a:cs typeface="+mn-lt"/>
            </a:endParaRPr>
          </a:p>
          <a:p>
            <a:pPr marL="342900" indent="-342900">
              <a:lnSpc>
                <a:spcPct val="150000"/>
              </a:lnSpc>
              <a:buFont typeface="Arial" panose="020B0604020202020204" pitchFamily="34" charset="0"/>
              <a:buChar char="•"/>
            </a:pPr>
            <a:r>
              <a:rPr lang="en-US" sz="2400" b="1">
                <a:solidFill>
                  <a:schemeClr val="tx1"/>
                </a:solidFill>
                <a:latin typeface="Times New Roman"/>
                <a:ea typeface="+mn-lt"/>
                <a:cs typeface="+mn-lt"/>
              </a:rPr>
              <a:t>UNIQUAC</a:t>
            </a:r>
            <a:r>
              <a:rPr lang="en-US" sz="2400">
                <a:solidFill>
                  <a:schemeClr val="tx1"/>
                </a:solidFill>
                <a:latin typeface="Times New Roman"/>
                <a:ea typeface="+mn-lt"/>
                <a:cs typeface="+mn-lt"/>
              </a:rPr>
              <a:t> thermodynamic model ensures accurate phase behavior and separation efficiency.</a:t>
            </a:r>
            <a:endParaRPr lang="en-US">
              <a:solidFill>
                <a:schemeClr val="tx1"/>
              </a:solidFill>
              <a:latin typeface="Times New Roman"/>
              <a:ea typeface="+mn-lt"/>
              <a:cs typeface="+mn-lt"/>
            </a:endParaRPr>
          </a:p>
          <a:p>
            <a:pPr marL="342900" indent="-342900">
              <a:lnSpc>
                <a:spcPct val="150000"/>
              </a:lnSpc>
              <a:buFont typeface="Arial" panose="020B0604020202020204" pitchFamily="34" charset="0"/>
              <a:buChar char="•"/>
            </a:pPr>
            <a:r>
              <a:rPr lang="en-US" sz="2400">
                <a:solidFill>
                  <a:schemeClr val="tx1"/>
                </a:solidFill>
                <a:latin typeface="Times New Roman"/>
                <a:ea typeface="+mn-lt"/>
                <a:cs typeface="+mn-lt"/>
              </a:rPr>
              <a:t>No azeotrope formation → simplifies purification &amp; lowers separation costs.</a:t>
            </a:r>
            <a:endParaRPr lang="en-US" sz="2400">
              <a:solidFill>
                <a:schemeClr val="tx1"/>
              </a:solidFill>
              <a:latin typeface="Times New Roman"/>
              <a:cs typeface="Times New Roman"/>
            </a:endParaRPr>
          </a:p>
        </p:txBody>
      </p:sp>
      <p:sp>
        <p:nvSpPr>
          <p:cNvPr id="2" name="Slide Number Placeholder 1">
            <a:extLst>
              <a:ext uri="{FF2B5EF4-FFF2-40B4-BE49-F238E27FC236}">
                <a16:creationId xmlns:a16="http://schemas.microsoft.com/office/drawing/2014/main" id="{90F27EE7-D3B2-ED8C-A03C-25454107131C}"/>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468784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2C10C-4DBD-4CDE-CBB3-CD4371C7D8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55AD3A1-5AD3-F9AF-5099-F634849119F3}"/>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Feedstock Quality</a:t>
            </a:r>
            <a:endParaRPr lang="en-US">
              <a:latin typeface="Times New Roman"/>
              <a:cs typeface="Times New Roman"/>
            </a:endParaRPr>
          </a:p>
        </p:txBody>
      </p:sp>
      <p:sp>
        <p:nvSpPr>
          <p:cNvPr id="5" name="Rectangle 4">
            <a:extLst>
              <a:ext uri="{FF2B5EF4-FFF2-40B4-BE49-F238E27FC236}">
                <a16:creationId xmlns:a16="http://schemas.microsoft.com/office/drawing/2014/main" id="{EFE3A085-9D5B-CBED-43E2-9F3B0FDF9837}"/>
              </a:ext>
            </a:extLst>
          </p:cNvPr>
          <p:cNvSpPr/>
          <p:nvPr/>
        </p:nvSpPr>
        <p:spPr>
          <a:xfrm>
            <a:off x="719667" y="1580215"/>
            <a:ext cx="10752666" cy="4181873"/>
          </a:xfrm>
          <a:custGeom>
            <a:avLst/>
            <a:gdLst>
              <a:gd name="csX0" fmla="*/ 0 w 10752666"/>
              <a:gd name="csY0" fmla="*/ 0 h 4181873"/>
              <a:gd name="csX1" fmla="*/ 672042 w 10752666"/>
              <a:gd name="csY1" fmla="*/ 0 h 4181873"/>
              <a:gd name="csX2" fmla="*/ 1021503 w 10752666"/>
              <a:gd name="csY2" fmla="*/ 0 h 4181873"/>
              <a:gd name="csX3" fmla="*/ 1478492 w 10752666"/>
              <a:gd name="csY3" fmla="*/ 0 h 4181873"/>
              <a:gd name="csX4" fmla="*/ 1827953 w 10752666"/>
              <a:gd name="csY4" fmla="*/ 0 h 4181873"/>
              <a:gd name="csX5" fmla="*/ 2284942 w 10752666"/>
              <a:gd name="csY5" fmla="*/ 0 h 4181873"/>
              <a:gd name="csX6" fmla="*/ 3172036 w 10752666"/>
              <a:gd name="csY6" fmla="*/ 0 h 4181873"/>
              <a:gd name="csX7" fmla="*/ 4059131 w 10752666"/>
              <a:gd name="csY7" fmla="*/ 0 h 4181873"/>
              <a:gd name="csX8" fmla="*/ 4408593 w 10752666"/>
              <a:gd name="csY8" fmla="*/ 0 h 4181873"/>
              <a:gd name="csX9" fmla="*/ 5188161 w 10752666"/>
              <a:gd name="csY9" fmla="*/ 0 h 4181873"/>
              <a:gd name="csX10" fmla="*/ 5860203 w 10752666"/>
              <a:gd name="csY10" fmla="*/ 0 h 4181873"/>
              <a:gd name="csX11" fmla="*/ 6639771 w 10752666"/>
              <a:gd name="csY11" fmla="*/ 0 h 4181873"/>
              <a:gd name="csX12" fmla="*/ 7526866 w 10752666"/>
              <a:gd name="csY12" fmla="*/ 0 h 4181873"/>
              <a:gd name="csX13" fmla="*/ 7876328 w 10752666"/>
              <a:gd name="csY13" fmla="*/ 0 h 4181873"/>
              <a:gd name="csX14" fmla="*/ 8655896 w 10752666"/>
              <a:gd name="csY14" fmla="*/ 0 h 4181873"/>
              <a:gd name="csX15" fmla="*/ 9435464 w 10752666"/>
              <a:gd name="csY15" fmla="*/ 0 h 4181873"/>
              <a:gd name="csX16" fmla="*/ 9892453 w 10752666"/>
              <a:gd name="csY16" fmla="*/ 0 h 4181873"/>
              <a:gd name="csX17" fmla="*/ 10752666 w 10752666"/>
              <a:gd name="csY17" fmla="*/ 0 h 4181873"/>
              <a:gd name="csX18" fmla="*/ 10752666 w 10752666"/>
              <a:gd name="csY18" fmla="*/ 780616 h 4181873"/>
              <a:gd name="csX19" fmla="*/ 10752666 w 10752666"/>
              <a:gd name="csY19" fmla="*/ 1393958 h 4181873"/>
              <a:gd name="csX20" fmla="*/ 10752666 w 10752666"/>
              <a:gd name="csY20" fmla="*/ 2132755 h 4181873"/>
              <a:gd name="csX21" fmla="*/ 10752666 w 10752666"/>
              <a:gd name="csY21" fmla="*/ 2746097 h 4181873"/>
              <a:gd name="csX22" fmla="*/ 10752666 w 10752666"/>
              <a:gd name="csY22" fmla="*/ 3401257 h 4181873"/>
              <a:gd name="csX23" fmla="*/ 10752666 w 10752666"/>
              <a:gd name="csY23" fmla="*/ 4181873 h 4181873"/>
              <a:gd name="csX24" fmla="*/ 9865571 w 10752666"/>
              <a:gd name="csY24" fmla="*/ 4181873 h 4181873"/>
              <a:gd name="csX25" fmla="*/ 9408583 w 10752666"/>
              <a:gd name="csY25" fmla="*/ 4181873 h 4181873"/>
              <a:gd name="csX26" fmla="*/ 9059121 w 10752666"/>
              <a:gd name="csY26" fmla="*/ 4181873 h 4181873"/>
              <a:gd name="csX27" fmla="*/ 8387079 w 10752666"/>
              <a:gd name="csY27" fmla="*/ 4181873 h 4181873"/>
              <a:gd name="csX28" fmla="*/ 7607511 w 10752666"/>
              <a:gd name="csY28" fmla="*/ 4181873 h 4181873"/>
              <a:gd name="csX29" fmla="*/ 7150523 w 10752666"/>
              <a:gd name="csY29" fmla="*/ 4181873 h 4181873"/>
              <a:gd name="csX30" fmla="*/ 6801061 w 10752666"/>
              <a:gd name="csY30" fmla="*/ 4181873 h 4181873"/>
              <a:gd name="csX31" fmla="*/ 6344073 w 10752666"/>
              <a:gd name="csY31" fmla="*/ 4181873 h 4181873"/>
              <a:gd name="csX32" fmla="*/ 5779558 w 10752666"/>
              <a:gd name="csY32" fmla="*/ 4181873 h 4181873"/>
              <a:gd name="csX33" fmla="*/ 4892463 w 10752666"/>
              <a:gd name="csY33" fmla="*/ 4181873 h 4181873"/>
              <a:gd name="csX34" fmla="*/ 4543001 w 10752666"/>
              <a:gd name="csY34" fmla="*/ 4181873 h 4181873"/>
              <a:gd name="csX35" fmla="*/ 3763433 w 10752666"/>
              <a:gd name="csY35" fmla="*/ 4181873 h 4181873"/>
              <a:gd name="csX36" fmla="*/ 2876338 w 10752666"/>
              <a:gd name="csY36" fmla="*/ 4181873 h 4181873"/>
              <a:gd name="csX37" fmla="*/ 2204297 w 10752666"/>
              <a:gd name="csY37" fmla="*/ 4181873 h 4181873"/>
              <a:gd name="csX38" fmla="*/ 1854835 w 10752666"/>
              <a:gd name="csY38" fmla="*/ 4181873 h 4181873"/>
              <a:gd name="csX39" fmla="*/ 1075267 w 10752666"/>
              <a:gd name="csY39" fmla="*/ 4181873 h 4181873"/>
              <a:gd name="csX40" fmla="*/ 0 w 10752666"/>
              <a:gd name="csY40" fmla="*/ 4181873 h 4181873"/>
              <a:gd name="csX41" fmla="*/ 0 w 10752666"/>
              <a:gd name="csY41" fmla="*/ 3610350 h 4181873"/>
              <a:gd name="csX42" fmla="*/ 0 w 10752666"/>
              <a:gd name="csY42" fmla="*/ 2955190 h 4181873"/>
              <a:gd name="csX43" fmla="*/ 0 w 10752666"/>
              <a:gd name="csY43" fmla="*/ 2174574 h 4181873"/>
              <a:gd name="csX44" fmla="*/ 0 w 10752666"/>
              <a:gd name="csY44" fmla="*/ 1561233 h 4181873"/>
              <a:gd name="csX45" fmla="*/ 0 w 10752666"/>
              <a:gd name="csY45" fmla="*/ 906072 h 4181873"/>
              <a:gd name="csX46" fmla="*/ 0 w 10752666"/>
              <a:gd name="csY46" fmla="*/ 0 h 4181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752666" h="4181873" fill="none" extrusionOk="0">
                <a:moveTo>
                  <a:pt x="0" y="0"/>
                </a:moveTo>
                <a:cubicBezTo>
                  <a:pt x="199219" y="4953"/>
                  <a:pt x="461766" y="-16123"/>
                  <a:pt x="672042" y="0"/>
                </a:cubicBezTo>
                <a:cubicBezTo>
                  <a:pt x="882318" y="16123"/>
                  <a:pt x="896911" y="-5319"/>
                  <a:pt x="1021503" y="0"/>
                </a:cubicBezTo>
                <a:cubicBezTo>
                  <a:pt x="1146095" y="5319"/>
                  <a:pt x="1296287" y="-20699"/>
                  <a:pt x="1478492" y="0"/>
                </a:cubicBezTo>
                <a:cubicBezTo>
                  <a:pt x="1660697" y="20699"/>
                  <a:pt x="1754341" y="163"/>
                  <a:pt x="1827953" y="0"/>
                </a:cubicBezTo>
                <a:cubicBezTo>
                  <a:pt x="1901565" y="-163"/>
                  <a:pt x="2162137" y="-22205"/>
                  <a:pt x="2284942" y="0"/>
                </a:cubicBezTo>
                <a:cubicBezTo>
                  <a:pt x="2407747" y="22205"/>
                  <a:pt x="2942329" y="-9135"/>
                  <a:pt x="3172036" y="0"/>
                </a:cubicBezTo>
                <a:cubicBezTo>
                  <a:pt x="3401743" y="9135"/>
                  <a:pt x="3803095" y="-22011"/>
                  <a:pt x="4059131" y="0"/>
                </a:cubicBezTo>
                <a:cubicBezTo>
                  <a:pt x="4315167" y="22011"/>
                  <a:pt x="4308147" y="13030"/>
                  <a:pt x="4408593" y="0"/>
                </a:cubicBezTo>
                <a:cubicBezTo>
                  <a:pt x="4509039" y="-13030"/>
                  <a:pt x="4828879" y="-19916"/>
                  <a:pt x="5188161" y="0"/>
                </a:cubicBezTo>
                <a:cubicBezTo>
                  <a:pt x="5547443" y="19916"/>
                  <a:pt x="5583709" y="-28541"/>
                  <a:pt x="5860203" y="0"/>
                </a:cubicBezTo>
                <a:cubicBezTo>
                  <a:pt x="6136697" y="28541"/>
                  <a:pt x="6398434" y="-24485"/>
                  <a:pt x="6639771" y="0"/>
                </a:cubicBezTo>
                <a:cubicBezTo>
                  <a:pt x="6881108" y="24485"/>
                  <a:pt x="7126898" y="40253"/>
                  <a:pt x="7526866" y="0"/>
                </a:cubicBezTo>
                <a:cubicBezTo>
                  <a:pt x="7926834" y="-40253"/>
                  <a:pt x="7733699" y="-1788"/>
                  <a:pt x="7876328" y="0"/>
                </a:cubicBezTo>
                <a:cubicBezTo>
                  <a:pt x="8018957" y="1788"/>
                  <a:pt x="8320316" y="-16562"/>
                  <a:pt x="8655896" y="0"/>
                </a:cubicBezTo>
                <a:cubicBezTo>
                  <a:pt x="8991476" y="16562"/>
                  <a:pt x="9058788" y="29042"/>
                  <a:pt x="9435464" y="0"/>
                </a:cubicBezTo>
                <a:cubicBezTo>
                  <a:pt x="9812140" y="-29042"/>
                  <a:pt x="9764567" y="13458"/>
                  <a:pt x="9892453" y="0"/>
                </a:cubicBezTo>
                <a:cubicBezTo>
                  <a:pt x="10020339" y="-13458"/>
                  <a:pt x="10446221" y="17788"/>
                  <a:pt x="10752666" y="0"/>
                </a:cubicBezTo>
                <a:cubicBezTo>
                  <a:pt x="10752179" y="280499"/>
                  <a:pt x="10764362" y="499625"/>
                  <a:pt x="10752666" y="780616"/>
                </a:cubicBezTo>
                <a:cubicBezTo>
                  <a:pt x="10740970" y="1061607"/>
                  <a:pt x="10729615" y="1257707"/>
                  <a:pt x="10752666" y="1393958"/>
                </a:cubicBezTo>
                <a:cubicBezTo>
                  <a:pt x="10775717" y="1530209"/>
                  <a:pt x="10750662" y="1967596"/>
                  <a:pt x="10752666" y="2132755"/>
                </a:cubicBezTo>
                <a:cubicBezTo>
                  <a:pt x="10754670" y="2297914"/>
                  <a:pt x="10746712" y="2554491"/>
                  <a:pt x="10752666" y="2746097"/>
                </a:cubicBezTo>
                <a:cubicBezTo>
                  <a:pt x="10758620" y="2937703"/>
                  <a:pt x="10744735" y="3190210"/>
                  <a:pt x="10752666" y="3401257"/>
                </a:cubicBezTo>
                <a:cubicBezTo>
                  <a:pt x="10760597" y="3612304"/>
                  <a:pt x="10767328" y="4022047"/>
                  <a:pt x="10752666" y="4181873"/>
                </a:cubicBezTo>
                <a:cubicBezTo>
                  <a:pt x="10442024" y="4164614"/>
                  <a:pt x="10148106" y="4174311"/>
                  <a:pt x="9865571" y="4181873"/>
                </a:cubicBezTo>
                <a:cubicBezTo>
                  <a:pt x="9583037" y="4189435"/>
                  <a:pt x="9507572" y="4189929"/>
                  <a:pt x="9408583" y="4181873"/>
                </a:cubicBezTo>
                <a:cubicBezTo>
                  <a:pt x="9309594" y="4173817"/>
                  <a:pt x="9131158" y="4170072"/>
                  <a:pt x="9059121" y="4181873"/>
                </a:cubicBezTo>
                <a:cubicBezTo>
                  <a:pt x="8987084" y="4193674"/>
                  <a:pt x="8611799" y="4156843"/>
                  <a:pt x="8387079" y="4181873"/>
                </a:cubicBezTo>
                <a:cubicBezTo>
                  <a:pt x="8162359" y="4206903"/>
                  <a:pt x="7909898" y="4172817"/>
                  <a:pt x="7607511" y="4181873"/>
                </a:cubicBezTo>
                <a:cubicBezTo>
                  <a:pt x="7305124" y="4190929"/>
                  <a:pt x="7297214" y="4177964"/>
                  <a:pt x="7150523" y="4181873"/>
                </a:cubicBezTo>
                <a:cubicBezTo>
                  <a:pt x="7003832" y="4185782"/>
                  <a:pt x="6911378" y="4192444"/>
                  <a:pt x="6801061" y="4181873"/>
                </a:cubicBezTo>
                <a:cubicBezTo>
                  <a:pt x="6690744" y="4171302"/>
                  <a:pt x="6567465" y="4161520"/>
                  <a:pt x="6344073" y="4181873"/>
                </a:cubicBezTo>
                <a:cubicBezTo>
                  <a:pt x="6120681" y="4202226"/>
                  <a:pt x="6028429" y="4186417"/>
                  <a:pt x="5779558" y="4181873"/>
                </a:cubicBezTo>
                <a:cubicBezTo>
                  <a:pt x="5530688" y="4177329"/>
                  <a:pt x="5097398" y="4176843"/>
                  <a:pt x="4892463" y="4181873"/>
                </a:cubicBezTo>
                <a:cubicBezTo>
                  <a:pt x="4687529" y="4186903"/>
                  <a:pt x="4691024" y="4172789"/>
                  <a:pt x="4543001" y="4181873"/>
                </a:cubicBezTo>
                <a:cubicBezTo>
                  <a:pt x="4394978" y="4190957"/>
                  <a:pt x="4128349" y="4194162"/>
                  <a:pt x="3763433" y="4181873"/>
                </a:cubicBezTo>
                <a:cubicBezTo>
                  <a:pt x="3398517" y="4169584"/>
                  <a:pt x="3171055" y="4222169"/>
                  <a:pt x="2876338" y="4181873"/>
                </a:cubicBezTo>
                <a:cubicBezTo>
                  <a:pt x="2581621" y="4141577"/>
                  <a:pt x="2415017" y="4163806"/>
                  <a:pt x="2204297" y="4181873"/>
                </a:cubicBezTo>
                <a:cubicBezTo>
                  <a:pt x="1993577" y="4199940"/>
                  <a:pt x="1942971" y="4182324"/>
                  <a:pt x="1854835" y="4181873"/>
                </a:cubicBezTo>
                <a:cubicBezTo>
                  <a:pt x="1766699" y="4181422"/>
                  <a:pt x="1239529" y="4212470"/>
                  <a:pt x="1075267" y="4181873"/>
                </a:cubicBezTo>
                <a:cubicBezTo>
                  <a:pt x="911005" y="4151276"/>
                  <a:pt x="301629" y="4202232"/>
                  <a:pt x="0" y="4181873"/>
                </a:cubicBezTo>
                <a:cubicBezTo>
                  <a:pt x="-21491" y="3902254"/>
                  <a:pt x="6160" y="3737513"/>
                  <a:pt x="0" y="3610350"/>
                </a:cubicBezTo>
                <a:cubicBezTo>
                  <a:pt x="-6160" y="3483187"/>
                  <a:pt x="-16456" y="3119294"/>
                  <a:pt x="0" y="2955190"/>
                </a:cubicBezTo>
                <a:cubicBezTo>
                  <a:pt x="16456" y="2791086"/>
                  <a:pt x="30947" y="2443415"/>
                  <a:pt x="0" y="2174574"/>
                </a:cubicBezTo>
                <a:cubicBezTo>
                  <a:pt x="-30947" y="1905733"/>
                  <a:pt x="-8999" y="1799804"/>
                  <a:pt x="0" y="1561233"/>
                </a:cubicBezTo>
                <a:cubicBezTo>
                  <a:pt x="8999" y="1322662"/>
                  <a:pt x="-6509" y="1149714"/>
                  <a:pt x="0" y="906072"/>
                </a:cubicBezTo>
                <a:cubicBezTo>
                  <a:pt x="6509" y="662430"/>
                  <a:pt x="43486" y="451195"/>
                  <a:pt x="0" y="0"/>
                </a:cubicBezTo>
                <a:close/>
              </a:path>
              <a:path w="10752666" h="4181873" stroke="0" extrusionOk="0">
                <a:moveTo>
                  <a:pt x="0" y="0"/>
                </a:moveTo>
                <a:cubicBezTo>
                  <a:pt x="146959" y="-6396"/>
                  <a:pt x="197262" y="-546"/>
                  <a:pt x="349462" y="0"/>
                </a:cubicBezTo>
                <a:cubicBezTo>
                  <a:pt x="501662" y="546"/>
                  <a:pt x="627584" y="22715"/>
                  <a:pt x="806450" y="0"/>
                </a:cubicBezTo>
                <a:cubicBezTo>
                  <a:pt x="985316" y="-22715"/>
                  <a:pt x="1283128" y="-15839"/>
                  <a:pt x="1693545" y="0"/>
                </a:cubicBezTo>
                <a:cubicBezTo>
                  <a:pt x="2103963" y="15839"/>
                  <a:pt x="2026309" y="-10063"/>
                  <a:pt x="2150533" y="0"/>
                </a:cubicBezTo>
                <a:cubicBezTo>
                  <a:pt x="2274757" y="10063"/>
                  <a:pt x="2759508" y="-9775"/>
                  <a:pt x="3037628" y="0"/>
                </a:cubicBezTo>
                <a:cubicBezTo>
                  <a:pt x="3315748" y="9775"/>
                  <a:pt x="3377939" y="33570"/>
                  <a:pt x="3709670" y="0"/>
                </a:cubicBezTo>
                <a:cubicBezTo>
                  <a:pt x="4041401" y="-33570"/>
                  <a:pt x="4046131" y="-1558"/>
                  <a:pt x="4274185" y="0"/>
                </a:cubicBezTo>
                <a:cubicBezTo>
                  <a:pt x="4502239" y="1558"/>
                  <a:pt x="4596515" y="17794"/>
                  <a:pt x="4731173" y="0"/>
                </a:cubicBezTo>
                <a:cubicBezTo>
                  <a:pt x="4865831" y="-17794"/>
                  <a:pt x="5085720" y="-9287"/>
                  <a:pt x="5188161" y="0"/>
                </a:cubicBezTo>
                <a:cubicBezTo>
                  <a:pt x="5290602" y="9287"/>
                  <a:pt x="5750473" y="-28152"/>
                  <a:pt x="5967730" y="0"/>
                </a:cubicBezTo>
                <a:cubicBezTo>
                  <a:pt x="6184987" y="28152"/>
                  <a:pt x="6224767" y="-5077"/>
                  <a:pt x="6317191" y="0"/>
                </a:cubicBezTo>
                <a:cubicBezTo>
                  <a:pt x="6409615" y="5077"/>
                  <a:pt x="6842802" y="-38561"/>
                  <a:pt x="7204286" y="0"/>
                </a:cubicBezTo>
                <a:cubicBezTo>
                  <a:pt x="7565771" y="38561"/>
                  <a:pt x="7776695" y="-15969"/>
                  <a:pt x="8091381" y="0"/>
                </a:cubicBezTo>
                <a:cubicBezTo>
                  <a:pt x="8406067" y="15969"/>
                  <a:pt x="8278475" y="-9248"/>
                  <a:pt x="8440843" y="0"/>
                </a:cubicBezTo>
                <a:cubicBezTo>
                  <a:pt x="8603211" y="9248"/>
                  <a:pt x="8889807" y="-27042"/>
                  <a:pt x="9327938" y="0"/>
                </a:cubicBezTo>
                <a:cubicBezTo>
                  <a:pt x="9766070" y="27042"/>
                  <a:pt x="9598051" y="1739"/>
                  <a:pt x="9784926" y="0"/>
                </a:cubicBezTo>
                <a:cubicBezTo>
                  <a:pt x="9971801" y="-1739"/>
                  <a:pt x="10383476" y="-43818"/>
                  <a:pt x="10752666" y="0"/>
                </a:cubicBezTo>
                <a:cubicBezTo>
                  <a:pt x="10776646" y="332703"/>
                  <a:pt x="10753507" y="481174"/>
                  <a:pt x="10752666" y="696979"/>
                </a:cubicBezTo>
                <a:cubicBezTo>
                  <a:pt x="10751825" y="912784"/>
                  <a:pt x="10769158" y="1130083"/>
                  <a:pt x="10752666" y="1477595"/>
                </a:cubicBezTo>
                <a:cubicBezTo>
                  <a:pt x="10736174" y="1825107"/>
                  <a:pt x="10725242" y="1996347"/>
                  <a:pt x="10752666" y="2258211"/>
                </a:cubicBezTo>
                <a:cubicBezTo>
                  <a:pt x="10780090" y="2520075"/>
                  <a:pt x="10737782" y="2692989"/>
                  <a:pt x="10752666" y="2829734"/>
                </a:cubicBezTo>
                <a:cubicBezTo>
                  <a:pt x="10767550" y="2966479"/>
                  <a:pt x="10737929" y="3211073"/>
                  <a:pt x="10752666" y="3443075"/>
                </a:cubicBezTo>
                <a:cubicBezTo>
                  <a:pt x="10767403" y="3675077"/>
                  <a:pt x="10715923" y="3896493"/>
                  <a:pt x="10752666" y="4181873"/>
                </a:cubicBezTo>
                <a:cubicBezTo>
                  <a:pt x="10520511" y="4168597"/>
                  <a:pt x="10221395" y="4160920"/>
                  <a:pt x="9973098" y="4181873"/>
                </a:cubicBezTo>
                <a:cubicBezTo>
                  <a:pt x="9724801" y="4202826"/>
                  <a:pt x="9713823" y="4165845"/>
                  <a:pt x="9623636" y="4181873"/>
                </a:cubicBezTo>
                <a:cubicBezTo>
                  <a:pt x="9533449" y="4197901"/>
                  <a:pt x="9359340" y="4174789"/>
                  <a:pt x="9274174" y="4181873"/>
                </a:cubicBezTo>
                <a:cubicBezTo>
                  <a:pt x="9189008" y="4188957"/>
                  <a:pt x="8707333" y="4211060"/>
                  <a:pt x="8387079" y="4181873"/>
                </a:cubicBezTo>
                <a:cubicBezTo>
                  <a:pt x="8066826" y="4152686"/>
                  <a:pt x="8211314" y="4173481"/>
                  <a:pt x="8037618" y="4181873"/>
                </a:cubicBezTo>
                <a:cubicBezTo>
                  <a:pt x="7863922" y="4190265"/>
                  <a:pt x="7402992" y="4186852"/>
                  <a:pt x="7150523" y="4181873"/>
                </a:cubicBezTo>
                <a:cubicBezTo>
                  <a:pt x="6898055" y="4176894"/>
                  <a:pt x="6755965" y="4178334"/>
                  <a:pt x="6478481" y="4181873"/>
                </a:cubicBezTo>
                <a:cubicBezTo>
                  <a:pt x="6200997" y="4185412"/>
                  <a:pt x="5987147" y="4180324"/>
                  <a:pt x="5806440" y="4181873"/>
                </a:cubicBezTo>
                <a:cubicBezTo>
                  <a:pt x="5625733" y="4183422"/>
                  <a:pt x="5588776" y="4196280"/>
                  <a:pt x="5456978" y="4181873"/>
                </a:cubicBezTo>
                <a:cubicBezTo>
                  <a:pt x="5325180" y="4167466"/>
                  <a:pt x="5063842" y="4185180"/>
                  <a:pt x="4892463" y="4181873"/>
                </a:cubicBezTo>
                <a:cubicBezTo>
                  <a:pt x="4721085" y="4178566"/>
                  <a:pt x="4641309" y="4200494"/>
                  <a:pt x="4435475" y="4181873"/>
                </a:cubicBezTo>
                <a:cubicBezTo>
                  <a:pt x="4229641" y="4163252"/>
                  <a:pt x="4069662" y="4197304"/>
                  <a:pt x="3870960" y="4181873"/>
                </a:cubicBezTo>
                <a:cubicBezTo>
                  <a:pt x="3672259" y="4166442"/>
                  <a:pt x="3426133" y="4165684"/>
                  <a:pt x="3306445" y="4181873"/>
                </a:cubicBezTo>
                <a:cubicBezTo>
                  <a:pt x="3186758" y="4198062"/>
                  <a:pt x="2694839" y="4204465"/>
                  <a:pt x="2526877" y="4181873"/>
                </a:cubicBezTo>
                <a:cubicBezTo>
                  <a:pt x="2358915" y="4159281"/>
                  <a:pt x="2073908" y="4152321"/>
                  <a:pt x="1854835" y="4181873"/>
                </a:cubicBezTo>
                <a:cubicBezTo>
                  <a:pt x="1635762" y="4211425"/>
                  <a:pt x="1340988" y="4222016"/>
                  <a:pt x="967740" y="4181873"/>
                </a:cubicBezTo>
                <a:cubicBezTo>
                  <a:pt x="594492" y="4141730"/>
                  <a:pt x="780362" y="4178770"/>
                  <a:pt x="618278" y="4181873"/>
                </a:cubicBezTo>
                <a:cubicBezTo>
                  <a:pt x="456194" y="4184976"/>
                  <a:pt x="277714" y="4161956"/>
                  <a:pt x="0" y="4181873"/>
                </a:cubicBezTo>
                <a:cubicBezTo>
                  <a:pt x="21245" y="3887538"/>
                  <a:pt x="-20860" y="3733971"/>
                  <a:pt x="0" y="3568532"/>
                </a:cubicBezTo>
                <a:cubicBezTo>
                  <a:pt x="20860" y="3403093"/>
                  <a:pt x="17477" y="3203117"/>
                  <a:pt x="0" y="2955190"/>
                </a:cubicBezTo>
                <a:cubicBezTo>
                  <a:pt x="-17477" y="2707263"/>
                  <a:pt x="-26767" y="2614076"/>
                  <a:pt x="0" y="2383668"/>
                </a:cubicBezTo>
                <a:cubicBezTo>
                  <a:pt x="26767" y="2153260"/>
                  <a:pt x="16719" y="1948384"/>
                  <a:pt x="0" y="1644870"/>
                </a:cubicBezTo>
                <a:cubicBezTo>
                  <a:pt x="-16719" y="1341356"/>
                  <a:pt x="13357" y="1159982"/>
                  <a:pt x="0" y="906072"/>
                </a:cubicBezTo>
                <a:cubicBezTo>
                  <a:pt x="-13357" y="652162"/>
                  <a:pt x="16130" y="427817"/>
                  <a:pt x="0" y="0"/>
                </a:cubicBezTo>
                <a:close/>
              </a:path>
            </a:pathLst>
          </a:custGeom>
          <a:solidFill>
            <a:schemeClr val="bg1">
              <a:lumMod val="95000"/>
            </a:schemeClr>
          </a:solidFill>
          <a:ln>
            <a:solidFill>
              <a:srgbClr val="002060"/>
            </a:solidFill>
            <a:extLst>
              <a:ext uri="{C807C97D-BFC1-408E-A445-0C87EB9F89A2}">
                <ask:lineSketchStyleProps xmlns:ask="http://schemas.microsoft.com/office/drawing/2018/sketchyshapes" sd="212219442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nSpc>
                <a:spcPct val="150000"/>
              </a:lnSpc>
              <a:buFont typeface="Arial" panose="020B0604020202020204" pitchFamily="34" charset="0"/>
              <a:buChar char="•"/>
            </a:pPr>
            <a:r>
              <a:rPr lang="en-US" sz="2400" b="1">
                <a:solidFill>
                  <a:schemeClr val="tx1"/>
                </a:solidFill>
                <a:latin typeface="Times New Roman"/>
                <a:ea typeface="+mn-lt"/>
                <a:cs typeface="+mn-lt"/>
              </a:rPr>
              <a:t>Methanol</a:t>
            </a:r>
            <a:r>
              <a:rPr lang="en-US" sz="2400">
                <a:solidFill>
                  <a:schemeClr val="tx1"/>
                </a:solidFill>
                <a:latin typeface="Times New Roman"/>
                <a:ea typeface="+mn-lt"/>
                <a:cs typeface="+mn-lt"/>
              </a:rPr>
              <a:t>: 16.95 moles, low cost (USD 345–370/MT), widely available.</a:t>
            </a:r>
            <a:endParaRPr lang="en-US">
              <a:solidFill>
                <a:schemeClr val="tx1"/>
              </a:solidFill>
              <a:latin typeface="Times New Roman"/>
              <a:ea typeface="+mn-lt"/>
              <a:cs typeface="Times New Roman" panose="02020603050405020304" pitchFamily="18" charset="0"/>
            </a:endParaRPr>
          </a:p>
          <a:p>
            <a:pPr marL="342900" indent="-342900">
              <a:lnSpc>
                <a:spcPct val="150000"/>
              </a:lnSpc>
              <a:buFont typeface="Arial" panose="020B0604020202020204" pitchFamily="34" charset="0"/>
              <a:buChar char="•"/>
            </a:pPr>
            <a:r>
              <a:rPr lang="en-US" sz="2400" b="1">
                <a:solidFill>
                  <a:schemeClr val="tx1"/>
                </a:solidFill>
                <a:latin typeface="Times New Roman"/>
                <a:ea typeface="+mn-lt"/>
                <a:cs typeface="+mn-lt"/>
              </a:rPr>
              <a:t>Benzoic Acid</a:t>
            </a:r>
            <a:r>
              <a:rPr lang="en-US" sz="2400">
                <a:solidFill>
                  <a:schemeClr val="tx1"/>
                </a:solidFill>
                <a:latin typeface="Times New Roman"/>
                <a:ea typeface="+mn-lt"/>
                <a:cs typeface="+mn-lt"/>
              </a:rPr>
              <a:t>: 2.7 moles with 0.5% phthalic acid impurity; quality feed ensures reaction efficiency.</a:t>
            </a:r>
            <a:endParaRPr lang="en-US">
              <a:solidFill>
                <a:schemeClr val="tx1"/>
              </a:solidFill>
              <a:latin typeface="Times New Roman"/>
              <a:ea typeface="+mn-lt"/>
              <a:cs typeface="+mn-lt"/>
            </a:endParaRPr>
          </a:p>
          <a:p>
            <a:pPr marL="342900" indent="-342900">
              <a:lnSpc>
                <a:spcPct val="150000"/>
              </a:lnSpc>
              <a:buFont typeface="Arial" panose="020B0604020202020204" pitchFamily="34" charset="0"/>
              <a:buChar char="•"/>
            </a:pPr>
            <a:r>
              <a:rPr lang="en-US" sz="2400" b="1">
                <a:solidFill>
                  <a:schemeClr val="tx1"/>
                </a:solidFill>
                <a:latin typeface="Times New Roman"/>
                <a:ea typeface="+mn-lt"/>
                <a:cs typeface="+mn-lt"/>
              </a:rPr>
              <a:t>Stable global supply</a:t>
            </a:r>
            <a:r>
              <a:rPr lang="en-US" sz="2400">
                <a:solidFill>
                  <a:schemeClr val="tx1"/>
                </a:solidFill>
                <a:latin typeface="Times New Roman"/>
                <a:ea typeface="+mn-lt"/>
                <a:cs typeface="+mn-lt"/>
              </a:rPr>
              <a:t>: both feedstocks projected for steady market growth (Methanol CAGR 4.7%, Benzoic Acid CAGR 5.3%).</a:t>
            </a:r>
            <a:endParaRPr lang="en-US">
              <a:solidFill>
                <a:schemeClr val="tx1"/>
              </a:solidFill>
              <a:latin typeface="Times New Roman"/>
              <a:cs typeface="Times New Roman"/>
            </a:endParaRPr>
          </a:p>
          <a:p>
            <a:pPr marL="342900" indent="-342900">
              <a:lnSpc>
                <a:spcPct val="150000"/>
              </a:lnSpc>
              <a:buFont typeface="Arial" panose="020B0604020202020204" pitchFamily="34" charset="0"/>
              <a:buChar char="•"/>
            </a:pPr>
            <a:r>
              <a:rPr lang="en-US" sz="2400">
                <a:solidFill>
                  <a:schemeClr val="tx1"/>
                </a:solidFill>
                <a:latin typeface="Times New Roman"/>
                <a:ea typeface="+mn-lt"/>
                <a:cs typeface="+mn-lt"/>
              </a:rPr>
              <a:t>Selection balances </a:t>
            </a:r>
            <a:r>
              <a:rPr lang="en-US" sz="2400" b="1">
                <a:solidFill>
                  <a:schemeClr val="tx1"/>
                </a:solidFill>
                <a:latin typeface="Times New Roman"/>
                <a:ea typeface="+mn-lt"/>
                <a:cs typeface="+mn-lt"/>
              </a:rPr>
              <a:t>cost efficiency</a:t>
            </a:r>
            <a:r>
              <a:rPr lang="en-US" sz="2400">
                <a:solidFill>
                  <a:schemeClr val="tx1"/>
                </a:solidFill>
                <a:latin typeface="Times New Roman"/>
                <a:ea typeface="+mn-lt"/>
                <a:cs typeface="+mn-lt"/>
              </a:rPr>
              <a:t> with required chemical reactivity.</a:t>
            </a:r>
            <a:endParaRPr lang="en-US" sz="2400">
              <a:solidFill>
                <a:schemeClr val="tx1"/>
              </a:solidFill>
              <a:latin typeface="Times New Roman"/>
              <a:cs typeface="Times New Roman"/>
            </a:endParaRPr>
          </a:p>
        </p:txBody>
      </p:sp>
      <p:sp>
        <p:nvSpPr>
          <p:cNvPr id="2" name="Slide Number Placeholder 1">
            <a:extLst>
              <a:ext uri="{FF2B5EF4-FFF2-40B4-BE49-F238E27FC236}">
                <a16:creationId xmlns:a16="http://schemas.microsoft.com/office/drawing/2014/main" id="{EEA4808D-DFF3-399E-6CAF-A27186E1EB5E}"/>
              </a:ext>
            </a:extLst>
          </p:cNvPr>
          <p:cNvSpPr>
            <a:spLocks noGrp="1"/>
          </p:cNvSpPr>
          <p:nvPr>
            <p:ph type="sldNum" sz="quarter" idx="12"/>
          </p:nvPr>
        </p:nvSpPr>
        <p:spPr/>
        <p:txBody>
          <a:bodyPr/>
          <a:lstStyle/>
          <a:p>
            <a:fld id="{330EA680-D336-4FF7-8B7A-9848BB0A1C32}" type="slidenum">
              <a:rPr lang="en-US" smtClean="0"/>
              <a:t>22</a:t>
            </a:fld>
            <a:endParaRPr lang="en-US"/>
          </a:p>
        </p:txBody>
      </p:sp>
      <p:sp>
        <p:nvSpPr>
          <p:cNvPr id="6" name="TextBox 5">
            <a:extLst>
              <a:ext uri="{FF2B5EF4-FFF2-40B4-BE49-F238E27FC236}">
                <a16:creationId xmlns:a16="http://schemas.microsoft.com/office/drawing/2014/main" id="{14B8A391-6696-98C8-ACB0-5F0CBDD44EB8}"/>
              </a:ext>
            </a:extLst>
          </p:cNvPr>
          <p:cNvSpPr txBox="1"/>
          <p:nvPr/>
        </p:nvSpPr>
        <p:spPr>
          <a:xfrm>
            <a:off x="716072" y="6331907"/>
            <a:ext cx="908971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latin typeface="Times New Roman"/>
                <a:cs typeface="Times New Roman"/>
              </a:rPr>
              <a:t>Molar Ratio of Methanol to Benzoic Acid is taken as</a:t>
            </a:r>
            <a:r>
              <a:rPr lang="en-US" sz="1400" b="1">
                <a:solidFill>
                  <a:srgbClr val="000000"/>
                </a:solidFill>
                <a:latin typeface="Times New Roman"/>
                <a:cs typeface="Times New Roman"/>
              </a:rPr>
              <a:t> 6.27</a:t>
            </a:r>
            <a:r>
              <a:rPr lang="en-US" sz="1400">
                <a:solidFill>
                  <a:srgbClr val="000000"/>
                </a:solidFill>
                <a:latin typeface="Times New Roman"/>
                <a:cs typeface="Times New Roman"/>
              </a:rPr>
              <a:t> for optimum utility. Source: Roberts &amp; Urey (1938)</a:t>
            </a:r>
            <a:r>
              <a:rPr lang="en-US" sz="1400" u="sng" baseline="30000">
                <a:solidFill>
                  <a:srgbClr val="467886"/>
                </a:solidFill>
                <a:latin typeface="Times New Roman"/>
                <a:cs typeface="Times New Roman"/>
                <a:hlinkClick r:id="rId2"/>
              </a:rPr>
              <a:t>1</a:t>
            </a:r>
            <a:endParaRPr lang="en-US" sz="1400">
              <a:solidFill>
                <a:srgbClr val="467886"/>
              </a:solidFill>
              <a:hlinkClick r:id="rId2"/>
            </a:endParaRPr>
          </a:p>
        </p:txBody>
      </p:sp>
    </p:spTree>
    <p:extLst>
      <p:ext uri="{BB962C8B-B14F-4D97-AF65-F5344CB8AC3E}">
        <p14:creationId xmlns:p14="http://schemas.microsoft.com/office/powerpoint/2010/main" val="82954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A552-E1B1-C589-0B21-B7D5858D433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569092D-DE47-663B-ECD9-2F42F4B8D458}"/>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Feedstock Quality</a:t>
            </a:r>
            <a:endParaRPr lang="en-US">
              <a:latin typeface="Times New Roman"/>
              <a:cs typeface="Times New Roman"/>
            </a:endParaRPr>
          </a:p>
        </p:txBody>
      </p:sp>
      <p:sp>
        <p:nvSpPr>
          <p:cNvPr id="2" name="Slide Number Placeholder 1">
            <a:extLst>
              <a:ext uri="{FF2B5EF4-FFF2-40B4-BE49-F238E27FC236}">
                <a16:creationId xmlns:a16="http://schemas.microsoft.com/office/drawing/2014/main" id="{23A767DE-8FB0-CE7E-E63E-91468D6F2021}"/>
              </a:ext>
            </a:extLst>
          </p:cNvPr>
          <p:cNvSpPr>
            <a:spLocks noGrp="1"/>
          </p:cNvSpPr>
          <p:nvPr>
            <p:ph type="sldNum" sz="quarter" idx="12"/>
          </p:nvPr>
        </p:nvSpPr>
        <p:spPr/>
        <p:txBody>
          <a:bodyPr/>
          <a:lstStyle/>
          <a:p>
            <a:fld id="{330EA680-D336-4FF7-8B7A-9848BB0A1C32}" type="slidenum">
              <a:rPr lang="en-US" smtClean="0"/>
              <a:t>23</a:t>
            </a:fld>
            <a:endParaRPr lang="en-US"/>
          </a:p>
        </p:txBody>
      </p:sp>
      <p:pic>
        <p:nvPicPr>
          <p:cNvPr id="4" name="Picture 3">
            <a:extLst>
              <a:ext uri="{FF2B5EF4-FFF2-40B4-BE49-F238E27FC236}">
                <a16:creationId xmlns:a16="http://schemas.microsoft.com/office/drawing/2014/main" id="{A2D13DB5-70DB-59F8-BDD4-D085D3DE360D}"/>
              </a:ext>
            </a:extLst>
          </p:cNvPr>
          <p:cNvPicPr>
            <a:picLocks noChangeAspect="1"/>
          </p:cNvPicPr>
          <p:nvPr/>
        </p:nvPicPr>
        <p:blipFill>
          <a:blip r:embed="rId2"/>
          <a:stretch>
            <a:fillRect/>
          </a:stretch>
        </p:blipFill>
        <p:spPr>
          <a:xfrm>
            <a:off x="285750" y="2110909"/>
            <a:ext cx="5524500" cy="2905125"/>
          </a:xfrm>
          <a:prstGeom prst="rect">
            <a:avLst/>
          </a:prstGeom>
        </p:spPr>
      </p:pic>
      <p:pic>
        <p:nvPicPr>
          <p:cNvPr id="6" name="Picture 5">
            <a:extLst>
              <a:ext uri="{FF2B5EF4-FFF2-40B4-BE49-F238E27FC236}">
                <a16:creationId xmlns:a16="http://schemas.microsoft.com/office/drawing/2014/main" id="{88FE68B3-AFCE-3843-F24F-67F76CA1F819}"/>
              </a:ext>
            </a:extLst>
          </p:cNvPr>
          <p:cNvPicPr>
            <a:picLocks noChangeAspect="1"/>
          </p:cNvPicPr>
          <p:nvPr/>
        </p:nvPicPr>
        <p:blipFill>
          <a:blip r:embed="rId3"/>
          <a:stretch>
            <a:fillRect/>
          </a:stretch>
        </p:blipFill>
        <p:spPr>
          <a:xfrm>
            <a:off x="6099362" y="2112589"/>
            <a:ext cx="5372100" cy="2924175"/>
          </a:xfrm>
          <a:prstGeom prst="rect">
            <a:avLst/>
          </a:prstGeom>
        </p:spPr>
      </p:pic>
      <p:sp>
        <p:nvSpPr>
          <p:cNvPr id="8" name="TextBox 7">
            <a:extLst>
              <a:ext uri="{FF2B5EF4-FFF2-40B4-BE49-F238E27FC236}">
                <a16:creationId xmlns:a16="http://schemas.microsoft.com/office/drawing/2014/main" id="{08F6F4C6-52F5-5A0A-37DB-9881AD6254E3}"/>
              </a:ext>
            </a:extLst>
          </p:cNvPr>
          <p:cNvSpPr txBox="1"/>
          <p:nvPr/>
        </p:nvSpPr>
        <p:spPr>
          <a:xfrm>
            <a:off x="286870" y="1530721"/>
            <a:ext cx="5533464" cy="40011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000" b="1">
                <a:latin typeface="Times New Roman"/>
                <a:cs typeface="Arial"/>
              </a:rPr>
              <a:t>Methanol  Market</a:t>
            </a:r>
            <a:r>
              <a:rPr lang="en-US" sz="2000">
                <a:latin typeface="Times New Roman"/>
                <a:cs typeface="Arial"/>
              </a:rPr>
              <a:t>: CAGR (4.7%, 2025-2034)</a:t>
            </a:r>
            <a:endParaRPr lang="en-US"/>
          </a:p>
        </p:txBody>
      </p:sp>
      <p:sp>
        <p:nvSpPr>
          <p:cNvPr id="13" name="TextBox 12">
            <a:extLst>
              <a:ext uri="{FF2B5EF4-FFF2-40B4-BE49-F238E27FC236}">
                <a16:creationId xmlns:a16="http://schemas.microsoft.com/office/drawing/2014/main" id="{E1F9C58D-8EF2-DAD5-108A-35C7FDEC6EC7}"/>
              </a:ext>
            </a:extLst>
          </p:cNvPr>
          <p:cNvSpPr txBox="1"/>
          <p:nvPr/>
        </p:nvSpPr>
        <p:spPr>
          <a:xfrm>
            <a:off x="6102723" y="1530720"/>
            <a:ext cx="5387788" cy="40011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000" b="1">
                <a:latin typeface="Times New Roman"/>
                <a:cs typeface="Arial"/>
              </a:rPr>
              <a:t>Benzoic Acid Market</a:t>
            </a:r>
            <a:r>
              <a:rPr lang="en-US" sz="2000">
                <a:latin typeface="Times New Roman"/>
                <a:cs typeface="Arial"/>
              </a:rPr>
              <a:t>: CAGR (5.3%, 2024-2033)</a:t>
            </a:r>
            <a:endParaRPr lang="en-US"/>
          </a:p>
        </p:txBody>
      </p:sp>
      <p:sp>
        <p:nvSpPr>
          <p:cNvPr id="15" name="TextBox 14">
            <a:extLst>
              <a:ext uri="{FF2B5EF4-FFF2-40B4-BE49-F238E27FC236}">
                <a16:creationId xmlns:a16="http://schemas.microsoft.com/office/drawing/2014/main" id="{326488C6-B9B3-4939-D08F-817E3E10BEB1}"/>
              </a:ext>
            </a:extLst>
          </p:cNvPr>
          <p:cNvSpPr txBox="1"/>
          <p:nvPr/>
        </p:nvSpPr>
        <p:spPr>
          <a:xfrm>
            <a:off x="283048" y="5379720"/>
            <a:ext cx="5537252"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rgbClr val="7030A0"/>
                </a:solidFill>
                <a:latin typeface="Times New Roman"/>
                <a:cs typeface="Times New Roman"/>
                <a:hlinkClick r:id="rId4">
                  <a:extLst>
                    <a:ext uri="{A12FA001-AC4F-418D-AE19-62706E023703}">
                      <ahyp:hlinkClr xmlns:ahyp="http://schemas.microsoft.com/office/drawing/2018/hyperlinkcolor" val="tx"/>
                    </a:ext>
                  </a:extLst>
                </a:hlinkClick>
              </a:rPr>
              <a:t>https://www.polarismarketresearch.com/industry-analysis/methanol-market</a:t>
            </a:r>
            <a:endParaRPr lang="en-US" sz="1600">
              <a:solidFill>
                <a:srgbClr val="7030A0"/>
              </a:solidFill>
              <a:latin typeface="Aptos" panose="020B0004020202020204"/>
              <a:cs typeface="Times New Roman"/>
            </a:endParaRPr>
          </a:p>
        </p:txBody>
      </p:sp>
      <p:sp>
        <p:nvSpPr>
          <p:cNvPr id="16" name="TextBox 15">
            <a:extLst>
              <a:ext uri="{FF2B5EF4-FFF2-40B4-BE49-F238E27FC236}">
                <a16:creationId xmlns:a16="http://schemas.microsoft.com/office/drawing/2014/main" id="{CA04ADD4-9B0F-28D4-AF21-E99301973972}"/>
              </a:ext>
            </a:extLst>
          </p:cNvPr>
          <p:cNvSpPr txBox="1"/>
          <p:nvPr/>
        </p:nvSpPr>
        <p:spPr>
          <a:xfrm>
            <a:off x="6098900" y="5379720"/>
            <a:ext cx="5537252"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rgbClr val="7030A0"/>
                </a:solidFill>
                <a:latin typeface="Times New Roman"/>
                <a:cs typeface="Times New Roman"/>
                <a:hlinkClick r:id="rId5">
                  <a:extLst>
                    <a:ext uri="{A12FA001-AC4F-418D-AE19-62706E023703}">
                      <ahyp:hlinkClr xmlns:ahyp="http://schemas.microsoft.com/office/drawing/2018/hyperlinkcolor" val="tx"/>
                    </a:ext>
                  </a:extLst>
                </a:hlinkClick>
              </a:rPr>
              <a:t>https://dimensionmarketresearch.com/report/benzoic-acid-market</a:t>
            </a:r>
            <a:endParaRPr lang="en-US" sz="1600">
              <a:solidFill>
                <a:srgbClr val="7030A0"/>
              </a:solidFill>
              <a:latin typeface="Aptos" panose="020B0004020202020204"/>
              <a:cs typeface="Times New Roman"/>
            </a:endParaRPr>
          </a:p>
        </p:txBody>
      </p:sp>
    </p:spTree>
    <p:extLst>
      <p:ext uri="{BB962C8B-B14F-4D97-AF65-F5344CB8AC3E}">
        <p14:creationId xmlns:p14="http://schemas.microsoft.com/office/powerpoint/2010/main" val="2160236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9819A-AF9E-583C-7EF8-592DB2F18D5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81CD35-3CB3-774D-E397-F97FCA3C6EA5}"/>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500" b="0" i="0" u="none" strike="noStrike" kern="1200" cap="all" spc="0" normalizeH="0" baseline="0" noProof="0">
                <a:ln>
                  <a:noFill/>
                </a:ln>
                <a:solidFill>
                  <a:prstClr val="white"/>
                </a:solidFill>
                <a:effectLst/>
                <a:uLnTx/>
                <a:uFillTx/>
                <a:latin typeface="Times New Roman"/>
                <a:ea typeface="+mn-lt"/>
                <a:cs typeface="+mn-lt"/>
              </a:rPr>
              <a:t>Input-Output Economic Feasibility</a:t>
            </a:r>
            <a:endParaRPr kumimoji="0" lang="en-US" sz="1800" b="0" i="0" u="none" strike="noStrike" kern="1200" cap="none" spc="0" normalizeH="0" baseline="0" noProof="0">
              <a:ln>
                <a:noFill/>
              </a:ln>
              <a:solidFill>
                <a:prstClr val="white"/>
              </a:solidFill>
              <a:effectLst/>
              <a:uLnTx/>
              <a:uFillTx/>
              <a:latin typeface="Times New Roman"/>
              <a:ea typeface="+mn-ea"/>
              <a:cs typeface="Times New Roman"/>
            </a:endParaRPr>
          </a:p>
        </p:txBody>
      </p:sp>
      <p:sp>
        <p:nvSpPr>
          <p:cNvPr id="4" name="Slide Number Placeholder 3">
            <a:extLst>
              <a:ext uri="{FF2B5EF4-FFF2-40B4-BE49-F238E27FC236}">
                <a16:creationId xmlns:a16="http://schemas.microsoft.com/office/drawing/2014/main" id="{7D9F9F2C-0EBC-DBA5-C527-FFD2F5520CD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graphicFrame>
        <p:nvGraphicFramePr>
          <p:cNvPr id="6" name="Table 5">
            <a:extLst>
              <a:ext uri="{FF2B5EF4-FFF2-40B4-BE49-F238E27FC236}">
                <a16:creationId xmlns:a16="http://schemas.microsoft.com/office/drawing/2014/main" id="{DF670429-DC10-5CCA-3CF0-DA49D043DCE8}"/>
              </a:ext>
            </a:extLst>
          </p:cNvPr>
          <p:cNvGraphicFramePr>
            <a:graphicFrameLocks noGrp="1"/>
          </p:cNvGraphicFramePr>
          <p:nvPr>
            <p:extLst>
              <p:ext uri="{D42A27DB-BD31-4B8C-83A1-F6EECF244321}">
                <p14:modId xmlns:p14="http://schemas.microsoft.com/office/powerpoint/2010/main" val="3085461557"/>
              </p:ext>
            </p:extLst>
          </p:nvPr>
        </p:nvGraphicFramePr>
        <p:xfrm>
          <a:off x="742728" y="1323509"/>
          <a:ext cx="10706543" cy="4593528"/>
        </p:xfrm>
        <a:graphic>
          <a:graphicData uri="http://schemas.openxmlformats.org/drawingml/2006/table">
            <a:tbl>
              <a:tblPr>
                <a:tableStyleId>{9D7B26C5-4107-4FEC-AEDC-1716B250A1EF}</a:tableStyleId>
              </a:tblPr>
              <a:tblGrid>
                <a:gridCol w="2406394">
                  <a:extLst>
                    <a:ext uri="{9D8B030D-6E8A-4147-A177-3AD203B41FA5}">
                      <a16:colId xmlns:a16="http://schemas.microsoft.com/office/drawing/2014/main" val="3954597229"/>
                    </a:ext>
                  </a:extLst>
                </a:gridCol>
                <a:gridCol w="2203106">
                  <a:extLst>
                    <a:ext uri="{9D8B030D-6E8A-4147-A177-3AD203B41FA5}">
                      <a16:colId xmlns:a16="http://schemas.microsoft.com/office/drawing/2014/main" val="2110927067"/>
                    </a:ext>
                  </a:extLst>
                </a:gridCol>
                <a:gridCol w="1839818">
                  <a:extLst>
                    <a:ext uri="{9D8B030D-6E8A-4147-A177-3AD203B41FA5}">
                      <a16:colId xmlns:a16="http://schemas.microsoft.com/office/drawing/2014/main" val="2176776474"/>
                    </a:ext>
                  </a:extLst>
                </a:gridCol>
                <a:gridCol w="2334747">
                  <a:extLst>
                    <a:ext uri="{9D8B030D-6E8A-4147-A177-3AD203B41FA5}">
                      <a16:colId xmlns:a16="http://schemas.microsoft.com/office/drawing/2014/main" val="1266409585"/>
                    </a:ext>
                  </a:extLst>
                </a:gridCol>
                <a:gridCol w="1922478">
                  <a:extLst>
                    <a:ext uri="{9D8B030D-6E8A-4147-A177-3AD203B41FA5}">
                      <a16:colId xmlns:a16="http://schemas.microsoft.com/office/drawing/2014/main" val="2111157545"/>
                    </a:ext>
                  </a:extLst>
                </a:gridCol>
              </a:tblGrid>
              <a:tr h="332568">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IN" sz="1600" b="1" u="none" strike="noStrike">
                          <a:solidFill>
                            <a:schemeClr val="tx1"/>
                          </a:solidFill>
                          <a:effectLst/>
                          <a:latin typeface="Times New Roman"/>
                          <a:cs typeface="Times New Roman"/>
                        </a:rPr>
                        <a:t>Benzoic Acid</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IN" sz="1600" b="1" u="none" strike="noStrike">
                          <a:solidFill>
                            <a:schemeClr val="tx1"/>
                          </a:solidFill>
                          <a:effectLst/>
                          <a:latin typeface="Times New Roman"/>
                          <a:cs typeface="Times New Roman"/>
                        </a:rPr>
                        <a:t>Methanol</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IN" sz="1600" b="1" u="none" strike="noStrike">
                          <a:solidFill>
                            <a:schemeClr val="tx1"/>
                          </a:solidFill>
                          <a:effectLst/>
                          <a:latin typeface="Times New Roman"/>
                          <a:cs typeface="Times New Roman"/>
                        </a:rPr>
                        <a:t>Methyl Benzoate</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26764823"/>
                  </a:ext>
                </a:extLst>
              </a:tr>
              <a:tr h="258664">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chemeClr val="tx1"/>
                          </a:solidFill>
                          <a:effectLst/>
                          <a:latin typeface="Times New Roman"/>
                          <a:cs typeface="Times New Roman"/>
                        </a:rPr>
                        <a:t>Molar Efficiency</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3229049125"/>
                  </a:ext>
                </a:extLst>
              </a:tr>
              <a:tr h="258664">
                <a:tc>
                  <a:txBody>
                    <a:bodyPr/>
                    <a:lstStyle/>
                    <a:p>
                      <a:pPr algn="ctr" fontAlgn="ctr"/>
                      <a:r>
                        <a:rPr lang="en-IN" sz="1600" b="1" u="none" strike="noStrike">
                          <a:solidFill>
                            <a:schemeClr val="tx1"/>
                          </a:solidFill>
                          <a:effectLst/>
                          <a:latin typeface="Times New Roman"/>
                          <a:cs typeface="Times New Roman"/>
                        </a:rPr>
                        <a:t>MW(gm/mole)</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122.12</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32.04</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136.15</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rgbClr val="FF0000"/>
                          </a:solidFill>
                          <a:effectLst/>
                          <a:latin typeface="Times New Roman"/>
                          <a:cs typeface="Times New Roman"/>
                        </a:rPr>
                        <a:t>0.9</a:t>
                      </a:r>
                      <a:endParaRPr lang="en-IN" sz="1600" b="1" i="0" u="none" strike="noStrike">
                        <a:solidFill>
                          <a:srgbClr val="FF0000"/>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60479917"/>
                  </a:ext>
                </a:extLst>
              </a:tr>
              <a:tr h="258664">
                <a:tc>
                  <a:txBody>
                    <a:bodyPr/>
                    <a:lstStyle/>
                    <a:p>
                      <a:pPr algn="ctr" fontAlgn="ctr"/>
                      <a:r>
                        <a:rPr lang="en-IN" sz="1600" b="1" u="none" strike="noStrike">
                          <a:solidFill>
                            <a:schemeClr val="tx1"/>
                          </a:solidFill>
                          <a:effectLst/>
                          <a:latin typeface="Times New Roman"/>
                          <a:cs typeface="Times New Roman"/>
                        </a:rPr>
                        <a:t>Mass(kg)</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996.61</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1641.02</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4037878"/>
                  </a:ext>
                </a:extLst>
              </a:tr>
              <a:tr h="258664">
                <a:tc>
                  <a:txBody>
                    <a:bodyPr/>
                    <a:lstStyle/>
                    <a:p>
                      <a:pPr algn="ctr" fontAlgn="ctr"/>
                      <a:r>
                        <a:rPr lang="en-IN" sz="1600" b="1" u="none" strike="noStrike">
                          <a:solidFill>
                            <a:schemeClr val="tx1"/>
                          </a:solidFill>
                          <a:effectLst/>
                          <a:latin typeface="Times New Roman"/>
                          <a:cs typeface="Times New Roman"/>
                        </a:rPr>
                        <a:t>Raw Mass(kg)</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1001.62</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1641.02</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chemeClr val="tx1"/>
                          </a:solidFill>
                          <a:effectLst/>
                          <a:latin typeface="Times New Roman"/>
                          <a:cs typeface="Times New Roman"/>
                        </a:rPr>
                        <a:t>1000.00</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chemeClr val="tx1"/>
                          </a:solidFill>
                          <a:effectLst/>
                          <a:latin typeface="Times New Roman"/>
                          <a:cs typeface="Times New Roman"/>
                        </a:rPr>
                        <a:t>Methanol Purity</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856107564"/>
                  </a:ext>
                </a:extLst>
              </a:tr>
              <a:tr h="258664">
                <a:tc>
                  <a:txBody>
                    <a:bodyPr/>
                    <a:lstStyle/>
                    <a:p>
                      <a:pPr algn="ctr" fontAlgn="ctr"/>
                      <a:r>
                        <a:rPr lang="en-IN" sz="1600" b="1" u="none" strike="noStrike">
                          <a:solidFill>
                            <a:schemeClr val="tx1"/>
                          </a:solidFill>
                          <a:effectLst/>
                          <a:latin typeface="Times New Roman"/>
                          <a:cs typeface="Times New Roman"/>
                        </a:rPr>
                        <a:t>Mole/day</a:t>
                      </a:r>
                      <a:endParaRPr lang="en-IN" sz="1600" b="1" i="0" u="none" strike="noStrike">
                        <a:solidFill>
                          <a:schemeClr val="tx1"/>
                        </a:solidFill>
                        <a:effectLst/>
                        <a:latin typeface="Times New Roman" panose="02020603050405020304" pitchFamily="18" charset="0"/>
                        <a:cs typeface="Times New Roman" panose="02020603050405020304" pitchFamily="18" charset="0"/>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8160.91</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51217.79</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7344.82</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rgbClr val="FF0000"/>
                          </a:solidFill>
                          <a:effectLst/>
                          <a:latin typeface="Times New Roman"/>
                          <a:cs typeface="Times New Roman"/>
                        </a:rPr>
                        <a:t>1</a:t>
                      </a:r>
                      <a:endParaRPr lang="en-IN" sz="1600" b="1" i="0" u="none" strike="noStrike">
                        <a:solidFill>
                          <a:srgbClr val="FF0000"/>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2348161028"/>
                  </a:ext>
                </a:extLst>
              </a:tr>
              <a:tr h="258664">
                <a:tc>
                  <a:txBody>
                    <a:bodyPr/>
                    <a:lstStyle/>
                    <a:p>
                      <a:pPr algn="ctr" fontAlgn="ctr"/>
                      <a:r>
                        <a:rPr lang="en-IN" sz="1600" b="1" u="none" strike="noStrike">
                          <a:solidFill>
                            <a:schemeClr val="tx1"/>
                          </a:solidFill>
                          <a:effectLst/>
                          <a:latin typeface="Times New Roman"/>
                          <a:cs typeface="Times New Roman"/>
                        </a:rPr>
                        <a:t>Excess Mole</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0.00</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43056.88</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1" i="0" u="none" strike="noStrike">
                        <a:solidFill>
                          <a:schemeClr val="tx1"/>
                        </a:solidFill>
                        <a:effectLst/>
                        <a:latin typeface="Times New Roman" panose="02020603050405020304" pitchFamily="18" charset="0"/>
                        <a:cs typeface="Times New Roman" panose="02020603050405020304" pitchFamily="18" charset="0"/>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90206368"/>
                  </a:ext>
                </a:extLst>
              </a:tr>
              <a:tr h="258664">
                <a:tc>
                  <a:txBody>
                    <a:bodyPr/>
                    <a:lstStyle/>
                    <a:p>
                      <a:pPr algn="ctr" fontAlgn="ctr"/>
                      <a:r>
                        <a:rPr lang="en-IN" sz="1600" b="1" u="none" strike="noStrike">
                          <a:solidFill>
                            <a:schemeClr val="tx1"/>
                          </a:solidFill>
                          <a:effectLst/>
                          <a:latin typeface="Times New Roman"/>
                          <a:cs typeface="Times New Roman"/>
                        </a:rPr>
                        <a:t>Raw Mass(MTon)</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1.00161809</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1.641018026</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1.00</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chemeClr val="tx1"/>
                          </a:solidFill>
                          <a:effectLst/>
                          <a:latin typeface="Times New Roman"/>
                          <a:cs typeface="Times New Roman"/>
                        </a:rPr>
                        <a:t>Benzoic Acid Purity</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303317096"/>
                  </a:ext>
                </a:extLst>
              </a:tr>
              <a:tr h="258664">
                <a:tc>
                  <a:txBody>
                    <a:bodyPr/>
                    <a:lstStyle/>
                    <a:p>
                      <a:pPr algn="ctr" fontAlgn="ctr"/>
                      <a:r>
                        <a:rPr lang="en-IN" sz="1600" b="1" u="none" strike="noStrike">
                          <a:solidFill>
                            <a:schemeClr val="tx1"/>
                          </a:solidFill>
                          <a:effectLst/>
                          <a:latin typeface="Times New Roman"/>
                          <a:cs typeface="Times New Roman"/>
                        </a:rPr>
                        <a:t>Cost(USD/MT)</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1010.00</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370.00</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2200.00</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rgbClr val="FF0000"/>
                          </a:solidFill>
                          <a:effectLst/>
                          <a:latin typeface="Times New Roman"/>
                          <a:cs typeface="Times New Roman"/>
                        </a:rPr>
                        <a:t>0.995</a:t>
                      </a:r>
                      <a:endParaRPr lang="en-IN" sz="1600" b="1" i="0" u="none" strike="noStrike">
                        <a:solidFill>
                          <a:srgbClr val="FF0000"/>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2970630500"/>
                  </a:ext>
                </a:extLst>
              </a:tr>
              <a:tr h="381000">
                <a:tc>
                  <a:txBody>
                    <a:bodyPr/>
                    <a:lstStyle/>
                    <a:p>
                      <a:pPr algn="ctr" fontAlgn="ctr"/>
                      <a:r>
                        <a:rPr lang="en-IN" sz="1600" b="1" u="none" strike="noStrike" err="1">
                          <a:solidFill>
                            <a:schemeClr val="tx1"/>
                          </a:solidFill>
                          <a:effectLst/>
                          <a:latin typeface="Times New Roman"/>
                          <a:cs typeface="Times New Roman"/>
                        </a:rPr>
                        <a:t>UnReacted</a:t>
                      </a:r>
                      <a:r>
                        <a:rPr lang="en-IN" sz="1600" b="1" u="none" strike="noStrike">
                          <a:solidFill>
                            <a:schemeClr val="tx1"/>
                          </a:solidFill>
                          <a:effectLst/>
                          <a:latin typeface="Times New Roman"/>
                          <a:cs typeface="Times New Roman"/>
                        </a:rPr>
                        <a:t> Mole</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816.09</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43872.97</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1" i="0" u="none" strike="noStrike">
                        <a:solidFill>
                          <a:schemeClr val="tx1"/>
                        </a:solidFill>
                        <a:effectLst/>
                        <a:latin typeface="Times New Roman" panose="02020603050405020304" pitchFamily="18" charset="0"/>
                        <a:cs typeface="Times New Roman" panose="02020603050405020304" pitchFamily="18" charset="0"/>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9506758"/>
                  </a:ext>
                </a:extLst>
              </a:tr>
              <a:tr h="258664">
                <a:tc>
                  <a:txBody>
                    <a:bodyPr/>
                    <a:lstStyle/>
                    <a:p>
                      <a:pPr algn="ctr" fontAlgn="ctr"/>
                      <a:r>
                        <a:rPr lang="en-IN" sz="1600" b="1" u="none" strike="noStrike" err="1">
                          <a:solidFill>
                            <a:schemeClr val="tx1"/>
                          </a:solidFill>
                          <a:effectLst/>
                          <a:latin typeface="Times New Roman"/>
                          <a:cs typeface="Times New Roman"/>
                        </a:rPr>
                        <a:t>UnReacted</a:t>
                      </a:r>
                      <a:r>
                        <a:rPr lang="en-IN" sz="1600" b="1" u="none" strike="noStrike">
                          <a:solidFill>
                            <a:schemeClr val="tx1"/>
                          </a:solidFill>
                          <a:effectLst/>
                          <a:latin typeface="Times New Roman"/>
                          <a:cs typeface="Times New Roman"/>
                        </a:rPr>
                        <a:t> Mass(Mton)</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0.10</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1.41</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chemeClr val="tx1"/>
                          </a:solidFill>
                          <a:effectLst/>
                          <a:latin typeface="Times New Roman"/>
                          <a:cs typeface="Times New Roman"/>
                        </a:rPr>
                        <a:t>MeOH:BnZ_A</a:t>
                      </a:r>
                      <a:endParaRPr lang="en-IN" sz="1600" b="1"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3745829431"/>
                  </a:ext>
                </a:extLst>
              </a:tr>
              <a:tr h="258664">
                <a:tc>
                  <a:txBody>
                    <a:bodyPr/>
                    <a:lstStyle/>
                    <a:p>
                      <a:pPr algn="ctr" fontAlgn="ctr"/>
                      <a:r>
                        <a:rPr lang="en-IN" sz="1600" b="1" u="none" strike="noStrike">
                          <a:solidFill>
                            <a:schemeClr val="tx1"/>
                          </a:solidFill>
                          <a:effectLst/>
                          <a:latin typeface="Times New Roman"/>
                          <a:cs typeface="Times New Roman"/>
                        </a:rPr>
                        <a:t>Total Cost(USD)</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1011.634271</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607.1766696</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0" u="none" strike="noStrike">
                          <a:solidFill>
                            <a:schemeClr val="tx1"/>
                          </a:solidFill>
                          <a:effectLst/>
                          <a:latin typeface="Times New Roman"/>
                          <a:cs typeface="Times New Roman"/>
                        </a:rPr>
                        <a:t>2199.99</a:t>
                      </a:r>
                      <a:endParaRPr lang="en-IN" sz="1600" b="0" i="0" u="none" strike="noStrike">
                        <a:solidFill>
                          <a:schemeClr val="tx1"/>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600" b="1" u="none" strike="noStrike">
                          <a:solidFill>
                            <a:srgbClr val="FF0000"/>
                          </a:solidFill>
                          <a:effectLst/>
                          <a:latin typeface="Times New Roman"/>
                          <a:cs typeface="Times New Roman"/>
                        </a:rPr>
                        <a:t>1.6466</a:t>
                      </a:r>
                      <a:endParaRPr lang="en-IN" sz="1600" b="1" i="0" u="none" strike="noStrike">
                        <a:solidFill>
                          <a:srgbClr val="FF0000"/>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83059866"/>
                  </a:ext>
                </a:extLst>
              </a:tr>
              <a:tr h="258664">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Total Input Cost (USD)</a:t>
                      </a: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1618.81</a:t>
                      </a: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algn="ctr" fontAlgn="ctr"/>
                      <a:endParaRPr lang="en-IN" sz="12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4339660"/>
                  </a:ext>
                </a:extLst>
              </a:tr>
              <a:tr h="258664">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Excess Reactant Cost (USD)</a:t>
                      </a: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620.76</a:t>
                      </a: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4148788"/>
                  </a:ext>
                </a:extLst>
              </a:tr>
              <a:tr h="258664">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Total Output Cost (USD)</a:t>
                      </a: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2199.99</a:t>
                      </a: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algn="ctr" fontAlgn="ctr"/>
                      <a:endParaRPr lang="en-IN" sz="12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3008747"/>
                  </a:ext>
                </a:extLst>
              </a:tr>
              <a:tr h="258664">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Net Profit (USD)</a:t>
                      </a: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rgbClr val="0000FF"/>
                          </a:solidFill>
                          <a:effectLst/>
                          <a:latin typeface="Times New Roman"/>
                          <a:cs typeface="Times New Roman"/>
                        </a:rPr>
                        <a:t>1201.94</a:t>
                      </a: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5127424"/>
                  </a:ext>
                </a:extLst>
              </a:tr>
              <a:tr h="258664">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tx1"/>
                          </a:solidFill>
                          <a:effectLst/>
                          <a:latin typeface="Times New Roman"/>
                          <a:cs typeface="Times New Roman"/>
                        </a:rPr>
                        <a:t>Profit (x)</a:t>
                      </a:r>
                      <a:endParaRPr lang="en-IN" sz="1600" b="1" i="0" u="none" strike="noStrike">
                        <a:solidFill>
                          <a:schemeClr val="tx1"/>
                        </a:solidFill>
                        <a:effectLst/>
                        <a:latin typeface="Times New Roman"/>
                        <a:cs typeface="Times New Roman"/>
                      </a:endParaRPr>
                    </a:p>
                  </a:txBody>
                  <a:tcPr marL="12317" marR="12317" marT="12317"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IN" sz="12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rgbClr val="0000FF"/>
                          </a:solidFill>
                          <a:effectLst/>
                          <a:latin typeface="Times New Roman"/>
                          <a:cs typeface="Times New Roman"/>
                        </a:rPr>
                        <a:t>1.204295709</a:t>
                      </a:r>
                      <a:endParaRPr lang="en-IN" sz="1600" b="1" i="0" u="none" strike="noStrike">
                        <a:solidFill>
                          <a:srgbClr val="0000FF"/>
                        </a:solidFill>
                        <a:effectLst/>
                        <a:latin typeface="Times New Roman"/>
                        <a:cs typeface="Times New Roman"/>
                      </a:endParaRPr>
                    </a:p>
                  </a:txBody>
                  <a:tcPr marL="12317" marR="12317" marT="12317"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algn="ctr" fontAlgn="ctr"/>
                      <a:endParaRPr lang="en-IN" sz="12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9879296"/>
                  </a:ext>
                </a:extLst>
              </a:tr>
            </a:tbl>
          </a:graphicData>
        </a:graphic>
      </p:graphicFrame>
      <p:sp>
        <p:nvSpPr>
          <p:cNvPr id="2" name="TextBox 1">
            <a:extLst>
              <a:ext uri="{FF2B5EF4-FFF2-40B4-BE49-F238E27FC236}">
                <a16:creationId xmlns:a16="http://schemas.microsoft.com/office/drawing/2014/main" id="{C385E104-1054-0719-C658-4E0C3B649F27}"/>
              </a:ext>
            </a:extLst>
          </p:cNvPr>
          <p:cNvSpPr txBox="1"/>
          <p:nvPr/>
        </p:nvSpPr>
        <p:spPr>
          <a:xfrm>
            <a:off x="747386" y="6352784"/>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imes New Roman"/>
                <a:cs typeface="Times New Roman"/>
              </a:rPr>
              <a:t>Source: Roberts &amp; Urey (1938)</a:t>
            </a:r>
            <a:r>
              <a:rPr lang="en-US" sz="800" u="sng" baseline="30000">
                <a:solidFill>
                  <a:srgbClr val="467886"/>
                </a:solidFill>
                <a:latin typeface="Times New Roman"/>
                <a:cs typeface="Times New Roman"/>
                <a:hlinkClick r:id="rId2"/>
              </a:rPr>
              <a:t>1</a:t>
            </a:r>
            <a:endParaRPr lang="en-US"/>
          </a:p>
        </p:txBody>
      </p:sp>
    </p:spTree>
    <p:extLst>
      <p:ext uri="{BB962C8B-B14F-4D97-AF65-F5344CB8AC3E}">
        <p14:creationId xmlns:p14="http://schemas.microsoft.com/office/powerpoint/2010/main" val="21624026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60C7C-D042-E95E-1E3C-D19CC1FD509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221D433-3B91-110F-30F2-CD9246D043D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Thermodynamic model validation</a:t>
            </a:r>
            <a:endParaRPr lang="en-US">
              <a:latin typeface="Times New Roman"/>
              <a:cs typeface="Times New Roman"/>
            </a:endParaRPr>
          </a:p>
        </p:txBody>
      </p:sp>
      <p:pic>
        <p:nvPicPr>
          <p:cNvPr id="2" name="Picture 1">
            <a:extLst>
              <a:ext uri="{FF2B5EF4-FFF2-40B4-BE49-F238E27FC236}">
                <a16:creationId xmlns:a16="http://schemas.microsoft.com/office/drawing/2014/main" id="{40259156-CEE3-BD76-808C-2A36E2335A6B}"/>
              </a:ext>
            </a:extLst>
          </p:cNvPr>
          <p:cNvPicPr>
            <a:picLocks noChangeAspect="1"/>
          </p:cNvPicPr>
          <p:nvPr/>
        </p:nvPicPr>
        <p:blipFill>
          <a:blip r:embed="rId2"/>
          <a:stretch>
            <a:fillRect/>
          </a:stretch>
        </p:blipFill>
        <p:spPr>
          <a:xfrm>
            <a:off x="278176" y="870964"/>
            <a:ext cx="5310131" cy="2784169"/>
          </a:xfrm>
          <a:prstGeom prst="rect">
            <a:avLst/>
          </a:prstGeom>
          <a:ln>
            <a:solidFill>
              <a:schemeClr val="tx1"/>
            </a:solidFill>
          </a:ln>
        </p:spPr>
      </p:pic>
      <p:sp>
        <p:nvSpPr>
          <p:cNvPr id="6" name="TextBox 5">
            <a:extLst>
              <a:ext uri="{FF2B5EF4-FFF2-40B4-BE49-F238E27FC236}">
                <a16:creationId xmlns:a16="http://schemas.microsoft.com/office/drawing/2014/main" id="{77D9A9D9-11E1-9796-5AF1-DEC470744CB0}"/>
              </a:ext>
            </a:extLst>
          </p:cNvPr>
          <p:cNvSpPr txBox="1"/>
          <p:nvPr/>
        </p:nvSpPr>
        <p:spPr>
          <a:xfrm>
            <a:off x="2005263" y="3809999"/>
            <a:ext cx="14838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Times New Roman"/>
                <a:cs typeface="Times New Roman"/>
              </a:rPr>
              <a:t>NRTL</a:t>
            </a:r>
          </a:p>
        </p:txBody>
      </p:sp>
      <p:pic>
        <p:nvPicPr>
          <p:cNvPr id="7" name="Picture 6">
            <a:extLst>
              <a:ext uri="{FF2B5EF4-FFF2-40B4-BE49-F238E27FC236}">
                <a16:creationId xmlns:a16="http://schemas.microsoft.com/office/drawing/2014/main" id="{07664820-0A41-3F2E-300B-5385292A4DE6}"/>
              </a:ext>
            </a:extLst>
          </p:cNvPr>
          <p:cNvPicPr>
            <a:picLocks noChangeAspect="1"/>
          </p:cNvPicPr>
          <p:nvPr/>
        </p:nvPicPr>
        <p:blipFill>
          <a:blip r:embed="rId3"/>
          <a:stretch>
            <a:fillRect/>
          </a:stretch>
        </p:blipFill>
        <p:spPr>
          <a:xfrm>
            <a:off x="5915140" y="874750"/>
            <a:ext cx="5796709" cy="2776595"/>
          </a:xfrm>
          <a:prstGeom prst="rect">
            <a:avLst/>
          </a:prstGeom>
          <a:ln>
            <a:solidFill>
              <a:schemeClr val="tx1"/>
            </a:solidFill>
          </a:ln>
        </p:spPr>
      </p:pic>
      <p:sp>
        <p:nvSpPr>
          <p:cNvPr id="8" name="TextBox 7">
            <a:extLst>
              <a:ext uri="{FF2B5EF4-FFF2-40B4-BE49-F238E27FC236}">
                <a16:creationId xmlns:a16="http://schemas.microsoft.com/office/drawing/2014/main" id="{70E8E0BC-8E7F-3B48-6F51-7CB0EC389C1D}"/>
              </a:ext>
            </a:extLst>
          </p:cNvPr>
          <p:cNvSpPr txBox="1"/>
          <p:nvPr/>
        </p:nvSpPr>
        <p:spPr>
          <a:xfrm>
            <a:off x="8819655" y="3809999"/>
            <a:ext cx="14936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Times New Roman"/>
                <a:cs typeface="Times New Roman"/>
              </a:rPr>
              <a:t>PENG-ROB</a:t>
            </a:r>
          </a:p>
        </p:txBody>
      </p:sp>
      <p:pic>
        <p:nvPicPr>
          <p:cNvPr id="9" name="Picture 8" descr="A graph of water with purple and blue dots&#10;&#10;AI-generated content may be incorrect.">
            <a:extLst>
              <a:ext uri="{FF2B5EF4-FFF2-40B4-BE49-F238E27FC236}">
                <a16:creationId xmlns:a16="http://schemas.microsoft.com/office/drawing/2014/main" id="{AFB72CDD-3FFA-4E53-30C9-C0A2B23020D1}"/>
              </a:ext>
            </a:extLst>
          </p:cNvPr>
          <p:cNvPicPr>
            <a:picLocks noChangeAspect="1"/>
          </p:cNvPicPr>
          <p:nvPr/>
        </p:nvPicPr>
        <p:blipFill>
          <a:blip r:embed="rId4"/>
          <a:stretch>
            <a:fillRect/>
          </a:stretch>
        </p:blipFill>
        <p:spPr>
          <a:xfrm>
            <a:off x="3191003" y="3722907"/>
            <a:ext cx="5310131" cy="2784169"/>
          </a:xfrm>
          <a:prstGeom prst="rect">
            <a:avLst/>
          </a:prstGeom>
          <a:ln>
            <a:solidFill>
              <a:schemeClr val="tx1"/>
            </a:solidFill>
          </a:ln>
        </p:spPr>
      </p:pic>
      <p:sp>
        <p:nvSpPr>
          <p:cNvPr id="10" name="TextBox 9">
            <a:extLst>
              <a:ext uri="{FF2B5EF4-FFF2-40B4-BE49-F238E27FC236}">
                <a16:creationId xmlns:a16="http://schemas.microsoft.com/office/drawing/2014/main" id="{0350D28F-A035-E545-CFBA-9C051DFFD5F7}"/>
              </a:ext>
            </a:extLst>
          </p:cNvPr>
          <p:cNvSpPr txBox="1"/>
          <p:nvPr/>
        </p:nvSpPr>
        <p:spPr>
          <a:xfrm>
            <a:off x="4912894" y="6507079"/>
            <a:ext cx="15411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Times New Roman"/>
                <a:cs typeface="Times New Roman"/>
              </a:rPr>
              <a:t>UNIQUAC</a:t>
            </a:r>
          </a:p>
        </p:txBody>
      </p:sp>
      <p:sp>
        <p:nvSpPr>
          <p:cNvPr id="12" name="TextBox 11">
            <a:extLst>
              <a:ext uri="{FF2B5EF4-FFF2-40B4-BE49-F238E27FC236}">
                <a16:creationId xmlns:a16="http://schemas.microsoft.com/office/drawing/2014/main" id="{610B37A9-3729-ECE5-0F5E-B77FEB042B3A}"/>
              </a:ext>
            </a:extLst>
          </p:cNvPr>
          <p:cNvSpPr txBox="1"/>
          <p:nvPr/>
        </p:nvSpPr>
        <p:spPr>
          <a:xfrm>
            <a:off x="8983580" y="5003131"/>
            <a:ext cx="251660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3">
                    <a:lumMod val="76000"/>
                  </a:schemeClr>
                </a:solidFill>
                <a:latin typeface="Times New Roman"/>
                <a:cs typeface="Times New Roman"/>
              </a:rPr>
              <a:t>UNIQUAC IS THE BEST MODEL, AS IT BEST FITS THE DATA!</a:t>
            </a:r>
          </a:p>
        </p:txBody>
      </p:sp>
      <p:sp>
        <p:nvSpPr>
          <p:cNvPr id="4" name="Slide Number Placeholder 3">
            <a:extLst>
              <a:ext uri="{FF2B5EF4-FFF2-40B4-BE49-F238E27FC236}">
                <a16:creationId xmlns:a16="http://schemas.microsoft.com/office/drawing/2014/main" id="{05EE36AA-3724-2F0E-3A68-604A52E7D252}"/>
              </a:ext>
            </a:extLst>
          </p:cNvPr>
          <p:cNvSpPr>
            <a:spLocks noGrp="1"/>
          </p:cNvSpPr>
          <p:nvPr>
            <p:ph type="sldNum" sz="quarter" idx="12"/>
          </p:nvPr>
        </p:nvSpPr>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29552451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91641-929B-C50E-5B3F-9C24CCE9753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01019AF-D019-E64A-22FE-43611C485B4D}"/>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Thermodynamic Parameters</a:t>
            </a:r>
            <a:endParaRPr lang="en-US">
              <a:latin typeface="Times New Roman"/>
              <a:cs typeface="Times New Roman"/>
            </a:endParaRPr>
          </a:p>
        </p:txBody>
      </p:sp>
      <p:sp>
        <p:nvSpPr>
          <p:cNvPr id="12" name="TextBox 11">
            <a:extLst>
              <a:ext uri="{FF2B5EF4-FFF2-40B4-BE49-F238E27FC236}">
                <a16:creationId xmlns:a16="http://schemas.microsoft.com/office/drawing/2014/main" id="{1B6E8D7B-6A57-2AA4-E230-88A150F63B61}"/>
              </a:ext>
            </a:extLst>
          </p:cNvPr>
          <p:cNvSpPr txBox="1"/>
          <p:nvPr/>
        </p:nvSpPr>
        <p:spPr>
          <a:xfrm>
            <a:off x="353700" y="1128866"/>
            <a:ext cx="114678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  Estimated the rest of parameters of UNIQUAC model using UNIFAC</a:t>
            </a:r>
          </a:p>
        </p:txBody>
      </p:sp>
      <p:sp>
        <p:nvSpPr>
          <p:cNvPr id="4" name="Slide Number Placeholder 3">
            <a:extLst>
              <a:ext uri="{FF2B5EF4-FFF2-40B4-BE49-F238E27FC236}">
                <a16:creationId xmlns:a16="http://schemas.microsoft.com/office/drawing/2014/main" id="{A85045B6-C6FD-B989-1824-D6B7D5F8441E}"/>
              </a:ext>
            </a:extLst>
          </p:cNvPr>
          <p:cNvSpPr>
            <a:spLocks noGrp="1"/>
          </p:cNvSpPr>
          <p:nvPr>
            <p:ph type="sldNum" sz="quarter" idx="12"/>
          </p:nvPr>
        </p:nvSpPr>
        <p:spPr/>
        <p:txBody>
          <a:bodyPr/>
          <a:lstStyle/>
          <a:p>
            <a:fld id="{330EA680-D336-4FF7-8B7A-9848BB0A1C32}" type="slidenum">
              <a:rPr lang="en-US" smtClean="0"/>
              <a:t>26</a:t>
            </a:fld>
            <a:endParaRPr lang="en-US"/>
          </a:p>
        </p:txBody>
      </p:sp>
      <p:graphicFrame>
        <p:nvGraphicFramePr>
          <p:cNvPr id="7" name="Table 6">
            <a:extLst>
              <a:ext uri="{FF2B5EF4-FFF2-40B4-BE49-F238E27FC236}">
                <a16:creationId xmlns:a16="http://schemas.microsoft.com/office/drawing/2014/main" id="{65B1E90B-7C59-9F40-6447-65DBD30FDB52}"/>
              </a:ext>
            </a:extLst>
          </p:cNvPr>
          <p:cNvGraphicFramePr>
            <a:graphicFrameLocks noGrp="1"/>
          </p:cNvGraphicFramePr>
          <p:nvPr>
            <p:extLst>
              <p:ext uri="{D42A27DB-BD31-4B8C-83A1-F6EECF244321}">
                <p14:modId xmlns:p14="http://schemas.microsoft.com/office/powerpoint/2010/main" val="2090931686"/>
              </p:ext>
            </p:extLst>
          </p:nvPr>
        </p:nvGraphicFramePr>
        <p:xfrm>
          <a:off x="878011" y="1943396"/>
          <a:ext cx="10419185" cy="4143767"/>
        </p:xfrm>
        <a:graphic>
          <a:graphicData uri="http://schemas.openxmlformats.org/drawingml/2006/table">
            <a:tbl>
              <a:tblPr firstRow="1" bandRow="1">
                <a:tableStyleId>{5C22544A-7EE6-4342-B048-85BDC9FD1C3A}</a:tableStyleId>
              </a:tblPr>
              <a:tblGrid>
                <a:gridCol w="1044176">
                  <a:extLst>
                    <a:ext uri="{9D8B030D-6E8A-4147-A177-3AD203B41FA5}">
                      <a16:colId xmlns:a16="http://schemas.microsoft.com/office/drawing/2014/main" val="3887538516"/>
                    </a:ext>
                  </a:extLst>
                </a:gridCol>
                <a:gridCol w="1078980">
                  <a:extLst>
                    <a:ext uri="{9D8B030D-6E8A-4147-A177-3AD203B41FA5}">
                      <a16:colId xmlns:a16="http://schemas.microsoft.com/office/drawing/2014/main" val="88893882"/>
                    </a:ext>
                  </a:extLst>
                </a:gridCol>
                <a:gridCol w="777330">
                  <a:extLst>
                    <a:ext uri="{9D8B030D-6E8A-4147-A177-3AD203B41FA5}">
                      <a16:colId xmlns:a16="http://schemas.microsoft.com/office/drawing/2014/main" val="3028288290"/>
                    </a:ext>
                  </a:extLst>
                </a:gridCol>
                <a:gridCol w="754125">
                  <a:extLst>
                    <a:ext uri="{9D8B030D-6E8A-4147-A177-3AD203B41FA5}">
                      <a16:colId xmlns:a16="http://schemas.microsoft.com/office/drawing/2014/main" val="60303808"/>
                    </a:ext>
                  </a:extLst>
                </a:gridCol>
                <a:gridCol w="881749">
                  <a:extLst>
                    <a:ext uri="{9D8B030D-6E8A-4147-A177-3AD203B41FA5}">
                      <a16:colId xmlns:a16="http://schemas.microsoft.com/office/drawing/2014/main" val="808097544"/>
                    </a:ext>
                  </a:extLst>
                </a:gridCol>
                <a:gridCol w="818409">
                  <a:extLst>
                    <a:ext uri="{9D8B030D-6E8A-4147-A177-3AD203B41FA5}">
                      <a16:colId xmlns:a16="http://schemas.microsoft.com/office/drawing/2014/main" val="2452085474"/>
                    </a:ext>
                  </a:extLst>
                </a:gridCol>
                <a:gridCol w="754980">
                  <a:extLst>
                    <a:ext uri="{9D8B030D-6E8A-4147-A177-3AD203B41FA5}">
                      <a16:colId xmlns:a16="http://schemas.microsoft.com/office/drawing/2014/main" val="2371346074"/>
                    </a:ext>
                  </a:extLst>
                </a:gridCol>
                <a:gridCol w="742183">
                  <a:extLst>
                    <a:ext uri="{9D8B030D-6E8A-4147-A177-3AD203B41FA5}">
                      <a16:colId xmlns:a16="http://schemas.microsoft.com/office/drawing/2014/main" val="4022477029"/>
                    </a:ext>
                  </a:extLst>
                </a:gridCol>
                <a:gridCol w="764871">
                  <a:extLst>
                    <a:ext uri="{9D8B030D-6E8A-4147-A177-3AD203B41FA5}">
                      <a16:colId xmlns:a16="http://schemas.microsoft.com/office/drawing/2014/main" val="609525559"/>
                    </a:ext>
                  </a:extLst>
                </a:gridCol>
                <a:gridCol w="754980">
                  <a:extLst>
                    <a:ext uri="{9D8B030D-6E8A-4147-A177-3AD203B41FA5}">
                      <a16:colId xmlns:a16="http://schemas.microsoft.com/office/drawing/2014/main" val="3184092143"/>
                    </a:ext>
                  </a:extLst>
                </a:gridCol>
                <a:gridCol w="959720">
                  <a:extLst>
                    <a:ext uri="{9D8B030D-6E8A-4147-A177-3AD203B41FA5}">
                      <a16:colId xmlns:a16="http://schemas.microsoft.com/office/drawing/2014/main" val="2518775581"/>
                    </a:ext>
                  </a:extLst>
                </a:gridCol>
                <a:gridCol w="1087682">
                  <a:extLst>
                    <a:ext uri="{9D8B030D-6E8A-4147-A177-3AD203B41FA5}">
                      <a16:colId xmlns:a16="http://schemas.microsoft.com/office/drawing/2014/main" val="3108704669"/>
                    </a:ext>
                  </a:extLst>
                </a:gridCol>
              </a:tblGrid>
              <a:tr h="595237">
                <a:tc>
                  <a:txBody>
                    <a:bodyPr/>
                    <a:lstStyle/>
                    <a:p>
                      <a:pPr algn="ctr">
                        <a:buNone/>
                      </a:pPr>
                      <a:r>
                        <a:rPr lang="en-GB" sz="1200">
                          <a:effectLst/>
                          <a:latin typeface="Times New Roman"/>
                        </a:rPr>
                        <a:t>Component</a:t>
                      </a:r>
                      <a:r>
                        <a:rPr lang="en-GB" sz="1200" baseline="-25000">
                          <a:effectLst/>
                          <a:latin typeface="Times New Roman"/>
                        </a:rPr>
                        <a:t> </a:t>
                      </a:r>
                      <a:r>
                        <a:rPr lang="en-GB" sz="1200" baseline="-25000" err="1">
                          <a:effectLst/>
                          <a:latin typeface="Times New Roman"/>
                        </a:rPr>
                        <a:t>i</a:t>
                      </a:r>
                      <a:endParaRPr lang="en-GB" sz="1200" baseline="-25000">
                        <a:effectLst/>
                        <a:latin typeface="Times New Roman"/>
                      </a:endParaRPr>
                    </a:p>
                  </a:txBody>
                  <a:tcPr marL="0" marR="0" marT="0" marB="0" anchor="ctr">
                    <a:solidFill>
                      <a:srgbClr val="002060"/>
                    </a:solidFill>
                  </a:tcPr>
                </a:tc>
                <a:tc>
                  <a:txBody>
                    <a:bodyPr/>
                    <a:lstStyle/>
                    <a:p>
                      <a:pPr algn="ctr">
                        <a:buNone/>
                      </a:pPr>
                      <a:r>
                        <a:rPr lang="en-GB" sz="1200">
                          <a:effectLst/>
                          <a:latin typeface="Times New Roman"/>
                        </a:rPr>
                        <a:t>Component</a:t>
                      </a:r>
                      <a:r>
                        <a:rPr lang="en-GB" sz="1200" baseline="-25000">
                          <a:effectLst/>
                          <a:latin typeface="Times New Roman"/>
                        </a:rPr>
                        <a:t> j</a:t>
                      </a:r>
                    </a:p>
                  </a:txBody>
                  <a:tcPr marL="0" marR="0" marT="0" marB="0" anchor="ctr">
                    <a:solidFill>
                      <a:srgbClr val="002060"/>
                    </a:solidFill>
                  </a:tcPr>
                </a:tc>
                <a:tc>
                  <a:txBody>
                    <a:bodyPr/>
                    <a:lstStyle/>
                    <a:p>
                      <a:pPr algn="ctr">
                        <a:buNone/>
                      </a:pPr>
                      <a:r>
                        <a:rPr lang="en-GB" sz="1200">
                          <a:effectLst/>
                          <a:latin typeface="Times New Roman"/>
                        </a:rPr>
                        <a:t>A</a:t>
                      </a:r>
                      <a:r>
                        <a:rPr lang="en-GB" sz="1200" baseline="-25000">
                          <a:effectLst/>
                          <a:latin typeface="Times New Roman"/>
                        </a:rPr>
                        <a:t>IJ</a:t>
                      </a:r>
                    </a:p>
                  </a:txBody>
                  <a:tcPr marL="0" marR="0" marT="0" marB="0" anchor="ctr">
                    <a:solidFill>
                      <a:srgbClr val="002060"/>
                    </a:solidFill>
                  </a:tcPr>
                </a:tc>
                <a:tc>
                  <a:txBody>
                    <a:bodyPr/>
                    <a:lstStyle/>
                    <a:p>
                      <a:pPr algn="ctr">
                        <a:buNone/>
                      </a:pPr>
                      <a:r>
                        <a:rPr lang="en-GB" sz="1200">
                          <a:effectLst/>
                          <a:latin typeface="Times New Roman"/>
                        </a:rPr>
                        <a:t>A</a:t>
                      </a:r>
                      <a:r>
                        <a:rPr lang="en-GB" sz="1200" baseline="-25000">
                          <a:effectLst/>
                          <a:latin typeface="Times New Roman"/>
                        </a:rPr>
                        <a:t>JI</a:t>
                      </a:r>
                    </a:p>
                  </a:txBody>
                  <a:tcPr marL="0" marR="0" marT="0" marB="0" anchor="ctr">
                    <a:solidFill>
                      <a:srgbClr val="002060"/>
                    </a:solidFill>
                  </a:tcPr>
                </a:tc>
                <a:tc>
                  <a:txBody>
                    <a:bodyPr/>
                    <a:lstStyle/>
                    <a:p>
                      <a:pPr algn="ctr">
                        <a:buNone/>
                      </a:pPr>
                      <a:r>
                        <a:rPr lang="en-GB" sz="1200">
                          <a:effectLst/>
                          <a:latin typeface="Times New Roman"/>
                        </a:rPr>
                        <a:t>B</a:t>
                      </a:r>
                      <a:r>
                        <a:rPr lang="en-GB" sz="1200" baseline="-25000">
                          <a:effectLst/>
                          <a:latin typeface="Times New Roman"/>
                        </a:rPr>
                        <a:t>IJ</a:t>
                      </a:r>
                    </a:p>
                  </a:txBody>
                  <a:tcPr marL="0" marR="0" marT="0" marB="0" anchor="ctr">
                    <a:solidFill>
                      <a:srgbClr val="002060"/>
                    </a:solidFill>
                  </a:tcPr>
                </a:tc>
                <a:tc>
                  <a:txBody>
                    <a:bodyPr/>
                    <a:lstStyle/>
                    <a:p>
                      <a:pPr algn="ctr">
                        <a:buNone/>
                      </a:pPr>
                      <a:r>
                        <a:rPr lang="en-GB" sz="1200">
                          <a:effectLst/>
                          <a:latin typeface="Times New Roman"/>
                        </a:rPr>
                        <a:t>B</a:t>
                      </a:r>
                      <a:r>
                        <a:rPr lang="en-GB" sz="1200" baseline="-25000">
                          <a:effectLst/>
                          <a:latin typeface="Times New Roman"/>
                        </a:rPr>
                        <a:t>JI</a:t>
                      </a:r>
                    </a:p>
                  </a:txBody>
                  <a:tcPr marL="0" marR="0" marT="0" marB="0" anchor="ctr">
                    <a:solidFill>
                      <a:srgbClr val="002060"/>
                    </a:solidFill>
                  </a:tcPr>
                </a:tc>
                <a:tc>
                  <a:txBody>
                    <a:bodyPr/>
                    <a:lstStyle/>
                    <a:p>
                      <a:pPr algn="ctr">
                        <a:buNone/>
                      </a:pPr>
                      <a:r>
                        <a:rPr lang="en-GB" sz="1200">
                          <a:effectLst/>
                          <a:latin typeface="Times New Roman"/>
                        </a:rPr>
                        <a:t>C</a:t>
                      </a:r>
                      <a:r>
                        <a:rPr lang="en-GB" sz="1200" baseline="-25000">
                          <a:effectLst/>
                          <a:latin typeface="Times New Roman"/>
                        </a:rPr>
                        <a:t>IJ</a:t>
                      </a:r>
                    </a:p>
                  </a:txBody>
                  <a:tcPr marL="0" marR="0" marT="0" marB="0" anchor="ctr">
                    <a:solidFill>
                      <a:srgbClr val="002060"/>
                    </a:solidFill>
                  </a:tcPr>
                </a:tc>
                <a:tc>
                  <a:txBody>
                    <a:bodyPr/>
                    <a:lstStyle/>
                    <a:p>
                      <a:pPr algn="ctr">
                        <a:buNone/>
                      </a:pPr>
                      <a:r>
                        <a:rPr lang="en-GB" sz="1200">
                          <a:effectLst/>
                          <a:latin typeface="Times New Roman"/>
                        </a:rPr>
                        <a:t>C</a:t>
                      </a:r>
                      <a:r>
                        <a:rPr lang="en-GB" sz="1200" baseline="-25000">
                          <a:effectLst/>
                          <a:latin typeface="Times New Roman"/>
                        </a:rPr>
                        <a:t>JI</a:t>
                      </a:r>
                    </a:p>
                  </a:txBody>
                  <a:tcPr marL="0" marR="0" marT="0" marB="0" anchor="ctr">
                    <a:solidFill>
                      <a:srgbClr val="002060"/>
                    </a:solidFill>
                  </a:tcPr>
                </a:tc>
                <a:tc>
                  <a:txBody>
                    <a:bodyPr/>
                    <a:lstStyle/>
                    <a:p>
                      <a:pPr algn="ctr">
                        <a:buNone/>
                      </a:pPr>
                      <a:r>
                        <a:rPr lang="en-GB" sz="1200">
                          <a:effectLst/>
                          <a:latin typeface="Times New Roman"/>
                        </a:rPr>
                        <a:t>D</a:t>
                      </a:r>
                      <a:r>
                        <a:rPr lang="en-GB" sz="1200" baseline="-25000">
                          <a:effectLst/>
                          <a:latin typeface="Times New Roman"/>
                        </a:rPr>
                        <a:t>IJ</a:t>
                      </a:r>
                    </a:p>
                  </a:txBody>
                  <a:tcPr marL="0" marR="0" marT="0" marB="0" anchor="ctr">
                    <a:solidFill>
                      <a:srgbClr val="002060"/>
                    </a:solidFill>
                  </a:tcPr>
                </a:tc>
                <a:tc>
                  <a:txBody>
                    <a:bodyPr/>
                    <a:lstStyle/>
                    <a:p>
                      <a:pPr algn="ctr">
                        <a:buNone/>
                      </a:pPr>
                      <a:r>
                        <a:rPr lang="en-GB" sz="1200">
                          <a:effectLst/>
                          <a:latin typeface="Times New Roman"/>
                        </a:rPr>
                        <a:t>D</a:t>
                      </a:r>
                      <a:r>
                        <a:rPr lang="en-GB" sz="1200" baseline="-25000">
                          <a:effectLst/>
                          <a:latin typeface="Times New Roman"/>
                        </a:rPr>
                        <a:t>JI</a:t>
                      </a:r>
                    </a:p>
                  </a:txBody>
                  <a:tcPr marL="0" marR="0" marT="0" marB="0" anchor="ctr">
                    <a:solidFill>
                      <a:srgbClr val="002060"/>
                    </a:solidFill>
                  </a:tcPr>
                </a:tc>
                <a:tc>
                  <a:txBody>
                    <a:bodyPr/>
                    <a:lstStyle/>
                    <a:p>
                      <a:pPr algn="ctr">
                        <a:buNone/>
                      </a:pPr>
                      <a:r>
                        <a:rPr lang="en-GB" sz="1200">
                          <a:effectLst/>
                          <a:latin typeface="Times New Roman"/>
                        </a:rPr>
                        <a:t>T</a:t>
                      </a:r>
                      <a:r>
                        <a:rPr lang="en-GB" sz="1200" baseline="-25000">
                          <a:effectLst/>
                          <a:latin typeface="Times New Roman"/>
                        </a:rPr>
                        <a:t>lower </a:t>
                      </a:r>
                      <a:r>
                        <a:rPr lang="en-GB" sz="1200">
                          <a:effectLst/>
                          <a:latin typeface="Times New Roman"/>
                        </a:rPr>
                        <a:t>(C)</a:t>
                      </a:r>
                      <a:endParaRPr lang="en-US" baseline="-25000"/>
                    </a:p>
                  </a:txBody>
                  <a:tcPr marL="0" marR="0" marT="0" marB="0" anchor="ctr">
                    <a:solidFill>
                      <a:srgbClr val="002060"/>
                    </a:solidFill>
                  </a:tcPr>
                </a:tc>
                <a:tc>
                  <a:txBody>
                    <a:bodyPr/>
                    <a:lstStyle/>
                    <a:p>
                      <a:pPr algn="ctr">
                        <a:buNone/>
                      </a:pPr>
                      <a:r>
                        <a:rPr lang="en-GB" sz="1200">
                          <a:effectLst/>
                          <a:latin typeface="Times New Roman"/>
                        </a:rPr>
                        <a:t>T</a:t>
                      </a:r>
                      <a:r>
                        <a:rPr lang="en-GB" sz="1200" baseline="-25000">
                          <a:effectLst/>
                          <a:latin typeface="Times New Roman"/>
                        </a:rPr>
                        <a:t>upper</a:t>
                      </a:r>
                      <a:r>
                        <a:rPr lang="en-GB" sz="1200" baseline="0">
                          <a:effectLst/>
                          <a:latin typeface="Times New Roman"/>
                        </a:rPr>
                        <a:t> </a:t>
                      </a:r>
                      <a:r>
                        <a:rPr lang="en-GB" sz="1200">
                          <a:effectLst/>
                          <a:latin typeface="Times New Roman"/>
                        </a:rPr>
                        <a:t>(C)</a:t>
                      </a:r>
                      <a:endParaRPr lang="en-US"/>
                    </a:p>
                  </a:txBody>
                  <a:tcPr marL="0" marR="0" marT="0" marB="0" anchor="ctr">
                    <a:solidFill>
                      <a:srgbClr val="002060"/>
                    </a:solidFill>
                  </a:tcPr>
                </a:tc>
                <a:extLst>
                  <a:ext uri="{0D108BD9-81ED-4DB2-BD59-A6C34878D82A}">
                    <a16:rowId xmlns:a16="http://schemas.microsoft.com/office/drawing/2014/main" val="550211391"/>
                  </a:ext>
                </a:extLst>
              </a:tr>
              <a:tr h="354853">
                <a:tc>
                  <a:txBody>
                    <a:bodyPr/>
                    <a:lstStyle/>
                    <a:p>
                      <a:pPr algn="ctr">
                        <a:buNone/>
                      </a:pPr>
                      <a:r>
                        <a:rPr lang="en-GB" sz="1200">
                          <a:effectLst/>
                          <a:latin typeface="Times New Roman"/>
                        </a:rPr>
                        <a:t>BENZA</a:t>
                      </a:r>
                    </a:p>
                  </a:txBody>
                  <a:tcPr marL="0" marR="0" marT="0" marB="0" anchor="ctr"/>
                </a:tc>
                <a:tc>
                  <a:txBody>
                    <a:bodyPr/>
                    <a:lstStyle/>
                    <a:p>
                      <a:pPr algn="ctr">
                        <a:buNone/>
                      </a:pPr>
                      <a:r>
                        <a:rPr lang="en-GB" sz="1200">
                          <a:latin typeface="Times New Roman"/>
                        </a:rPr>
                        <a:t>WATER</a:t>
                      </a:r>
                    </a:p>
                  </a:txBody>
                  <a:tcPr marL="0" marR="0" marT="0" marB="0" anchor="ctr"/>
                </a:tc>
                <a:tc>
                  <a:txBody>
                    <a:bodyPr/>
                    <a:lstStyle/>
                    <a:p>
                      <a:pPr algn="ctr">
                        <a:buNone/>
                      </a:pPr>
                      <a:r>
                        <a:rPr lang="en-GB" sz="1200">
                          <a:latin typeface="Times New Roman"/>
                        </a:rPr>
                        <a:t>-61.6506</a:t>
                      </a:r>
                    </a:p>
                  </a:txBody>
                  <a:tcPr marL="0" marR="0" marT="0" marB="0" anchor="ctr"/>
                </a:tc>
                <a:tc>
                  <a:txBody>
                    <a:bodyPr/>
                    <a:lstStyle/>
                    <a:p>
                      <a:pPr algn="ctr">
                        <a:buNone/>
                      </a:pPr>
                      <a:r>
                        <a:rPr lang="en-GB" sz="1200">
                          <a:latin typeface="Times New Roman"/>
                        </a:rPr>
                        <a:t>-7.3661</a:t>
                      </a:r>
                    </a:p>
                  </a:txBody>
                  <a:tcPr marL="0" marR="0" marT="0" marB="0" anchor="ctr"/>
                </a:tc>
                <a:tc>
                  <a:txBody>
                    <a:bodyPr/>
                    <a:lstStyle/>
                    <a:p>
                      <a:pPr algn="ctr">
                        <a:buNone/>
                      </a:pPr>
                      <a:r>
                        <a:rPr lang="en-GB" sz="1200">
                          <a:latin typeface="Times New Roman"/>
                        </a:rPr>
                        <a:t>2424.886</a:t>
                      </a:r>
                    </a:p>
                  </a:txBody>
                  <a:tcPr marL="0" marR="0" marT="0" marB="0" anchor="ctr"/>
                </a:tc>
                <a:tc>
                  <a:txBody>
                    <a:bodyPr/>
                    <a:lstStyle/>
                    <a:p>
                      <a:pPr algn="ctr">
                        <a:buNone/>
                      </a:pPr>
                      <a:r>
                        <a:rPr lang="en-GB" sz="1200">
                          <a:latin typeface="Times New Roman"/>
                        </a:rPr>
                        <a:t>1073.019</a:t>
                      </a:r>
                    </a:p>
                  </a:txBody>
                  <a:tcPr marL="0" marR="0" marT="0" marB="0" anchor="ctr"/>
                </a:tc>
                <a:tc>
                  <a:txBody>
                    <a:bodyPr/>
                    <a:lstStyle/>
                    <a:p>
                      <a:pPr algn="ctr">
                        <a:buNone/>
                      </a:pPr>
                      <a:r>
                        <a:rPr lang="en-GB" sz="1200">
                          <a:latin typeface="Times New Roman"/>
                        </a:rPr>
                        <a:t>9.4538</a:t>
                      </a:r>
                    </a:p>
                  </a:txBody>
                  <a:tcPr marL="0" marR="0" marT="0" marB="0" anchor="ctr"/>
                </a:tc>
                <a:tc>
                  <a:txBody>
                    <a:bodyPr/>
                    <a:lstStyle/>
                    <a:p>
                      <a:pPr algn="ctr">
                        <a:buNone/>
                      </a:pPr>
                      <a:r>
                        <a:rPr lang="en-GB" sz="1200">
                          <a:latin typeface="Times New Roman"/>
                        </a:rPr>
                        <a:t>0.4699</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64</a:t>
                      </a:r>
                    </a:p>
                  </a:txBody>
                  <a:tcPr marL="0" marR="0" marT="0" marB="0" anchor="ctr"/>
                </a:tc>
                <a:tc>
                  <a:txBody>
                    <a:bodyPr/>
                    <a:lstStyle/>
                    <a:p>
                      <a:pPr algn="ctr">
                        <a:buNone/>
                      </a:pPr>
                      <a:r>
                        <a:rPr lang="en-GB" sz="1200">
                          <a:latin typeface="Times New Roman"/>
                        </a:rPr>
                        <a:t>115.5</a:t>
                      </a:r>
                    </a:p>
                  </a:txBody>
                  <a:tcPr marL="0" marR="0" marT="0" marB="0" anchor="ctr"/>
                </a:tc>
                <a:extLst>
                  <a:ext uri="{0D108BD9-81ED-4DB2-BD59-A6C34878D82A}">
                    <a16:rowId xmlns:a16="http://schemas.microsoft.com/office/drawing/2014/main" val="557707289"/>
                  </a:ext>
                </a:extLst>
              </a:tr>
              <a:tr h="354853">
                <a:tc>
                  <a:txBody>
                    <a:bodyPr/>
                    <a:lstStyle/>
                    <a:p>
                      <a:pPr algn="ctr">
                        <a:buNone/>
                      </a:pPr>
                      <a:r>
                        <a:rPr lang="en-GB" sz="1200">
                          <a:effectLst/>
                          <a:latin typeface="Times New Roman"/>
                        </a:rPr>
                        <a:t>BENZA</a:t>
                      </a:r>
                    </a:p>
                  </a:txBody>
                  <a:tcPr marL="0" marR="0" marT="0" marB="0" anchor="ctr"/>
                </a:tc>
                <a:tc>
                  <a:txBody>
                    <a:bodyPr/>
                    <a:lstStyle/>
                    <a:p>
                      <a:pPr algn="ctr">
                        <a:buNone/>
                      </a:pPr>
                      <a:r>
                        <a:rPr lang="en-GB" sz="1200">
                          <a:latin typeface="Times New Roman"/>
                        </a:rPr>
                        <a:t>METH</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-19.163</a:t>
                      </a:r>
                    </a:p>
                  </a:txBody>
                  <a:tcPr marL="0" marR="0" marT="0" marB="0" anchor="ctr"/>
                </a:tc>
                <a:tc>
                  <a:txBody>
                    <a:bodyPr/>
                    <a:lstStyle/>
                    <a:p>
                      <a:pPr algn="ctr">
                        <a:buNone/>
                      </a:pPr>
                      <a:r>
                        <a:rPr lang="en-GB" sz="1200">
                          <a:latin typeface="Times New Roman"/>
                        </a:rPr>
                        <a:t>210.75</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20</a:t>
                      </a:r>
                    </a:p>
                  </a:txBody>
                  <a:tcPr marL="0" marR="0" marT="0" marB="0" anchor="ctr"/>
                </a:tc>
                <a:tc>
                  <a:txBody>
                    <a:bodyPr/>
                    <a:lstStyle/>
                    <a:p>
                      <a:pPr algn="ctr">
                        <a:buNone/>
                      </a:pPr>
                      <a:r>
                        <a:rPr lang="en-GB" sz="1200">
                          <a:latin typeface="Times New Roman"/>
                        </a:rPr>
                        <a:t>40</a:t>
                      </a:r>
                    </a:p>
                  </a:txBody>
                  <a:tcPr marL="0" marR="0" marT="0" marB="0" anchor="ctr"/>
                </a:tc>
                <a:extLst>
                  <a:ext uri="{0D108BD9-81ED-4DB2-BD59-A6C34878D82A}">
                    <a16:rowId xmlns:a16="http://schemas.microsoft.com/office/drawing/2014/main" val="1920778082"/>
                  </a:ext>
                </a:extLst>
              </a:tr>
              <a:tr h="354853">
                <a:tc>
                  <a:txBody>
                    <a:bodyPr/>
                    <a:lstStyle/>
                    <a:p>
                      <a:pPr algn="ctr">
                        <a:buNone/>
                      </a:pPr>
                      <a:r>
                        <a:rPr lang="en-GB" sz="1200">
                          <a:effectLst/>
                          <a:latin typeface="Times New Roman"/>
                        </a:rPr>
                        <a:t>WATER</a:t>
                      </a:r>
                    </a:p>
                  </a:txBody>
                  <a:tcPr marL="0" marR="0" marT="0" marB="0" anchor="ctr"/>
                </a:tc>
                <a:tc>
                  <a:txBody>
                    <a:bodyPr/>
                    <a:lstStyle/>
                    <a:p>
                      <a:pPr algn="ctr">
                        <a:buNone/>
                      </a:pPr>
                      <a:r>
                        <a:rPr lang="en-GB" sz="1200">
                          <a:latin typeface="Times New Roman"/>
                        </a:rPr>
                        <a:t>METH</a:t>
                      </a:r>
                    </a:p>
                  </a:txBody>
                  <a:tcPr marL="0" marR="0" marT="0" marB="0" anchor="ctr"/>
                </a:tc>
                <a:tc>
                  <a:txBody>
                    <a:bodyPr/>
                    <a:lstStyle/>
                    <a:p>
                      <a:pPr algn="ctr">
                        <a:buNone/>
                      </a:pPr>
                      <a:r>
                        <a:rPr lang="en-GB" sz="1200">
                          <a:latin typeface="Times New Roman"/>
                        </a:rPr>
                        <a:t>0.6437</a:t>
                      </a:r>
                    </a:p>
                  </a:txBody>
                  <a:tcPr marL="0" marR="0" marT="0" marB="0" anchor="ctr"/>
                </a:tc>
                <a:tc>
                  <a:txBody>
                    <a:bodyPr/>
                    <a:lstStyle/>
                    <a:p>
                      <a:pPr algn="ctr">
                        <a:buNone/>
                      </a:pPr>
                      <a:r>
                        <a:rPr lang="en-GB" sz="1200">
                          <a:latin typeface="Times New Roman"/>
                        </a:rPr>
                        <a:t>-1.0662</a:t>
                      </a:r>
                    </a:p>
                  </a:txBody>
                  <a:tcPr marL="0" marR="0" marT="0" marB="0" anchor="ctr"/>
                </a:tc>
                <a:tc>
                  <a:txBody>
                    <a:bodyPr/>
                    <a:lstStyle/>
                    <a:p>
                      <a:pPr algn="ctr">
                        <a:buNone/>
                      </a:pPr>
                      <a:r>
                        <a:rPr lang="en-GB" sz="1200">
                          <a:latin typeface="Times New Roman"/>
                        </a:rPr>
                        <a:t>-322.131</a:t>
                      </a:r>
                    </a:p>
                  </a:txBody>
                  <a:tcPr marL="0" marR="0" marT="0" marB="0" anchor="ctr"/>
                </a:tc>
                <a:tc>
                  <a:txBody>
                    <a:bodyPr/>
                    <a:lstStyle/>
                    <a:p>
                      <a:pPr algn="ctr">
                        <a:buNone/>
                      </a:pPr>
                      <a:r>
                        <a:rPr lang="en-GB" sz="1200">
                          <a:latin typeface="Times New Roman"/>
                        </a:rPr>
                        <a:t>432.8785</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24.99</a:t>
                      </a:r>
                    </a:p>
                  </a:txBody>
                  <a:tcPr marL="0" marR="0" marT="0" marB="0" anchor="ctr"/>
                </a:tc>
                <a:tc>
                  <a:txBody>
                    <a:bodyPr/>
                    <a:lstStyle/>
                    <a:p>
                      <a:pPr algn="ctr">
                        <a:buNone/>
                      </a:pPr>
                      <a:r>
                        <a:rPr lang="en-GB" sz="1200">
                          <a:latin typeface="Times New Roman"/>
                        </a:rPr>
                        <a:t>100</a:t>
                      </a:r>
                    </a:p>
                  </a:txBody>
                  <a:tcPr marL="0" marR="0" marT="0" marB="0" anchor="ctr"/>
                </a:tc>
                <a:extLst>
                  <a:ext uri="{0D108BD9-81ED-4DB2-BD59-A6C34878D82A}">
                    <a16:rowId xmlns:a16="http://schemas.microsoft.com/office/drawing/2014/main" val="137026804"/>
                  </a:ext>
                </a:extLst>
              </a:tr>
              <a:tr h="354853">
                <a:tc>
                  <a:txBody>
                    <a:bodyPr/>
                    <a:lstStyle/>
                    <a:p>
                      <a:pPr algn="ctr">
                        <a:buNone/>
                      </a:pPr>
                      <a:r>
                        <a:rPr lang="en-GB" sz="1200">
                          <a:effectLst/>
                          <a:latin typeface="Times New Roman"/>
                        </a:rPr>
                        <a:t>MEB</a:t>
                      </a:r>
                    </a:p>
                  </a:txBody>
                  <a:tcPr marL="0" marR="0" marT="0" marB="0" anchor="ctr"/>
                </a:tc>
                <a:tc>
                  <a:txBody>
                    <a:bodyPr/>
                    <a:lstStyle/>
                    <a:p>
                      <a:pPr algn="ctr">
                        <a:buNone/>
                      </a:pPr>
                      <a:r>
                        <a:rPr lang="en-GB" sz="1200">
                          <a:latin typeface="Times New Roman"/>
                        </a:rPr>
                        <a:t>BENZA</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-249.979</a:t>
                      </a:r>
                    </a:p>
                  </a:txBody>
                  <a:tcPr marL="0" marR="0" marT="0" marB="0" anchor="ctr"/>
                </a:tc>
                <a:tc>
                  <a:txBody>
                    <a:bodyPr/>
                    <a:lstStyle/>
                    <a:p>
                      <a:pPr algn="ctr">
                        <a:buNone/>
                      </a:pPr>
                      <a:r>
                        <a:rPr lang="en-GB" sz="1200">
                          <a:latin typeface="Times New Roman"/>
                        </a:rPr>
                        <a:t>151.4731</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3431428961"/>
                  </a:ext>
                </a:extLst>
              </a:tr>
              <a:tr h="354853">
                <a:tc>
                  <a:txBody>
                    <a:bodyPr/>
                    <a:lstStyle/>
                    <a:p>
                      <a:pPr algn="ctr">
                        <a:buNone/>
                      </a:pPr>
                      <a:r>
                        <a:rPr lang="en-GB" sz="1200">
                          <a:effectLst/>
                          <a:latin typeface="Times New Roman"/>
                        </a:rPr>
                        <a:t>MEB</a:t>
                      </a:r>
                    </a:p>
                  </a:txBody>
                  <a:tcPr marL="0" marR="0" marT="0" marB="0" anchor="ctr"/>
                </a:tc>
                <a:tc>
                  <a:txBody>
                    <a:bodyPr/>
                    <a:lstStyle/>
                    <a:p>
                      <a:pPr algn="ctr">
                        <a:buNone/>
                      </a:pPr>
                      <a:r>
                        <a:rPr lang="en-GB" sz="1200">
                          <a:latin typeface="Times New Roman"/>
                        </a:rPr>
                        <a:t>WATER</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-421.25</a:t>
                      </a:r>
                    </a:p>
                  </a:txBody>
                  <a:tcPr marL="0" marR="0" marT="0" marB="0" anchor="ctr"/>
                </a:tc>
                <a:tc>
                  <a:txBody>
                    <a:bodyPr/>
                    <a:lstStyle/>
                    <a:p>
                      <a:pPr algn="ctr">
                        <a:buNone/>
                      </a:pPr>
                      <a:r>
                        <a:rPr lang="en-GB" sz="1200">
                          <a:latin typeface="Times New Roman"/>
                        </a:rPr>
                        <a:t>-165.418</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3623802767"/>
                  </a:ext>
                </a:extLst>
              </a:tr>
              <a:tr h="354853">
                <a:tc>
                  <a:txBody>
                    <a:bodyPr/>
                    <a:lstStyle/>
                    <a:p>
                      <a:pPr algn="ctr">
                        <a:buNone/>
                      </a:pPr>
                      <a:r>
                        <a:rPr lang="en-GB" sz="1200">
                          <a:effectLst/>
                          <a:latin typeface="Times New Roman"/>
                        </a:rPr>
                        <a:t>MEB</a:t>
                      </a:r>
                    </a:p>
                  </a:txBody>
                  <a:tcPr marL="0" marR="0" marT="0" marB="0" anchor="ctr"/>
                </a:tc>
                <a:tc>
                  <a:txBody>
                    <a:bodyPr/>
                    <a:lstStyle/>
                    <a:p>
                      <a:pPr algn="ctr">
                        <a:buNone/>
                      </a:pPr>
                      <a:r>
                        <a:rPr lang="en-GB" sz="1200">
                          <a:latin typeface="Times New Roman"/>
                        </a:rPr>
                        <a:t>METH</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-385.159</a:t>
                      </a:r>
                    </a:p>
                  </a:txBody>
                  <a:tcPr marL="0" marR="0" marT="0" marB="0" anchor="ctr"/>
                </a:tc>
                <a:tc>
                  <a:txBody>
                    <a:bodyPr/>
                    <a:lstStyle/>
                    <a:p>
                      <a:pPr algn="ctr">
                        <a:buNone/>
                      </a:pPr>
                      <a:r>
                        <a:rPr lang="en-GB" sz="1200">
                          <a:latin typeface="Times New Roman"/>
                        </a:rPr>
                        <a:t>48.13078</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3709265622"/>
                  </a:ext>
                </a:extLst>
              </a:tr>
              <a:tr h="354853">
                <a:tc>
                  <a:txBody>
                    <a:bodyPr/>
                    <a:lstStyle/>
                    <a:p>
                      <a:pPr algn="ctr">
                        <a:buNone/>
                      </a:pPr>
                      <a:r>
                        <a:rPr lang="en-GB" sz="1200">
                          <a:effectLst/>
                          <a:latin typeface="Times New Roman"/>
                        </a:rPr>
                        <a:t>MEB</a:t>
                      </a:r>
                    </a:p>
                  </a:txBody>
                  <a:tcPr marL="0" marR="0" marT="0" marB="0" anchor="ctr"/>
                </a:tc>
                <a:tc>
                  <a:txBody>
                    <a:bodyPr/>
                    <a:lstStyle/>
                    <a:p>
                      <a:pPr algn="ctr">
                        <a:buNone/>
                      </a:pPr>
                      <a:r>
                        <a:rPr lang="en-GB" sz="1200">
                          <a:latin typeface="Times New Roman"/>
                        </a:rPr>
                        <a:t>PTH</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-297.173</a:t>
                      </a:r>
                    </a:p>
                  </a:txBody>
                  <a:tcPr marL="0" marR="0" marT="0" marB="0" anchor="ctr"/>
                </a:tc>
                <a:tc>
                  <a:txBody>
                    <a:bodyPr/>
                    <a:lstStyle/>
                    <a:p>
                      <a:pPr algn="ctr">
                        <a:buNone/>
                      </a:pPr>
                      <a:r>
                        <a:rPr lang="en-GB" sz="1200">
                          <a:latin typeface="Times New Roman"/>
                        </a:rPr>
                        <a:t>128.2428</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1754117223"/>
                  </a:ext>
                </a:extLst>
              </a:tr>
              <a:tr h="354853">
                <a:tc>
                  <a:txBody>
                    <a:bodyPr/>
                    <a:lstStyle/>
                    <a:p>
                      <a:pPr algn="ctr">
                        <a:buNone/>
                      </a:pPr>
                      <a:r>
                        <a:rPr lang="en-GB" sz="1200">
                          <a:effectLst/>
                          <a:latin typeface="Times New Roman"/>
                        </a:rPr>
                        <a:t>BENZA</a:t>
                      </a:r>
                    </a:p>
                  </a:txBody>
                  <a:tcPr marL="0" marR="0" marT="0" marB="0" anchor="ctr"/>
                </a:tc>
                <a:tc>
                  <a:txBody>
                    <a:bodyPr/>
                    <a:lstStyle/>
                    <a:p>
                      <a:pPr algn="ctr">
                        <a:buNone/>
                      </a:pPr>
                      <a:r>
                        <a:rPr lang="en-GB" sz="1200">
                          <a:latin typeface="Times New Roman"/>
                        </a:rPr>
                        <a:t>PTH</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-36.1404</a:t>
                      </a:r>
                    </a:p>
                  </a:txBody>
                  <a:tcPr marL="0" marR="0" marT="0" marB="0" anchor="ctr"/>
                </a:tc>
                <a:tc>
                  <a:txBody>
                    <a:bodyPr/>
                    <a:lstStyle/>
                    <a:p>
                      <a:pPr algn="ctr">
                        <a:buNone/>
                      </a:pPr>
                      <a:r>
                        <a:rPr lang="en-GB" sz="1200">
                          <a:latin typeface="Times New Roman"/>
                        </a:rPr>
                        <a:t>19.82719</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2456474642"/>
                  </a:ext>
                </a:extLst>
              </a:tr>
              <a:tr h="354853">
                <a:tc>
                  <a:txBody>
                    <a:bodyPr/>
                    <a:lstStyle/>
                    <a:p>
                      <a:pPr algn="ctr">
                        <a:buNone/>
                      </a:pPr>
                      <a:r>
                        <a:rPr lang="en-GB" sz="1200">
                          <a:effectLst/>
                          <a:latin typeface="Times New Roman"/>
                        </a:rPr>
                        <a:t>WATER</a:t>
                      </a:r>
                    </a:p>
                  </a:txBody>
                  <a:tcPr marL="0" marR="0" marT="0" marB="0" anchor="ctr"/>
                </a:tc>
                <a:tc>
                  <a:txBody>
                    <a:bodyPr/>
                    <a:lstStyle/>
                    <a:p>
                      <a:pPr algn="ctr">
                        <a:buNone/>
                      </a:pPr>
                      <a:r>
                        <a:rPr lang="en-GB" sz="1200">
                          <a:latin typeface="Times New Roman"/>
                        </a:rPr>
                        <a:t>PTH</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-261.525</a:t>
                      </a:r>
                    </a:p>
                  </a:txBody>
                  <a:tcPr marL="0" marR="0" marT="0" marB="0" anchor="ctr"/>
                </a:tc>
                <a:tc>
                  <a:txBody>
                    <a:bodyPr/>
                    <a:lstStyle/>
                    <a:p>
                      <a:pPr algn="ctr">
                        <a:buNone/>
                      </a:pPr>
                      <a:r>
                        <a:rPr lang="en-GB" sz="1200">
                          <a:latin typeface="Times New Roman"/>
                        </a:rPr>
                        <a:t>104.1981</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3495533101"/>
                  </a:ext>
                </a:extLst>
              </a:tr>
              <a:tr h="354853">
                <a:tc>
                  <a:txBody>
                    <a:bodyPr/>
                    <a:lstStyle/>
                    <a:p>
                      <a:pPr algn="ctr">
                        <a:buNone/>
                      </a:pPr>
                      <a:r>
                        <a:rPr lang="en-GB" sz="1200">
                          <a:effectLst/>
                          <a:latin typeface="Times New Roman"/>
                        </a:rPr>
                        <a:t>METH</a:t>
                      </a:r>
                    </a:p>
                  </a:txBody>
                  <a:tcPr marL="0" marR="0" marT="0" marB="0" anchor="ctr"/>
                </a:tc>
                <a:tc>
                  <a:txBody>
                    <a:bodyPr/>
                    <a:lstStyle/>
                    <a:p>
                      <a:pPr algn="ctr">
                        <a:buNone/>
                      </a:pPr>
                      <a:r>
                        <a:rPr lang="en-GB" sz="1200">
                          <a:latin typeface="Times New Roman"/>
                        </a:rPr>
                        <a:t>PTH</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188.7415</a:t>
                      </a:r>
                    </a:p>
                  </a:txBody>
                  <a:tcPr marL="0" marR="0" marT="0" marB="0" anchor="ctr"/>
                </a:tc>
                <a:tc>
                  <a:txBody>
                    <a:bodyPr/>
                    <a:lstStyle/>
                    <a:p>
                      <a:pPr algn="ctr">
                        <a:buNone/>
                      </a:pPr>
                      <a:r>
                        <a:rPr lang="en-GB" sz="1200">
                          <a:latin typeface="Times New Roman"/>
                        </a:rPr>
                        <a:t>-303.671</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0</a:t>
                      </a:r>
                    </a:p>
                  </a:txBody>
                  <a:tcPr marL="0" marR="0" marT="0" marB="0" anchor="ctr"/>
                </a:tc>
                <a:tc>
                  <a:txBody>
                    <a:bodyPr/>
                    <a:lstStyle/>
                    <a:p>
                      <a:pPr algn="ctr">
                        <a:buNone/>
                      </a:pPr>
                      <a:r>
                        <a:rPr lang="en-GB" sz="1200">
                          <a:latin typeface="Times New Roman"/>
                        </a:rPr>
                        <a:t>25</a:t>
                      </a:r>
                    </a:p>
                  </a:txBody>
                  <a:tcPr marL="0" marR="0" marT="0" marB="0" anchor="ctr"/>
                </a:tc>
                <a:tc>
                  <a:txBody>
                    <a:bodyPr/>
                    <a:lstStyle/>
                    <a:p>
                      <a:pPr algn="ctr">
                        <a:buNone/>
                      </a:pPr>
                      <a:r>
                        <a:rPr lang="en-GB" sz="1200">
                          <a:latin typeface="Times New Roman"/>
                        </a:rPr>
                        <a:t>25</a:t>
                      </a:r>
                    </a:p>
                  </a:txBody>
                  <a:tcPr marL="0" marR="0" marT="0" marB="0" anchor="ctr"/>
                </a:tc>
                <a:extLst>
                  <a:ext uri="{0D108BD9-81ED-4DB2-BD59-A6C34878D82A}">
                    <a16:rowId xmlns:a16="http://schemas.microsoft.com/office/drawing/2014/main" val="3815675825"/>
                  </a:ext>
                </a:extLst>
              </a:tr>
            </a:tbl>
          </a:graphicData>
        </a:graphic>
      </p:graphicFrame>
    </p:spTree>
    <p:extLst>
      <p:ext uri="{BB962C8B-B14F-4D97-AF65-F5344CB8AC3E}">
        <p14:creationId xmlns:p14="http://schemas.microsoft.com/office/powerpoint/2010/main" val="30775033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2325C4F-5015-4ACA-977E-A9D05740C8D4}"/>
              </a:ext>
            </a:extLst>
          </p:cNvPr>
          <p:cNvSpPr/>
          <p:nvPr/>
        </p:nvSpPr>
        <p:spPr>
          <a:xfrm>
            <a:off x="719667" y="1151465"/>
            <a:ext cx="10752666" cy="1921934"/>
          </a:xfrm>
          <a:prstGeom prst="roundRect">
            <a:avLst>
              <a:gd name="adj" fmla="val 7461"/>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cap="all">
                <a:latin typeface="Times New Roman" panose="02020603050405020304" pitchFamily="18" charset="0"/>
                <a:cs typeface="Times New Roman" panose="02020603050405020304" pitchFamily="18" charset="0"/>
              </a:rPr>
              <a:t>Section 2</a:t>
            </a:r>
          </a:p>
        </p:txBody>
      </p:sp>
      <p:sp>
        <p:nvSpPr>
          <p:cNvPr id="7" name="Rectangle 6">
            <a:extLst>
              <a:ext uri="{FF2B5EF4-FFF2-40B4-BE49-F238E27FC236}">
                <a16:creationId xmlns:a16="http://schemas.microsoft.com/office/drawing/2014/main" id="{9496026B-5475-4109-8903-5F02E2B55335}"/>
              </a:ext>
            </a:extLst>
          </p:cNvPr>
          <p:cNvSpPr/>
          <p:nvPr/>
        </p:nvSpPr>
        <p:spPr>
          <a:xfrm>
            <a:off x="719667" y="3310468"/>
            <a:ext cx="10752666" cy="1109132"/>
          </a:xfrm>
          <a:custGeom>
            <a:avLst/>
            <a:gdLst>
              <a:gd name="csX0" fmla="*/ 0 w 10752666"/>
              <a:gd name="csY0" fmla="*/ 0 h 1109132"/>
              <a:gd name="csX1" fmla="*/ 456988 w 10752666"/>
              <a:gd name="csY1" fmla="*/ 0 h 1109132"/>
              <a:gd name="csX2" fmla="*/ 1129030 w 10752666"/>
              <a:gd name="csY2" fmla="*/ 0 h 1109132"/>
              <a:gd name="csX3" fmla="*/ 1693545 w 10752666"/>
              <a:gd name="csY3" fmla="*/ 0 h 1109132"/>
              <a:gd name="csX4" fmla="*/ 2473113 w 10752666"/>
              <a:gd name="csY4" fmla="*/ 0 h 1109132"/>
              <a:gd name="csX5" fmla="*/ 3360208 w 10752666"/>
              <a:gd name="csY5" fmla="*/ 0 h 1109132"/>
              <a:gd name="csX6" fmla="*/ 4247303 w 10752666"/>
              <a:gd name="csY6" fmla="*/ 0 h 1109132"/>
              <a:gd name="csX7" fmla="*/ 5134398 w 10752666"/>
              <a:gd name="csY7" fmla="*/ 0 h 1109132"/>
              <a:gd name="csX8" fmla="*/ 5913966 w 10752666"/>
              <a:gd name="csY8" fmla="*/ 0 h 1109132"/>
              <a:gd name="csX9" fmla="*/ 6263428 w 10752666"/>
              <a:gd name="csY9" fmla="*/ 0 h 1109132"/>
              <a:gd name="csX10" fmla="*/ 6827943 w 10752666"/>
              <a:gd name="csY10" fmla="*/ 0 h 1109132"/>
              <a:gd name="csX11" fmla="*/ 7177405 w 10752666"/>
              <a:gd name="csY11" fmla="*/ 0 h 1109132"/>
              <a:gd name="csX12" fmla="*/ 7634393 w 10752666"/>
              <a:gd name="csY12" fmla="*/ 0 h 1109132"/>
              <a:gd name="csX13" fmla="*/ 7983855 w 10752666"/>
              <a:gd name="csY13" fmla="*/ 0 h 1109132"/>
              <a:gd name="csX14" fmla="*/ 8440843 w 10752666"/>
              <a:gd name="csY14" fmla="*/ 0 h 1109132"/>
              <a:gd name="csX15" fmla="*/ 9327938 w 10752666"/>
              <a:gd name="csY15" fmla="*/ 0 h 1109132"/>
              <a:gd name="csX16" fmla="*/ 10752666 w 10752666"/>
              <a:gd name="csY16" fmla="*/ 0 h 1109132"/>
              <a:gd name="csX17" fmla="*/ 10752666 w 10752666"/>
              <a:gd name="csY17" fmla="*/ 521292 h 1109132"/>
              <a:gd name="csX18" fmla="*/ 10752666 w 10752666"/>
              <a:gd name="csY18" fmla="*/ 1109132 h 1109132"/>
              <a:gd name="csX19" fmla="*/ 9973098 w 10752666"/>
              <a:gd name="csY19" fmla="*/ 1109132 h 1109132"/>
              <a:gd name="csX20" fmla="*/ 9193529 w 10752666"/>
              <a:gd name="csY20" fmla="*/ 1109132 h 1109132"/>
              <a:gd name="csX21" fmla="*/ 8844068 w 10752666"/>
              <a:gd name="csY21" fmla="*/ 1109132 h 1109132"/>
              <a:gd name="csX22" fmla="*/ 8279553 w 10752666"/>
              <a:gd name="csY22" fmla="*/ 1109132 h 1109132"/>
              <a:gd name="csX23" fmla="*/ 7499985 w 10752666"/>
              <a:gd name="csY23" fmla="*/ 1109132 h 1109132"/>
              <a:gd name="csX24" fmla="*/ 6612890 w 10752666"/>
              <a:gd name="csY24" fmla="*/ 1109132 h 1109132"/>
              <a:gd name="csX25" fmla="*/ 6263428 w 10752666"/>
              <a:gd name="csY25" fmla="*/ 1109132 h 1109132"/>
              <a:gd name="csX26" fmla="*/ 5913966 w 10752666"/>
              <a:gd name="csY26" fmla="*/ 1109132 h 1109132"/>
              <a:gd name="csX27" fmla="*/ 5134398 w 10752666"/>
              <a:gd name="csY27" fmla="*/ 1109132 h 1109132"/>
              <a:gd name="csX28" fmla="*/ 4462356 w 10752666"/>
              <a:gd name="csY28" fmla="*/ 1109132 h 1109132"/>
              <a:gd name="csX29" fmla="*/ 3790315 w 10752666"/>
              <a:gd name="csY29" fmla="*/ 1109132 h 1109132"/>
              <a:gd name="csX30" fmla="*/ 2903220 w 10752666"/>
              <a:gd name="csY30" fmla="*/ 1109132 h 1109132"/>
              <a:gd name="csX31" fmla="*/ 2231178 w 10752666"/>
              <a:gd name="csY31" fmla="*/ 1109132 h 1109132"/>
              <a:gd name="csX32" fmla="*/ 1881717 w 10752666"/>
              <a:gd name="csY32" fmla="*/ 1109132 h 1109132"/>
              <a:gd name="csX33" fmla="*/ 994622 w 10752666"/>
              <a:gd name="csY33" fmla="*/ 1109132 h 1109132"/>
              <a:gd name="csX34" fmla="*/ 0 w 10752666"/>
              <a:gd name="csY34" fmla="*/ 1109132 h 1109132"/>
              <a:gd name="csX35" fmla="*/ 0 w 10752666"/>
              <a:gd name="csY35" fmla="*/ 587840 h 1109132"/>
              <a:gd name="csX36" fmla="*/ 0 w 10752666"/>
              <a:gd name="csY36" fmla="*/ 0 h 1109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0752666" h="1109132" fill="none" extrusionOk="0">
                <a:moveTo>
                  <a:pt x="0" y="0"/>
                </a:moveTo>
                <a:cubicBezTo>
                  <a:pt x="146519" y="2798"/>
                  <a:pt x="280571" y="4096"/>
                  <a:pt x="456988" y="0"/>
                </a:cubicBezTo>
                <a:cubicBezTo>
                  <a:pt x="633405" y="-4096"/>
                  <a:pt x="793649" y="12139"/>
                  <a:pt x="1129030" y="0"/>
                </a:cubicBezTo>
                <a:cubicBezTo>
                  <a:pt x="1464411" y="-12139"/>
                  <a:pt x="1487207" y="-8199"/>
                  <a:pt x="1693545" y="0"/>
                </a:cubicBezTo>
                <a:cubicBezTo>
                  <a:pt x="1899884" y="8199"/>
                  <a:pt x="2196113" y="36161"/>
                  <a:pt x="2473113" y="0"/>
                </a:cubicBezTo>
                <a:cubicBezTo>
                  <a:pt x="2750113" y="-36161"/>
                  <a:pt x="3016542" y="34857"/>
                  <a:pt x="3360208" y="0"/>
                </a:cubicBezTo>
                <a:cubicBezTo>
                  <a:pt x="3703874" y="-34857"/>
                  <a:pt x="3906967" y="44022"/>
                  <a:pt x="4247303" y="0"/>
                </a:cubicBezTo>
                <a:cubicBezTo>
                  <a:pt x="4587640" y="-44022"/>
                  <a:pt x="4769957" y="-6196"/>
                  <a:pt x="5134398" y="0"/>
                </a:cubicBezTo>
                <a:cubicBezTo>
                  <a:pt x="5498840" y="6196"/>
                  <a:pt x="5748365" y="27655"/>
                  <a:pt x="5913966" y="0"/>
                </a:cubicBezTo>
                <a:cubicBezTo>
                  <a:pt x="6079567" y="-27655"/>
                  <a:pt x="6141780" y="16461"/>
                  <a:pt x="6263428" y="0"/>
                </a:cubicBezTo>
                <a:cubicBezTo>
                  <a:pt x="6385076" y="-16461"/>
                  <a:pt x="6558084" y="8977"/>
                  <a:pt x="6827943" y="0"/>
                </a:cubicBezTo>
                <a:cubicBezTo>
                  <a:pt x="7097803" y="-8977"/>
                  <a:pt x="7045220" y="-8441"/>
                  <a:pt x="7177405" y="0"/>
                </a:cubicBezTo>
                <a:cubicBezTo>
                  <a:pt x="7309590" y="8441"/>
                  <a:pt x="7460507" y="-18732"/>
                  <a:pt x="7634393" y="0"/>
                </a:cubicBezTo>
                <a:cubicBezTo>
                  <a:pt x="7808279" y="18732"/>
                  <a:pt x="7898034" y="-5200"/>
                  <a:pt x="7983855" y="0"/>
                </a:cubicBezTo>
                <a:cubicBezTo>
                  <a:pt x="8069676" y="5200"/>
                  <a:pt x="8320244" y="-16594"/>
                  <a:pt x="8440843" y="0"/>
                </a:cubicBezTo>
                <a:cubicBezTo>
                  <a:pt x="8561442" y="16594"/>
                  <a:pt x="9094484" y="-13203"/>
                  <a:pt x="9327938" y="0"/>
                </a:cubicBezTo>
                <a:cubicBezTo>
                  <a:pt x="9561392" y="13203"/>
                  <a:pt x="10381462" y="13051"/>
                  <a:pt x="10752666" y="0"/>
                </a:cubicBezTo>
                <a:cubicBezTo>
                  <a:pt x="10767230" y="195959"/>
                  <a:pt x="10770972" y="408821"/>
                  <a:pt x="10752666" y="521292"/>
                </a:cubicBezTo>
                <a:cubicBezTo>
                  <a:pt x="10734360" y="633763"/>
                  <a:pt x="10735083" y="895254"/>
                  <a:pt x="10752666" y="1109132"/>
                </a:cubicBezTo>
                <a:cubicBezTo>
                  <a:pt x="10369168" y="1142911"/>
                  <a:pt x="10201538" y="1100210"/>
                  <a:pt x="9973098" y="1109132"/>
                </a:cubicBezTo>
                <a:cubicBezTo>
                  <a:pt x="9744658" y="1118054"/>
                  <a:pt x="9454458" y="1139847"/>
                  <a:pt x="9193529" y="1109132"/>
                </a:cubicBezTo>
                <a:cubicBezTo>
                  <a:pt x="8932600" y="1078417"/>
                  <a:pt x="8971955" y="1105478"/>
                  <a:pt x="8844068" y="1109132"/>
                </a:cubicBezTo>
                <a:cubicBezTo>
                  <a:pt x="8716181" y="1112786"/>
                  <a:pt x="8422171" y="1086785"/>
                  <a:pt x="8279553" y="1109132"/>
                </a:cubicBezTo>
                <a:cubicBezTo>
                  <a:pt x="8136935" y="1131479"/>
                  <a:pt x="7667320" y="1097814"/>
                  <a:pt x="7499985" y="1109132"/>
                </a:cubicBezTo>
                <a:cubicBezTo>
                  <a:pt x="7332650" y="1120450"/>
                  <a:pt x="7020221" y="1124240"/>
                  <a:pt x="6612890" y="1109132"/>
                </a:cubicBezTo>
                <a:cubicBezTo>
                  <a:pt x="6205559" y="1094024"/>
                  <a:pt x="6356095" y="1099035"/>
                  <a:pt x="6263428" y="1109132"/>
                </a:cubicBezTo>
                <a:cubicBezTo>
                  <a:pt x="6170761" y="1119229"/>
                  <a:pt x="5989406" y="1101928"/>
                  <a:pt x="5913966" y="1109132"/>
                </a:cubicBezTo>
                <a:cubicBezTo>
                  <a:pt x="5838526" y="1116336"/>
                  <a:pt x="5294465" y="1075313"/>
                  <a:pt x="5134398" y="1109132"/>
                </a:cubicBezTo>
                <a:cubicBezTo>
                  <a:pt x="4974331" y="1142951"/>
                  <a:pt x="4627259" y="1132144"/>
                  <a:pt x="4462356" y="1109132"/>
                </a:cubicBezTo>
                <a:cubicBezTo>
                  <a:pt x="4297453" y="1086120"/>
                  <a:pt x="3964815" y="1098550"/>
                  <a:pt x="3790315" y="1109132"/>
                </a:cubicBezTo>
                <a:cubicBezTo>
                  <a:pt x="3615815" y="1119714"/>
                  <a:pt x="3102637" y="1124293"/>
                  <a:pt x="2903220" y="1109132"/>
                </a:cubicBezTo>
                <a:cubicBezTo>
                  <a:pt x="2703803" y="1093971"/>
                  <a:pt x="2380910" y="1104038"/>
                  <a:pt x="2231178" y="1109132"/>
                </a:cubicBezTo>
                <a:cubicBezTo>
                  <a:pt x="2081446" y="1114226"/>
                  <a:pt x="1972556" y="1107543"/>
                  <a:pt x="1881717" y="1109132"/>
                </a:cubicBezTo>
                <a:cubicBezTo>
                  <a:pt x="1790878" y="1110721"/>
                  <a:pt x="1277157" y="1101570"/>
                  <a:pt x="994622" y="1109132"/>
                </a:cubicBezTo>
                <a:cubicBezTo>
                  <a:pt x="712088" y="1116694"/>
                  <a:pt x="378713" y="1119369"/>
                  <a:pt x="0" y="1109132"/>
                </a:cubicBezTo>
                <a:cubicBezTo>
                  <a:pt x="13069" y="901185"/>
                  <a:pt x="25891" y="824602"/>
                  <a:pt x="0" y="587840"/>
                </a:cubicBezTo>
                <a:cubicBezTo>
                  <a:pt x="-25891" y="351078"/>
                  <a:pt x="-21159" y="139620"/>
                  <a:pt x="0" y="0"/>
                </a:cubicBezTo>
                <a:close/>
              </a:path>
              <a:path w="10752666" h="1109132" stroke="0" extrusionOk="0">
                <a:moveTo>
                  <a:pt x="0" y="0"/>
                </a:moveTo>
                <a:cubicBezTo>
                  <a:pt x="146959" y="-6396"/>
                  <a:pt x="197262" y="-546"/>
                  <a:pt x="349462" y="0"/>
                </a:cubicBezTo>
                <a:cubicBezTo>
                  <a:pt x="501662" y="546"/>
                  <a:pt x="627584" y="22715"/>
                  <a:pt x="806450" y="0"/>
                </a:cubicBezTo>
                <a:cubicBezTo>
                  <a:pt x="985316" y="-22715"/>
                  <a:pt x="1283128" y="-15839"/>
                  <a:pt x="1693545" y="0"/>
                </a:cubicBezTo>
                <a:cubicBezTo>
                  <a:pt x="2103963" y="15839"/>
                  <a:pt x="2026309" y="-10063"/>
                  <a:pt x="2150533" y="0"/>
                </a:cubicBezTo>
                <a:cubicBezTo>
                  <a:pt x="2274757" y="10063"/>
                  <a:pt x="2759508" y="-9775"/>
                  <a:pt x="3037628" y="0"/>
                </a:cubicBezTo>
                <a:cubicBezTo>
                  <a:pt x="3315748" y="9775"/>
                  <a:pt x="3377939" y="33570"/>
                  <a:pt x="3709670" y="0"/>
                </a:cubicBezTo>
                <a:cubicBezTo>
                  <a:pt x="4041401" y="-33570"/>
                  <a:pt x="4046131" y="-1558"/>
                  <a:pt x="4274185" y="0"/>
                </a:cubicBezTo>
                <a:cubicBezTo>
                  <a:pt x="4502239" y="1558"/>
                  <a:pt x="4596515" y="17794"/>
                  <a:pt x="4731173" y="0"/>
                </a:cubicBezTo>
                <a:cubicBezTo>
                  <a:pt x="4865831" y="-17794"/>
                  <a:pt x="5085720" y="-9287"/>
                  <a:pt x="5188161" y="0"/>
                </a:cubicBezTo>
                <a:cubicBezTo>
                  <a:pt x="5290602" y="9287"/>
                  <a:pt x="5750473" y="-28152"/>
                  <a:pt x="5967730" y="0"/>
                </a:cubicBezTo>
                <a:cubicBezTo>
                  <a:pt x="6184987" y="28152"/>
                  <a:pt x="6224767" y="-5077"/>
                  <a:pt x="6317191" y="0"/>
                </a:cubicBezTo>
                <a:cubicBezTo>
                  <a:pt x="6409615" y="5077"/>
                  <a:pt x="6842802" y="-38561"/>
                  <a:pt x="7204286" y="0"/>
                </a:cubicBezTo>
                <a:cubicBezTo>
                  <a:pt x="7565771" y="38561"/>
                  <a:pt x="7776695" y="-15969"/>
                  <a:pt x="8091381" y="0"/>
                </a:cubicBezTo>
                <a:cubicBezTo>
                  <a:pt x="8406067" y="15969"/>
                  <a:pt x="8278475" y="-9248"/>
                  <a:pt x="8440843" y="0"/>
                </a:cubicBezTo>
                <a:cubicBezTo>
                  <a:pt x="8603211" y="9248"/>
                  <a:pt x="8889807" y="-27042"/>
                  <a:pt x="9327938" y="0"/>
                </a:cubicBezTo>
                <a:cubicBezTo>
                  <a:pt x="9766070" y="27042"/>
                  <a:pt x="9598051" y="1739"/>
                  <a:pt x="9784926" y="0"/>
                </a:cubicBezTo>
                <a:cubicBezTo>
                  <a:pt x="9971801" y="-1739"/>
                  <a:pt x="10383476" y="-43818"/>
                  <a:pt x="10752666" y="0"/>
                </a:cubicBezTo>
                <a:cubicBezTo>
                  <a:pt x="10731352" y="195423"/>
                  <a:pt x="10769854" y="431656"/>
                  <a:pt x="10752666" y="554566"/>
                </a:cubicBezTo>
                <a:cubicBezTo>
                  <a:pt x="10735478" y="677476"/>
                  <a:pt x="10748841" y="978758"/>
                  <a:pt x="10752666" y="1109132"/>
                </a:cubicBezTo>
                <a:cubicBezTo>
                  <a:pt x="10543936" y="1070973"/>
                  <a:pt x="10211698" y="1104995"/>
                  <a:pt x="9865571" y="1109132"/>
                </a:cubicBezTo>
                <a:cubicBezTo>
                  <a:pt x="9519445" y="1113269"/>
                  <a:pt x="9280233" y="1106868"/>
                  <a:pt x="9086003" y="1109132"/>
                </a:cubicBezTo>
                <a:cubicBezTo>
                  <a:pt x="8891773" y="1111396"/>
                  <a:pt x="8734657" y="1085687"/>
                  <a:pt x="8413961" y="1109132"/>
                </a:cubicBezTo>
                <a:cubicBezTo>
                  <a:pt x="8093265" y="1132577"/>
                  <a:pt x="7798634" y="1122121"/>
                  <a:pt x="7526866" y="1109132"/>
                </a:cubicBezTo>
                <a:cubicBezTo>
                  <a:pt x="7255099" y="1096143"/>
                  <a:pt x="7146157" y="1096880"/>
                  <a:pt x="6854825" y="1109132"/>
                </a:cubicBezTo>
                <a:cubicBezTo>
                  <a:pt x="6563493" y="1121384"/>
                  <a:pt x="6595550" y="1093104"/>
                  <a:pt x="6505363" y="1109132"/>
                </a:cubicBezTo>
                <a:cubicBezTo>
                  <a:pt x="6415176" y="1125160"/>
                  <a:pt x="6241067" y="1102048"/>
                  <a:pt x="6155901" y="1109132"/>
                </a:cubicBezTo>
                <a:cubicBezTo>
                  <a:pt x="6070735" y="1116216"/>
                  <a:pt x="5589060" y="1138319"/>
                  <a:pt x="5268806" y="1109132"/>
                </a:cubicBezTo>
                <a:cubicBezTo>
                  <a:pt x="4948553" y="1079945"/>
                  <a:pt x="5093041" y="1100740"/>
                  <a:pt x="4919345" y="1109132"/>
                </a:cubicBezTo>
                <a:cubicBezTo>
                  <a:pt x="4745649" y="1117524"/>
                  <a:pt x="4284719" y="1114111"/>
                  <a:pt x="4032250" y="1109132"/>
                </a:cubicBezTo>
                <a:cubicBezTo>
                  <a:pt x="3779782" y="1104153"/>
                  <a:pt x="3637692" y="1105593"/>
                  <a:pt x="3360208" y="1109132"/>
                </a:cubicBezTo>
                <a:cubicBezTo>
                  <a:pt x="3082724" y="1112671"/>
                  <a:pt x="2868874" y="1107583"/>
                  <a:pt x="2688167" y="1109132"/>
                </a:cubicBezTo>
                <a:cubicBezTo>
                  <a:pt x="2507460" y="1110681"/>
                  <a:pt x="2470503" y="1123539"/>
                  <a:pt x="2338705" y="1109132"/>
                </a:cubicBezTo>
                <a:cubicBezTo>
                  <a:pt x="2206907" y="1094725"/>
                  <a:pt x="1945569" y="1112439"/>
                  <a:pt x="1774190" y="1109132"/>
                </a:cubicBezTo>
                <a:cubicBezTo>
                  <a:pt x="1602812" y="1105825"/>
                  <a:pt x="1523036" y="1127753"/>
                  <a:pt x="1317202" y="1109132"/>
                </a:cubicBezTo>
                <a:cubicBezTo>
                  <a:pt x="1111368" y="1090511"/>
                  <a:pt x="951389" y="1124563"/>
                  <a:pt x="752687" y="1109132"/>
                </a:cubicBezTo>
                <a:cubicBezTo>
                  <a:pt x="553986" y="1093701"/>
                  <a:pt x="210687" y="1084397"/>
                  <a:pt x="0" y="1109132"/>
                </a:cubicBezTo>
                <a:cubicBezTo>
                  <a:pt x="-10295" y="921712"/>
                  <a:pt x="25647" y="821677"/>
                  <a:pt x="0" y="543475"/>
                </a:cubicBezTo>
                <a:cubicBezTo>
                  <a:pt x="-25647" y="265273"/>
                  <a:pt x="-10475" y="179879"/>
                  <a:pt x="0" y="0"/>
                </a:cubicBezTo>
                <a:close/>
              </a:path>
            </a:pathLst>
          </a:custGeom>
          <a:solidFill>
            <a:schemeClr val="bg1">
              <a:lumMod val="95000"/>
            </a:schemeClr>
          </a:solidFill>
          <a:ln>
            <a:solidFill>
              <a:srgbClr val="002060"/>
            </a:solidFill>
            <a:extLst>
              <a:ext uri="{C807C97D-BFC1-408E-A445-0C87EB9F89A2}">
                <ask:lineSketchStyleProps xmlns:ask="http://schemas.microsoft.com/office/drawing/2018/sketchyshapes" sd="212219442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Block diagram and rationale behind the process synthesis (covering elements like feed purification, product separation, recycles etc.)</a:t>
            </a:r>
          </a:p>
        </p:txBody>
      </p:sp>
      <p:sp>
        <p:nvSpPr>
          <p:cNvPr id="8" name="Rectangle 7">
            <a:extLst>
              <a:ext uri="{FF2B5EF4-FFF2-40B4-BE49-F238E27FC236}">
                <a16:creationId xmlns:a16="http://schemas.microsoft.com/office/drawing/2014/main" id="{AD87ED4A-F2FD-4EF6-918D-2200FFB4E1DC}"/>
              </a:ext>
            </a:extLst>
          </p:cNvPr>
          <p:cNvSpPr/>
          <p:nvPr/>
        </p:nvSpPr>
        <p:spPr>
          <a:xfrm>
            <a:off x="719667" y="4597403"/>
            <a:ext cx="10752666" cy="694264"/>
          </a:xfrm>
          <a:custGeom>
            <a:avLst/>
            <a:gdLst>
              <a:gd name="csX0" fmla="*/ 0 w 10752666"/>
              <a:gd name="csY0" fmla="*/ 0 h 694264"/>
              <a:gd name="csX1" fmla="*/ 672042 w 10752666"/>
              <a:gd name="csY1" fmla="*/ 0 h 694264"/>
              <a:gd name="csX2" fmla="*/ 1236557 w 10752666"/>
              <a:gd name="csY2" fmla="*/ 0 h 694264"/>
              <a:gd name="csX3" fmla="*/ 1908598 w 10752666"/>
              <a:gd name="csY3" fmla="*/ 0 h 694264"/>
              <a:gd name="csX4" fmla="*/ 2580640 w 10752666"/>
              <a:gd name="csY4" fmla="*/ 0 h 694264"/>
              <a:gd name="csX5" fmla="*/ 3145155 w 10752666"/>
              <a:gd name="csY5" fmla="*/ 0 h 694264"/>
              <a:gd name="csX6" fmla="*/ 3924723 w 10752666"/>
              <a:gd name="csY6" fmla="*/ 0 h 694264"/>
              <a:gd name="csX7" fmla="*/ 4811818 w 10752666"/>
              <a:gd name="csY7" fmla="*/ 0 h 694264"/>
              <a:gd name="csX8" fmla="*/ 5698913 w 10752666"/>
              <a:gd name="csY8" fmla="*/ 0 h 694264"/>
              <a:gd name="csX9" fmla="*/ 6586008 w 10752666"/>
              <a:gd name="csY9" fmla="*/ 0 h 694264"/>
              <a:gd name="csX10" fmla="*/ 7365576 w 10752666"/>
              <a:gd name="csY10" fmla="*/ 0 h 694264"/>
              <a:gd name="csX11" fmla="*/ 7715038 w 10752666"/>
              <a:gd name="csY11" fmla="*/ 0 h 694264"/>
              <a:gd name="csX12" fmla="*/ 8279553 w 10752666"/>
              <a:gd name="csY12" fmla="*/ 0 h 694264"/>
              <a:gd name="csX13" fmla="*/ 8629014 w 10752666"/>
              <a:gd name="csY13" fmla="*/ 0 h 694264"/>
              <a:gd name="csX14" fmla="*/ 9086003 w 10752666"/>
              <a:gd name="csY14" fmla="*/ 0 h 694264"/>
              <a:gd name="csX15" fmla="*/ 9435464 w 10752666"/>
              <a:gd name="csY15" fmla="*/ 0 h 694264"/>
              <a:gd name="csX16" fmla="*/ 9892453 w 10752666"/>
              <a:gd name="csY16" fmla="*/ 0 h 694264"/>
              <a:gd name="csX17" fmla="*/ 10752666 w 10752666"/>
              <a:gd name="csY17" fmla="*/ 0 h 694264"/>
              <a:gd name="csX18" fmla="*/ 10752666 w 10752666"/>
              <a:gd name="csY18" fmla="*/ 694264 h 694264"/>
              <a:gd name="csX19" fmla="*/ 10188151 w 10752666"/>
              <a:gd name="csY19" fmla="*/ 694264 h 694264"/>
              <a:gd name="csX20" fmla="*/ 9301056 w 10752666"/>
              <a:gd name="csY20" fmla="*/ 694264 h 694264"/>
              <a:gd name="csX21" fmla="*/ 8629014 w 10752666"/>
              <a:gd name="csY21" fmla="*/ 694264 h 694264"/>
              <a:gd name="csX22" fmla="*/ 7849446 w 10752666"/>
              <a:gd name="csY22" fmla="*/ 694264 h 694264"/>
              <a:gd name="csX23" fmla="*/ 7499985 w 10752666"/>
              <a:gd name="csY23" fmla="*/ 694264 h 694264"/>
              <a:gd name="csX24" fmla="*/ 6935470 w 10752666"/>
              <a:gd name="csY24" fmla="*/ 694264 h 694264"/>
              <a:gd name="csX25" fmla="*/ 6155901 w 10752666"/>
              <a:gd name="csY25" fmla="*/ 694264 h 694264"/>
              <a:gd name="csX26" fmla="*/ 5268806 w 10752666"/>
              <a:gd name="csY26" fmla="*/ 694264 h 694264"/>
              <a:gd name="csX27" fmla="*/ 4919345 w 10752666"/>
              <a:gd name="csY27" fmla="*/ 694264 h 694264"/>
              <a:gd name="csX28" fmla="*/ 4569883 w 10752666"/>
              <a:gd name="csY28" fmla="*/ 694264 h 694264"/>
              <a:gd name="csX29" fmla="*/ 3790315 w 10752666"/>
              <a:gd name="csY29" fmla="*/ 694264 h 694264"/>
              <a:gd name="csX30" fmla="*/ 3118273 w 10752666"/>
              <a:gd name="csY30" fmla="*/ 694264 h 694264"/>
              <a:gd name="csX31" fmla="*/ 2446232 w 10752666"/>
              <a:gd name="csY31" fmla="*/ 694264 h 694264"/>
              <a:gd name="csX32" fmla="*/ 1559137 w 10752666"/>
              <a:gd name="csY32" fmla="*/ 694264 h 694264"/>
              <a:gd name="csX33" fmla="*/ 887095 w 10752666"/>
              <a:gd name="csY33" fmla="*/ 694264 h 694264"/>
              <a:gd name="csX34" fmla="*/ 0 w 10752666"/>
              <a:gd name="csY34" fmla="*/ 694264 h 694264"/>
              <a:gd name="csX35" fmla="*/ 0 w 10752666"/>
              <a:gd name="csY35" fmla="*/ 0 h 6942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752666" h="694264" fill="none" extrusionOk="0">
                <a:moveTo>
                  <a:pt x="0" y="0"/>
                </a:moveTo>
                <a:cubicBezTo>
                  <a:pt x="295006" y="32945"/>
                  <a:pt x="388643" y="17690"/>
                  <a:pt x="672042" y="0"/>
                </a:cubicBezTo>
                <a:cubicBezTo>
                  <a:pt x="955441" y="-17690"/>
                  <a:pt x="1005077" y="17513"/>
                  <a:pt x="1236557" y="0"/>
                </a:cubicBezTo>
                <a:cubicBezTo>
                  <a:pt x="1468037" y="-17513"/>
                  <a:pt x="1625649" y="-9199"/>
                  <a:pt x="1908598" y="0"/>
                </a:cubicBezTo>
                <a:cubicBezTo>
                  <a:pt x="2191547" y="9199"/>
                  <a:pt x="2245259" y="12139"/>
                  <a:pt x="2580640" y="0"/>
                </a:cubicBezTo>
                <a:cubicBezTo>
                  <a:pt x="2916021" y="-12139"/>
                  <a:pt x="2938817" y="-8199"/>
                  <a:pt x="3145155" y="0"/>
                </a:cubicBezTo>
                <a:cubicBezTo>
                  <a:pt x="3351494" y="8199"/>
                  <a:pt x="3647723" y="36161"/>
                  <a:pt x="3924723" y="0"/>
                </a:cubicBezTo>
                <a:cubicBezTo>
                  <a:pt x="4201723" y="-36161"/>
                  <a:pt x="4468152" y="34857"/>
                  <a:pt x="4811818" y="0"/>
                </a:cubicBezTo>
                <a:cubicBezTo>
                  <a:pt x="5155484" y="-34857"/>
                  <a:pt x="5358577" y="44022"/>
                  <a:pt x="5698913" y="0"/>
                </a:cubicBezTo>
                <a:cubicBezTo>
                  <a:pt x="6039250" y="-44022"/>
                  <a:pt x="6221567" y="-6196"/>
                  <a:pt x="6586008" y="0"/>
                </a:cubicBezTo>
                <a:cubicBezTo>
                  <a:pt x="6950450" y="6196"/>
                  <a:pt x="7199975" y="27655"/>
                  <a:pt x="7365576" y="0"/>
                </a:cubicBezTo>
                <a:cubicBezTo>
                  <a:pt x="7531177" y="-27655"/>
                  <a:pt x="7593390" y="16461"/>
                  <a:pt x="7715038" y="0"/>
                </a:cubicBezTo>
                <a:cubicBezTo>
                  <a:pt x="7836686" y="-16461"/>
                  <a:pt x="8009694" y="8977"/>
                  <a:pt x="8279553" y="0"/>
                </a:cubicBezTo>
                <a:cubicBezTo>
                  <a:pt x="8549413" y="-8977"/>
                  <a:pt x="8504422" y="-5319"/>
                  <a:pt x="8629014" y="0"/>
                </a:cubicBezTo>
                <a:cubicBezTo>
                  <a:pt x="8753606" y="5319"/>
                  <a:pt x="8903798" y="-20699"/>
                  <a:pt x="9086003" y="0"/>
                </a:cubicBezTo>
                <a:cubicBezTo>
                  <a:pt x="9268208" y="20699"/>
                  <a:pt x="9361852" y="163"/>
                  <a:pt x="9435464" y="0"/>
                </a:cubicBezTo>
                <a:cubicBezTo>
                  <a:pt x="9509076" y="-163"/>
                  <a:pt x="9769648" y="-22205"/>
                  <a:pt x="9892453" y="0"/>
                </a:cubicBezTo>
                <a:cubicBezTo>
                  <a:pt x="10015258" y="22205"/>
                  <a:pt x="10331937" y="13733"/>
                  <a:pt x="10752666" y="0"/>
                </a:cubicBezTo>
                <a:cubicBezTo>
                  <a:pt x="10733857" y="308728"/>
                  <a:pt x="10761521" y="434197"/>
                  <a:pt x="10752666" y="694264"/>
                </a:cubicBezTo>
                <a:cubicBezTo>
                  <a:pt x="10541524" y="718801"/>
                  <a:pt x="10378230" y="669960"/>
                  <a:pt x="10188151" y="694264"/>
                </a:cubicBezTo>
                <a:cubicBezTo>
                  <a:pt x="9998072" y="718568"/>
                  <a:pt x="9596816" y="715763"/>
                  <a:pt x="9301056" y="694264"/>
                </a:cubicBezTo>
                <a:cubicBezTo>
                  <a:pt x="9005297" y="672765"/>
                  <a:pt x="8790970" y="662335"/>
                  <a:pt x="8629014" y="694264"/>
                </a:cubicBezTo>
                <a:cubicBezTo>
                  <a:pt x="8467058" y="726193"/>
                  <a:pt x="8109340" y="721571"/>
                  <a:pt x="7849446" y="694264"/>
                </a:cubicBezTo>
                <a:cubicBezTo>
                  <a:pt x="7589552" y="666957"/>
                  <a:pt x="7627872" y="690610"/>
                  <a:pt x="7499985" y="694264"/>
                </a:cubicBezTo>
                <a:cubicBezTo>
                  <a:pt x="7372098" y="697918"/>
                  <a:pt x="7078088" y="671917"/>
                  <a:pt x="6935470" y="694264"/>
                </a:cubicBezTo>
                <a:cubicBezTo>
                  <a:pt x="6792852" y="716611"/>
                  <a:pt x="6323682" y="685091"/>
                  <a:pt x="6155901" y="694264"/>
                </a:cubicBezTo>
                <a:cubicBezTo>
                  <a:pt x="5988120" y="703437"/>
                  <a:pt x="5676137" y="709372"/>
                  <a:pt x="5268806" y="694264"/>
                </a:cubicBezTo>
                <a:cubicBezTo>
                  <a:pt x="4861475" y="679156"/>
                  <a:pt x="5004878" y="680066"/>
                  <a:pt x="4919345" y="694264"/>
                </a:cubicBezTo>
                <a:cubicBezTo>
                  <a:pt x="4833812" y="708462"/>
                  <a:pt x="4645323" y="687060"/>
                  <a:pt x="4569883" y="694264"/>
                </a:cubicBezTo>
                <a:cubicBezTo>
                  <a:pt x="4494443" y="701468"/>
                  <a:pt x="3950382" y="660445"/>
                  <a:pt x="3790315" y="694264"/>
                </a:cubicBezTo>
                <a:cubicBezTo>
                  <a:pt x="3630248" y="728083"/>
                  <a:pt x="3283176" y="717276"/>
                  <a:pt x="3118273" y="694264"/>
                </a:cubicBezTo>
                <a:cubicBezTo>
                  <a:pt x="2953370" y="671252"/>
                  <a:pt x="2620732" y="683682"/>
                  <a:pt x="2446232" y="694264"/>
                </a:cubicBezTo>
                <a:cubicBezTo>
                  <a:pt x="2271732" y="704846"/>
                  <a:pt x="1758554" y="709425"/>
                  <a:pt x="1559137" y="694264"/>
                </a:cubicBezTo>
                <a:cubicBezTo>
                  <a:pt x="1359720" y="679103"/>
                  <a:pt x="1036827" y="689170"/>
                  <a:pt x="887095" y="694264"/>
                </a:cubicBezTo>
                <a:cubicBezTo>
                  <a:pt x="737363" y="699358"/>
                  <a:pt x="328697" y="691374"/>
                  <a:pt x="0" y="694264"/>
                </a:cubicBezTo>
                <a:cubicBezTo>
                  <a:pt x="-17820" y="364126"/>
                  <a:pt x="-18936" y="313739"/>
                  <a:pt x="0" y="0"/>
                </a:cubicBezTo>
                <a:close/>
              </a:path>
              <a:path w="10752666" h="694264" stroke="0" extrusionOk="0">
                <a:moveTo>
                  <a:pt x="0" y="0"/>
                </a:moveTo>
                <a:cubicBezTo>
                  <a:pt x="146959" y="-6396"/>
                  <a:pt x="197262" y="-546"/>
                  <a:pt x="349462" y="0"/>
                </a:cubicBezTo>
                <a:cubicBezTo>
                  <a:pt x="501662" y="546"/>
                  <a:pt x="627584" y="22715"/>
                  <a:pt x="806450" y="0"/>
                </a:cubicBezTo>
                <a:cubicBezTo>
                  <a:pt x="985316" y="-22715"/>
                  <a:pt x="1283128" y="-15839"/>
                  <a:pt x="1693545" y="0"/>
                </a:cubicBezTo>
                <a:cubicBezTo>
                  <a:pt x="2103963" y="15839"/>
                  <a:pt x="2026309" y="-10063"/>
                  <a:pt x="2150533" y="0"/>
                </a:cubicBezTo>
                <a:cubicBezTo>
                  <a:pt x="2274757" y="10063"/>
                  <a:pt x="2759508" y="-9775"/>
                  <a:pt x="3037628" y="0"/>
                </a:cubicBezTo>
                <a:cubicBezTo>
                  <a:pt x="3315748" y="9775"/>
                  <a:pt x="3377939" y="33570"/>
                  <a:pt x="3709670" y="0"/>
                </a:cubicBezTo>
                <a:cubicBezTo>
                  <a:pt x="4041401" y="-33570"/>
                  <a:pt x="4046131" y="-1558"/>
                  <a:pt x="4274185" y="0"/>
                </a:cubicBezTo>
                <a:cubicBezTo>
                  <a:pt x="4502239" y="1558"/>
                  <a:pt x="4596515" y="17794"/>
                  <a:pt x="4731173" y="0"/>
                </a:cubicBezTo>
                <a:cubicBezTo>
                  <a:pt x="4865831" y="-17794"/>
                  <a:pt x="5085720" y="-9287"/>
                  <a:pt x="5188161" y="0"/>
                </a:cubicBezTo>
                <a:cubicBezTo>
                  <a:pt x="5290602" y="9287"/>
                  <a:pt x="5750473" y="-28152"/>
                  <a:pt x="5967730" y="0"/>
                </a:cubicBezTo>
                <a:cubicBezTo>
                  <a:pt x="6184987" y="28152"/>
                  <a:pt x="6224767" y="-5077"/>
                  <a:pt x="6317191" y="0"/>
                </a:cubicBezTo>
                <a:cubicBezTo>
                  <a:pt x="6409615" y="5077"/>
                  <a:pt x="6842802" y="-38561"/>
                  <a:pt x="7204286" y="0"/>
                </a:cubicBezTo>
                <a:cubicBezTo>
                  <a:pt x="7565771" y="38561"/>
                  <a:pt x="7776695" y="-15969"/>
                  <a:pt x="8091381" y="0"/>
                </a:cubicBezTo>
                <a:cubicBezTo>
                  <a:pt x="8406067" y="15969"/>
                  <a:pt x="8278475" y="-9248"/>
                  <a:pt x="8440843" y="0"/>
                </a:cubicBezTo>
                <a:cubicBezTo>
                  <a:pt x="8603211" y="9248"/>
                  <a:pt x="8889807" y="-27042"/>
                  <a:pt x="9327938" y="0"/>
                </a:cubicBezTo>
                <a:cubicBezTo>
                  <a:pt x="9766070" y="27042"/>
                  <a:pt x="9598051" y="1739"/>
                  <a:pt x="9784926" y="0"/>
                </a:cubicBezTo>
                <a:cubicBezTo>
                  <a:pt x="9971801" y="-1739"/>
                  <a:pt x="10383476" y="-43818"/>
                  <a:pt x="10752666" y="0"/>
                </a:cubicBezTo>
                <a:cubicBezTo>
                  <a:pt x="10743112" y="297223"/>
                  <a:pt x="10785752" y="493857"/>
                  <a:pt x="10752666" y="694264"/>
                </a:cubicBezTo>
                <a:cubicBezTo>
                  <a:pt x="10352797" y="687277"/>
                  <a:pt x="10235744" y="695684"/>
                  <a:pt x="9865571" y="694264"/>
                </a:cubicBezTo>
                <a:cubicBezTo>
                  <a:pt x="9495399" y="692844"/>
                  <a:pt x="9592536" y="688753"/>
                  <a:pt x="9516109" y="694264"/>
                </a:cubicBezTo>
                <a:cubicBezTo>
                  <a:pt x="9439682" y="699775"/>
                  <a:pt x="8930771" y="692000"/>
                  <a:pt x="8736541" y="694264"/>
                </a:cubicBezTo>
                <a:cubicBezTo>
                  <a:pt x="8542311" y="696528"/>
                  <a:pt x="8379061" y="669823"/>
                  <a:pt x="8064500" y="694264"/>
                </a:cubicBezTo>
                <a:cubicBezTo>
                  <a:pt x="7749939" y="718705"/>
                  <a:pt x="7449173" y="707253"/>
                  <a:pt x="7177405" y="694264"/>
                </a:cubicBezTo>
                <a:cubicBezTo>
                  <a:pt x="6905638" y="681275"/>
                  <a:pt x="6796999" y="687422"/>
                  <a:pt x="6505363" y="694264"/>
                </a:cubicBezTo>
                <a:cubicBezTo>
                  <a:pt x="6213727" y="701106"/>
                  <a:pt x="6246088" y="678236"/>
                  <a:pt x="6155901" y="694264"/>
                </a:cubicBezTo>
                <a:cubicBezTo>
                  <a:pt x="6065714" y="710292"/>
                  <a:pt x="5891146" y="686498"/>
                  <a:pt x="5806440" y="694264"/>
                </a:cubicBezTo>
                <a:cubicBezTo>
                  <a:pt x="5721734" y="702030"/>
                  <a:pt x="5239599" y="723451"/>
                  <a:pt x="4919345" y="694264"/>
                </a:cubicBezTo>
                <a:cubicBezTo>
                  <a:pt x="4599092" y="665077"/>
                  <a:pt x="4640605" y="692363"/>
                  <a:pt x="4569883" y="694264"/>
                </a:cubicBezTo>
                <a:cubicBezTo>
                  <a:pt x="4499161" y="696165"/>
                  <a:pt x="3935257" y="699243"/>
                  <a:pt x="3682788" y="694264"/>
                </a:cubicBezTo>
                <a:cubicBezTo>
                  <a:pt x="3430320" y="689285"/>
                  <a:pt x="3288230" y="690725"/>
                  <a:pt x="3010746" y="694264"/>
                </a:cubicBezTo>
                <a:cubicBezTo>
                  <a:pt x="2733262" y="697803"/>
                  <a:pt x="2519412" y="692715"/>
                  <a:pt x="2338705" y="694264"/>
                </a:cubicBezTo>
                <a:cubicBezTo>
                  <a:pt x="2157998" y="695813"/>
                  <a:pt x="2121041" y="708671"/>
                  <a:pt x="1989243" y="694264"/>
                </a:cubicBezTo>
                <a:cubicBezTo>
                  <a:pt x="1857445" y="679857"/>
                  <a:pt x="1596107" y="697571"/>
                  <a:pt x="1424728" y="694264"/>
                </a:cubicBezTo>
                <a:cubicBezTo>
                  <a:pt x="1253350" y="690957"/>
                  <a:pt x="1173574" y="712885"/>
                  <a:pt x="967740" y="694264"/>
                </a:cubicBezTo>
                <a:cubicBezTo>
                  <a:pt x="761906" y="675643"/>
                  <a:pt x="198677" y="649211"/>
                  <a:pt x="0" y="694264"/>
                </a:cubicBezTo>
                <a:cubicBezTo>
                  <a:pt x="14319" y="533010"/>
                  <a:pt x="19413" y="239046"/>
                  <a:pt x="0" y="0"/>
                </a:cubicBezTo>
                <a:close/>
              </a:path>
            </a:pathLst>
          </a:custGeom>
          <a:solidFill>
            <a:schemeClr val="bg1">
              <a:lumMod val="95000"/>
            </a:schemeClr>
          </a:solidFill>
          <a:ln>
            <a:solidFill>
              <a:srgbClr val="002060"/>
            </a:solidFill>
            <a:extLst>
              <a:ext uri="{C807C97D-BFC1-408E-A445-0C87EB9F89A2}">
                <ask:lineSketchStyleProps xmlns:ask="http://schemas.microsoft.com/office/drawing/2018/sketchyshapes" sd="212219442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Material balance</a:t>
            </a:r>
          </a:p>
        </p:txBody>
      </p:sp>
      <p:sp>
        <p:nvSpPr>
          <p:cNvPr id="2" name="Slide Number Placeholder 1">
            <a:extLst>
              <a:ext uri="{FF2B5EF4-FFF2-40B4-BE49-F238E27FC236}">
                <a16:creationId xmlns:a16="http://schemas.microsoft.com/office/drawing/2014/main" id="{25AED06A-DDAA-E9F8-F922-75C547BCB7C1}"/>
              </a:ext>
            </a:extLst>
          </p:cNvPr>
          <p:cNvSpPr>
            <a:spLocks noGrp="1"/>
          </p:cNvSpPr>
          <p:nvPr>
            <p:ph type="sldNum" sz="quarter" idx="12"/>
          </p:nvPr>
        </p:nvSpPr>
        <p:spPr/>
        <p:txBody>
          <a:bodyPr/>
          <a:lstStyle/>
          <a:p>
            <a:fld id="{330EA680-D336-4FF7-8B7A-9848BB0A1C32}" type="slidenum">
              <a:rPr lang="en-US" smtClean="0"/>
              <a:t>27</a:t>
            </a:fld>
            <a:endParaRPr lang="en-US"/>
          </a:p>
        </p:txBody>
      </p:sp>
    </p:spTree>
    <p:extLst>
      <p:ext uri="{BB962C8B-B14F-4D97-AF65-F5344CB8AC3E}">
        <p14:creationId xmlns:p14="http://schemas.microsoft.com/office/powerpoint/2010/main" val="38935970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D80696-FEE1-FA97-3CF5-B50F2C254A2A}"/>
              </a:ext>
            </a:extLst>
          </p:cNvPr>
          <p:cNvSpPr>
            <a:spLocks noGrp="1"/>
          </p:cNvSpPr>
          <p:nvPr>
            <p:ph type="sldNum" sz="quarter" idx="12"/>
          </p:nvPr>
        </p:nvSpPr>
        <p:spPr/>
        <p:txBody>
          <a:bodyPr/>
          <a:lstStyle/>
          <a:p>
            <a:fld id="{330EA680-D336-4FF7-8B7A-9848BB0A1C32}" type="slidenum">
              <a:rPr lang="en-US" smtClean="0"/>
              <a:t>28</a:t>
            </a:fld>
            <a:endParaRPr lang="en-US"/>
          </a:p>
        </p:txBody>
      </p:sp>
      <p:sp>
        <p:nvSpPr>
          <p:cNvPr id="5" name="Rectangle 4">
            <a:extLst>
              <a:ext uri="{FF2B5EF4-FFF2-40B4-BE49-F238E27FC236}">
                <a16:creationId xmlns:a16="http://schemas.microsoft.com/office/drawing/2014/main" id="{24ECC269-F54E-4135-91C7-46A53E190254}"/>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Block diagram</a:t>
            </a:r>
            <a:endParaRPr lang="en-US">
              <a:latin typeface="Times New Roman"/>
              <a:cs typeface="Times New Roman"/>
            </a:endParaRPr>
          </a:p>
        </p:txBody>
      </p:sp>
      <p:pic>
        <p:nvPicPr>
          <p:cNvPr id="3" name="Picture 2">
            <a:extLst>
              <a:ext uri="{FF2B5EF4-FFF2-40B4-BE49-F238E27FC236}">
                <a16:creationId xmlns:a16="http://schemas.microsoft.com/office/drawing/2014/main" id="{FCFFFC9A-6F60-9BCE-AF8B-76DBE402D2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3795" y="1210247"/>
            <a:ext cx="11657786" cy="5047488"/>
          </a:xfrm>
          <a:prstGeom prst="rect">
            <a:avLst/>
          </a:prstGeom>
          <a:noFill/>
          <a:ln>
            <a:noFill/>
          </a:ln>
        </p:spPr>
      </p:pic>
    </p:spTree>
    <p:extLst>
      <p:ext uri="{BB962C8B-B14F-4D97-AF65-F5344CB8AC3E}">
        <p14:creationId xmlns:p14="http://schemas.microsoft.com/office/powerpoint/2010/main" val="39103242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9CEDD4-5344-2FCC-FEF5-029DB961ED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11" name="TextBox 10">
            <a:extLst>
              <a:ext uri="{FF2B5EF4-FFF2-40B4-BE49-F238E27FC236}">
                <a16:creationId xmlns:a16="http://schemas.microsoft.com/office/drawing/2014/main" id="{1AE7A386-1841-F6E6-8074-0D8673D1CA36}"/>
              </a:ext>
            </a:extLst>
          </p:cNvPr>
          <p:cNvSpPr txBox="1"/>
          <p:nvPr/>
        </p:nvSpPr>
        <p:spPr>
          <a:xfrm>
            <a:off x="6096000" y="1573946"/>
            <a:ext cx="5669533" cy="3970318"/>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Fresh Benzoic Acid Feed</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Solid reactant input (2.7 mol ratio); provides core material for esterification, directly fed to the mixer M1 for slurry creation.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Fresh Methanol Feed</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Excess reactant (16.59 mol ratio); acts as solvent and equilibrium shifter, can be recycled to sustain high conversion and reduce costs.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B5 Heater</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a:t>
            </a:r>
            <a:r>
              <a:rPr kumimoji="0" lang="en-US" sz="1800" b="0" i="0" u="none" strike="noStrike" kern="1200" cap="none" spc="0" normalizeH="0" baseline="0" noProof="0">
                <a:ln>
                  <a:noFill/>
                </a:ln>
                <a:solidFill>
                  <a:prstClr val="black"/>
                </a:solidFill>
                <a:effectLst/>
                <a:uLnTx/>
                <a:uFillTx/>
                <a:latin typeface="Times New Roman"/>
                <a:ea typeface="+mn-lt"/>
                <a:cs typeface="+mn-lt"/>
              </a:rPr>
              <a:t>Preheats feed stream to maintain desired reaction temperature i.e., 298.15 K.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Times New Roman"/>
              <a:ea typeface="+mn-lt"/>
              <a:cs typeface="+mn-lt"/>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M1 Mixer</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Blends benzoic acid and methanol into slurry; handles solid dissolution for phase-compatible reactor feed, ensures efficient reaction start.</a:t>
            </a: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5">
            <a:extLst>
              <a:ext uri="{FF2B5EF4-FFF2-40B4-BE49-F238E27FC236}">
                <a16:creationId xmlns:a16="http://schemas.microsoft.com/office/drawing/2014/main" id="{210022D8-2E89-4C35-ACAD-FE92A60DF9C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Block diagram</a:t>
            </a:r>
            <a:endParaRPr lang="en-US">
              <a:latin typeface="Times New Roman"/>
              <a:cs typeface="Times New Roman"/>
            </a:endParaRPr>
          </a:p>
        </p:txBody>
      </p:sp>
      <p:pic>
        <p:nvPicPr>
          <p:cNvPr id="4" name="Picture 3">
            <a:extLst>
              <a:ext uri="{FF2B5EF4-FFF2-40B4-BE49-F238E27FC236}">
                <a16:creationId xmlns:a16="http://schemas.microsoft.com/office/drawing/2014/main" id="{654A4641-5B0F-8059-A17B-062D4EF77E01}"/>
              </a:ext>
            </a:extLst>
          </p:cNvPr>
          <p:cNvPicPr>
            <a:picLocks noChangeAspect="1"/>
          </p:cNvPicPr>
          <p:nvPr/>
        </p:nvPicPr>
        <p:blipFill>
          <a:blip r:embed="rId2"/>
          <a:stretch>
            <a:fillRect/>
          </a:stretch>
        </p:blipFill>
        <p:spPr>
          <a:xfrm>
            <a:off x="762000" y="1561071"/>
            <a:ext cx="5200650" cy="1390650"/>
          </a:xfrm>
          <a:prstGeom prst="rect">
            <a:avLst/>
          </a:prstGeom>
        </p:spPr>
      </p:pic>
      <p:sp>
        <p:nvSpPr>
          <p:cNvPr id="3" name="TextBox 2">
            <a:extLst>
              <a:ext uri="{FF2B5EF4-FFF2-40B4-BE49-F238E27FC236}">
                <a16:creationId xmlns:a16="http://schemas.microsoft.com/office/drawing/2014/main" id="{4680B581-A00A-5340-910F-401053AC8CAC}"/>
              </a:ext>
            </a:extLst>
          </p:cNvPr>
          <p:cNvSpPr txBox="1"/>
          <p:nvPr/>
        </p:nvSpPr>
        <p:spPr>
          <a:xfrm>
            <a:off x="425823" y="3088484"/>
            <a:ext cx="5669533" cy="1477328"/>
          </a:xfrm>
          <a:prstGeom prst="rect">
            <a:avLst/>
          </a:prstGeom>
          <a:noFill/>
        </p:spPr>
        <p:txBody>
          <a:bodyPr wrap="square" lIns="91440" tIns="45720" rIns="91440" bIns="45720" anchor="t">
            <a:spAutoFit/>
          </a:bodyPr>
          <a:lstStyle/>
          <a:p>
            <a:pPr algn="just">
              <a:defRPr/>
            </a:pPr>
            <a:r>
              <a:rPr lang="en-US" b="1">
                <a:solidFill>
                  <a:schemeClr val="accent2"/>
                </a:solidFill>
                <a:latin typeface="Times New Roman"/>
                <a:cs typeface="Times New Roman"/>
              </a:rPr>
              <a:t>Mass flows of reactants taken initially :-</a:t>
            </a: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Methanol: 54303 kg/</a:t>
            </a:r>
            <a:r>
              <a:rPr lang="en-US" b="1" err="1">
                <a:solidFill>
                  <a:schemeClr val="accent2"/>
                </a:solidFill>
                <a:latin typeface="Times New Roman"/>
                <a:cs typeface="Times New Roman"/>
              </a:rPr>
              <a:t>hr</a:t>
            </a:r>
            <a:r>
              <a:rPr lang="en-US" b="1">
                <a:solidFill>
                  <a:schemeClr val="accent2"/>
                </a:solidFill>
                <a:latin typeface="Times New Roman"/>
                <a:cs typeface="Times New Roman"/>
              </a:rPr>
              <a:t>, Benzoic acid: 32851 kg/</a:t>
            </a:r>
            <a:r>
              <a:rPr lang="en-US" b="1" err="1">
                <a:solidFill>
                  <a:schemeClr val="accent2"/>
                </a:solidFill>
                <a:latin typeface="Times New Roman"/>
                <a:cs typeface="Times New Roman"/>
              </a:rPr>
              <a:t>hr</a:t>
            </a:r>
            <a:endParaRPr lang="en-US" b="1">
              <a:solidFill>
                <a:schemeClr val="accent2"/>
              </a:solidFill>
              <a:latin typeface="Times New Roman"/>
              <a:cs typeface="Times New Roman"/>
            </a:endParaRPr>
          </a:p>
          <a:p>
            <a:pPr algn="just">
              <a:defRPr/>
            </a:pP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Mass of products formed:-</a:t>
            </a:r>
          </a:p>
          <a:p>
            <a:pPr algn="just">
              <a:defRPr/>
            </a:pPr>
            <a:r>
              <a:rPr lang="en-US" b="1">
                <a:solidFill>
                  <a:schemeClr val="accent2"/>
                </a:solidFill>
                <a:latin typeface="Times New Roman"/>
                <a:cs typeface="Times New Roman"/>
              </a:rPr>
              <a:t>Methyl benzoate: 36529 kg/</a:t>
            </a:r>
            <a:r>
              <a:rPr lang="en-US" b="1" err="1">
                <a:solidFill>
                  <a:schemeClr val="accent2"/>
                </a:solidFill>
                <a:latin typeface="Times New Roman"/>
                <a:cs typeface="Times New Roman"/>
              </a:rPr>
              <a:t>hr</a:t>
            </a:r>
            <a:r>
              <a:rPr lang="en-US" b="1">
                <a:solidFill>
                  <a:schemeClr val="accent2"/>
                </a:solidFill>
                <a:latin typeface="Times New Roman"/>
                <a:cs typeface="Times New Roman"/>
              </a:rPr>
              <a:t>, Water: 48.5 kg/</a:t>
            </a:r>
            <a:r>
              <a:rPr lang="en-US" b="1" err="1">
                <a:solidFill>
                  <a:schemeClr val="accent2"/>
                </a:solidFill>
                <a:latin typeface="Times New Roman"/>
                <a:cs typeface="Times New Roman"/>
              </a:rPr>
              <a:t>hr</a:t>
            </a:r>
            <a:endParaRPr lang="en-US" b="1" err="1">
              <a:solidFill>
                <a:schemeClr val="accent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1C38446-2118-19A5-98B0-B516F3AE99B4}"/>
              </a:ext>
            </a:extLst>
          </p:cNvPr>
          <p:cNvSpPr txBox="1"/>
          <p:nvPr/>
        </p:nvSpPr>
        <p:spPr>
          <a:xfrm>
            <a:off x="423874" y="5033923"/>
            <a:ext cx="5537011" cy="461665"/>
          </a:xfrm>
          <a:prstGeom prst="rect">
            <a:avLst/>
          </a:prstGeom>
          <a:noFill/>
        </p:spPr>
        <p:txBody>
          <a:bodyPr wrap="square" lIns="91440" tIns="45720" rIns="91440" bIns="45720" anchor="t">
            <a:spAutoFit/>
          </a:bodyPr>
          <a:lstStyle/>
          <a:p>
            <a:pPr algn="just">
              <a:defRPr/>
            </a:pPr>
            <a:r>
              <a:rPr lang="en-US" sz="1200">
                <a:solidFill>
                  <a:srgbClr val="000000"/>
                </a:solidFill>
                <a:latin typeface="Times New Roman"/>
                <a:cs typeface="Times New Roman"/>
              </a:rPr>
              <a:t>*The above have been taken based on ratios provided in the original literature, as well as enabling a significant profit margin. Also, we have kept ease of verification in mind</a:t>
            </a:r>
          </a:p>
        </p:txBody>
      </p:sp>
    </p:spTree>
    <p:extLst>
      <p:ext uri="{BB962C8B-B14F-4D97-AF65-F5344CB8AC3E}">
        <p14:creationId xmlns:p14="http://schemas.microsoft.com/office/powerpoint/2010/main" val="407268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9CEDD4-5344-2FCC-FEF5-029DB961ED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9" name="TextBox 8">
            <a:extLst>
              <a:ext uri="{FF2B5EF4-FFF2-40B4-BE49-F238E27FC236}">
                <a16:creationId xmlns:a16="http://schemas.microsoft.com/office/drawing/2014/main" id="{0B56F18E-EB50-FD8C-EB01-959C5585109A}"/>
              </a:ext>
            </a:extLst>
          </p:cNvPr>
          <p:cNvSpPr txBox="1"/>
          <p:nvPr/>
        </p:nvSpPr>
        <p:spPr>
          <a:xfrm>
            <a:off x="6858000" y="2164140"/>
            <a:ext cx="4638675" cy="3139321"/>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Arial,Sans-Serif"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R1 Equilibrium Reactor</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Site of esterification (Benzoic Acid + Methanol → Methyl Benzoate + H₂O); models' reversible kinetics with such excess ratio yields very large k indicating near-complete conversion.</a:t>
            </a:r>
            <a:endParaRPr kumimoji="0" lang="en-US" sz="1800" b="1" i="0" u="none" strike="noStrike" kern="1200" cap="none" spc="0" normalizeH="0" baseline="0" noProof="0">
              <a:ln>
                <a:noFill/>
              </a:ln>
              <a:solidFill>
                <a:prstClr val="black"/>
              </a:solidFill>
              <a:effectLst/>
              <a:uLnTx/>
              <a:uFillTx/>
              <a:latin typeface="Times New Roman"/>
              <a:ea typeface="+mn-ea"/>
              <a:cs typeface="Times New Roman"/>
            </a:endParaRPr>
          </a:p>
          <a:p>
            <a:pPr marL="285750" marR="0" lvl="0" indent="-285750" algn="just" defTabSz="914400" rtl="0" eaLnBrk="1" fontAlgn="auto" latinLnBrk="0" hangingPunct="1">
              <a:lnSpc>
                <a:spcPct val="100000"/>
              </a:lnSpc>
              <a:spcBef>
                <a:spcPts val="0"/>
              </a:spcBef>
              <a:spcAft>
                <a:spcPts val="0"/>
              </a:spcAft>
              <a:buClrTx/>
              <a:buSzTx/>
              <a:buFont typeface="Arial,Sans-Serif" panose="020B0604020202020204" pitchFamily="34" charset="0"/>
              <a:buChar char="•"/>
              <a:tabLst/>
              <a:defRPr/>
            </a:pPr>
            <a:endParaRPr kumimoji="0" lang="en-US" sz="1800" b="1" i="0" u="none" strike="noStrike" kern="1200" cap="none" spc="0" normalizeH="0" baseline="0" noProof="0">
              <a:ln>
                <a:noFill/>
              </a:ln>
              <a:solidFill>
                <a:prstClr val="black"/>
              </a:solidFill>
              <a:effectLst/>
              <a:uLnTx/>
              <a:uFillTx/>
              <a:latin typeface="Times New Roman"/>
              <a:ea typeface="+mn-ea"/>
              <a:cs typeface="Times New Roman"/>
            </a:endParaRPr>
          </a:p>
          <a:p>
            <a:pPr marL="285750" marR="0" lvl="0" indent="-285750" algn="just" defTabSz="914400" rtl="0" eaLnBrk="1" fontAlgn="auto" latinLnBrk="0" hangingPunct="1">
              <a:lnSpc>
                <a:spcPct val="100000"/>
              </a:lnSpc>
              <a:spcBef>
                <a:spcPts val="0"/>
              </a:spcBef>
              <a:spcAft>
                <a:spcPts val="0"/>
              </a:spcAft>
              <a:buClrTx/>
              <a:buSzTx/>
              <a:buFont typeface="Arial,Sans-Serif"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C1 Distillation Column</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Initial split of R1 effluent to D1 (methanol/water overhead) and B1 (MEB/acids bottoms); 20 trays, low reflux for energy-efficient light removal based on volatility differences. </a:t>
            </a:r>
          </a:p>
        </p:txBody>
      </p:sp>
      <p:sp>
        <p:nvSpPr>
          <p:cNvPr id="6" name="Rectangle 5">
            <a:extLst>
              <a:ext uri="{FF2B5EF4-FFF2-40B4-BE49-F238E27FC236}">
                <a16:creationId xmlns:a16="http://schemas.microsoft.com/office/drawing/2014/main" id="{628EB655-4378-4209-B64F-5F85E2480C14}"/>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Block diagram</a:t>
            </a:r>
            <a:endParaRPr lang="en-US">
              <a:latin typeface="Times New Roman"/>
              <a:cs typeface="Times New Roman"/>
            </a:endParaRPr>
          </a:p>
        </p:txBody>
      </p:sp>
      <p:pic>
        <p:nvPicPr>
          <p:cNvPr id="11" name="Picture 10">
            <a:extLst>
              <a:ext uri="{FF2B5EF4-FFF2-40B4-BE49-F238E27FC236}">
                <a16:creationId xmlns:a16="http://schemas.microsoft.com/office/drawing/2014/main" id="{63284E11-52AD-B193-15F1-B3F1546426E3}"/>
              </a:ext>
            </a:extLst>
          </p:cNvPr>
          <p:cNvPicPr>
            <a:picLocks noChangeAspect="1"/>
          </p:cNvPicPr>
          <p:nvPr/>
        </p:nvPicPr>
        <p:blipFill>
          <a:blip r:embed="rId3"/>
          <a:stretch>
            <a:fillRect/>
          </a:stretch>
        </p:blipFill>
        <p:spPr>
          <a:xfrm>
            <a:off x="600075" y="1319212"/>
            <a:ext cx="6677025" cy="4883325"/>
          </a:xfrm>
          <a:prstGeom prst="rect">
            <a:avLst/>
          </a:prstGeom>
        </p:spPr>
      </p:pic>
    </p:spTree>
    <p:extLst>
      <p:ext uri="{BB962C8B-B14F-4D97-AF65-F5344CB8AC3E}">
        <p14:creationId xmlns:p14="http://schemas.microsoft.com/office/powerpoint/2010/main" val="341668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9CEDD4-5344-2FCC-FEF5-029DB961ED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A8995C89-0DF5-1D2A-2CB9-1C04158CC7FA}"/>
              </a:ext>
            </a:extLst>
          </p:cNvPr>
          <p:cNvSpPr txBox="1"/>
          <p:nvPr/>
        </p:nvSpPr>
        <p:spPr>
          <a:xfrm>
            <a:off x="6798944" y="2958941"/>
            <a:ext cx="4297681" cy="1200329"/>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C2 Distillation Column</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Purifies D1 into D2 (methanol distillate, 99.99% recovery) and B2 (water bottoms); 20 trays.</a:t>
            </a:r>
          </a:p>
        </p:txBody>
      </p:sp>
      <p:sp>
        <p:nvSpPr>
          <p:cNvPr id="6" name="Rectangle 5">
            <a:extLst>
              <a:ext uri="{FF2B5EF4-FFF2-40B4-BE49-F238E27FC236}">
                <a16:creationId xmlns:a16="http://schemas.microsoft.com/office/drawing/2014/main" id="{2DF919AF-02AB-4177-9EFA-DF8C84B9798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Block diagram</a:t>
            </a:r>
            <a:endParaRPr lang="en-US">
              <a:latin typeface="Times New Roman"/>
              <a:cs typeface="Times New Roman"/>
            </a:endParaRPr>
          </a:p>
        </p:txBody>
      </p:sp>
      <p:pic>
        <p:nvPicPr>
          <p:cNvPr id="4" name="Picture 3">
            <a:extLst>
              <a:ext uri="{FF2B5EF4-FFF2-40B4-BE49-F238E27FC236}">
                <a16:creationId xmlns:a16="http://schemas.microsoft.com/office/drawing/2014/main" id="{62915183-C333-2D74-602B-50FAC0E8A0FE}"/>
              </a:ext>
            </a:extLst>
          </p:cNvPr>
          <p:cNvPicPr>
            <a:picLocks noChangeAspect="1"/>
          </p:cNvPicPr>
          <p:nvPr/>
        </p:nvPicPr>
        <p:blipFill>
          <a:blip r:embed="rId2"/>
          <a:stretch>
            <a:fillRect/>
          </a:stretch>
        </p:blipFill>
        <p:spPr>
          <a:xfrm>
            <a:off x="376237" y="1225550"/>
            <a:ext cx="8791575" cy="5419725"/>
          </a:xfrm>
          <a:prstGeom prst="rect">
            <a:avLst/>
          </a:prstGeom>
        </p:spPr>
      </p:pic>
    </p:spTree>
    <p:extLst>
      <p:ext uri="{BB962C8B-B14F-4D97-AF65-F5344CB8AC3E}">
        <p14:creationId xmlns:p14="http://schemas.microsoft.com/office/powerpoint/2010/main" val="39322544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9CEDD4-5344-2FCC-FEF5-029DB961ED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2A03202F-D0E8-FD8D-13D4-D56F3382F412}"/>
              </a:ext>
            </a:extLst>
          </p:cNvPr>
          <p:cNvSpPr txBox="1"/>
          <p:nvPr/>
        </p:nvSpPr>
        <p:spPr>
          <a:xfrm>
            <a:off x="6366109" y="2186743"/>
            <a:ext cx="4981575" cy="1477328"/>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C3 Distillation Column</a:t>
            </a: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Isolates D3 (MEB distillate, 99.7% recovery) from B3 (acids bottoms); 20 trays exploit MEB volatility for product purification with minimal energy (low reflux).</a:t>
            </a:r>
          </a:p>
        </p:txBody>
      </p:sp>
      <p:sp>
        <p:nvSpPr>
          <p:cNvPr id="7" name="Rectangle 6">
            <a:extLst>
              <a:ext uri="{FF2B5EF4-FFF2-40B4-BE49-F238E27FC236}">
                <a16:creationId xmlns:a16="http://schemas.microsoft.com/office/drawing/2014/main" id="{3903753D-D85F-46D3-A0C4-EE5033ED8951}"/>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Block diagram</a:t>
            </a:r>
            <a:endParaRPr lang="en-US">
              <a:latin typeface="Times New Roman"/>
              <a:cs typeface="Times New Roman"/>
            </a:endParaRPr>
          </a:p>
        </p:txBody>
      </p:sp>
      <p:pic>
        <p:nvPicPr>
          <p:cNvPr id="4" name="Picture 3">
            <a:extLst>
              <a:ext uri="{FF2B5EF4-FFF2-40B4-BE49-F238E27FC236}">
                <a16:creationId xmlns:a16="http://schemas.microsoft.com/office/drawing/2014/main" id="{12172748-F443-1011-37F2-33ABE2A62C5E}"/>
              </a:ext>
            </a:extLst>
          </p:cNvPr>
          <p:cNvPicPr>
            <a:picLocks noChangeAspect="1"/>
          </p:cNvPicPr>
          <p:nvPr/>
        </p:nvPicPr>
        <p:blipFill>
          <a:blip r:embed="rId2"/>
          <a:stretch>
            <a:fillRect/>
          </a:stretch>
        </p:blipFill>
        <p:spPr>
          <a:xfrm>
            <a:off x="600075" y="1103312"/>
            <a:ext cx="6838581" cy="5253038"/>
          </a:xfrm>
          <a:prstGeom prst="rect">
            <a:avLst/>
          </a:prstGeom>
        </p:spPr>
      </p:pic>
    </p:spTree>
    <p:extLst>
      <p:ext uri="{BB962C8B-B14F-4D97-AF65-F5344CB8AC3E}">
        <p14:creationId xmlns:p14="http://schemas.microsoft.com/office/powerpoint/2010/main" val="3166742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9CEDD4-5344-2FCC-FEF5-029DB961ED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4CEE76C1-4068-991B-1B4A-697329EAE6B3}"/>
              </a:ext>
            </a:extLst>
          </p:cNvPr>
          <p:cNvSpPr txBox="1"/>
          <p:nvPr/>
        </p:nvSpPr>
        <p:spPr>
          <a:xfrm>
            <a:off x="6452864" y="2100827"/>
            <a:ext cx="4962526" cy="1242448"/>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C4 Distillation Column</a:t>
            </a: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Recovers D4 (benzoic acid distillate, 99.9%) from B4 (phthalic acid purge bottoms); 20 trays close acid loop, removes impurities to prevent buildup.</a:t>
            </a:r>
          </a:p>
        </p:txBody>
      </p:sp>
      <p:sp>
        <p:nvSpPr>
          <p:cNvPr id="6" name="Rectangle 5">
            <a:extLst>
              <a:ext uri="{FF2B5EF4-FFF2-40B4-BE49-F238E27FC236}">
                <a16:creationId xmlns:a16="http://schemas.microsoft.com/office/drawing/2014/main" id="{AE1010A4-EE59-4074-8E96-C3B695B9F1BF}"/>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500" cap="all">
                <a:latin typeface="Times New Roman"/>
                <a:ea typeface="+mn-lt"/>
                <a:cs typeface="+mn-lt"/>
              </a:rPr>
              <a:t>Block diagram</a:t>
            </a:r>
            <a:endParaRPr lang="en-US">
              <a:latin typeface="Times New Roman"/>
              <a:cs typeface="Times New Roman"/>
            </a:endParaRPr>
          </a:p>
        </p:txBody>
      </p:sp>
      <p:pic>
        <p:nvPicPr>
          <p:cNvPr id="9" name="Picture 8">
            <a:extLst>
              <a:ext uri="{FF2B5EF4-FFF2-40B4-BE49-F238E27FC236}">
                <a16:creationId xmlns:a16="http://schemas.microsoft.com/office/drawing/2014/main" id="{A4C7B89D-F43C-7CB0-0A31-5419F2DC0EC5}"/>
              </a:ext>
            </a:extLst>
          </p:cNvPr>
          <p:cNvPicPr>
            <a:picLocks noChangeAspect="1"/>
          </p:cNvPicPr>
          <p:nvPr/>
        </p:nvPicPr>
        <p:blipFill>
          <a:blip r:embed="rId2"/>
          <a:stretch>
            <a:fillRect/>
          </a:stretch>
        </p:blipFill>
        <p:spPr>
          <a:xfrm>
            <a:off x="776610" y="909637"/>
            <a:ext cx="6920629" cy="5683821"/>
          </a:xfrm>
          <a:prstGeom prst="rect">
            <a:avLst/>
          </a:prstGeom>
        </p:spPr>
      </p:pic>
    </p:spTree>
    <p:extLst>
      <p:ext uri="{BB962C8B-B14F-4D97-AF65-F5344CB8AC3E}">
        <p14:creationId xmlns:p14="http://schemas.microsoft.com/office/powerpoint/2010/main" val="26354124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1F8F73FC-BC9D-47A8-89A3-C8C580430E01}"/>
              </a:ext>
            </a:extLst>
          </p:cNvPr>
          <p:cNvGraphicFramePr>
            <a:graphicFrameLocks noGrp="1"/>
          </p:cNvGraphicFramePr>
          <p:nvPr>
            <p:extLst>
              <p:ext uri="{D42A27DB-BD31-4B8C-83A1-F6EECF244321}">
                <p14:modId xmlns:p14="http://schemas.microsoft.com/office/powerpoint/2010/main" val="2352857778"/>
              </p:ext>
            </p:extLst>
          </p:nvPr>
        </p:nvGraphicFramePr>
        <p:xfrm>
          <a:off x="322753" y="2010133"/>
          <a:ext cx="5811391" cy="1834784"/>
        </p:xfrm>
        <a:graphic>
          <a:graphicData uri="http://schemas.openxmlformats.org/drawingml/2006/table">
            <a:tbl>
              <a:tblPr>
                <a:tableStyleId>{9D7B26C5-4107-4FEC-AEDC-1716B250A1EF}</a:tableStyleId>
              </a:tblPr>
              <a:tblGrid>
                <a:gridCol w="1254703">
                  <a:extLst>
                    <a:ext uri="{9D8B030D-6E8A-4147-A177-3AD203B41FA5}">
                      <a16:colId xmlns:a16="http://schemas.microsoft.com/office/drawing/2014/main" val="1152049568"/>
                    </a:ext>
                  </a:extLst>
                </a:gridCol>
                <a:gridCol w="1019952">
                  <a:extLst>
                    <a:ext uri="{9D8B030D-6E8A-4147-A177-3AD203B41FA5}">
                      <a16:colId xmlns:a16="http://schemas.microsoft.com/office/drawing/2014/main" val="2988529557"/>
                    </a:ext>
                  </a:extLst>
                </a:gridCol>
                <a:gridCol w="1206133">
                  <a:extLst>
                    <a:ext uri="{9D8B030D-6E8A-4147-A177-3AD203B41FA5}">
                      <a16:colId xmlns:a16="http://schemas.microsoft.com/office/drawing/2014/main" val="1687907663"/>
                    </a:ext>
                  </a:extLst>
                </a:gridCol>
                <a:gridCol w="1133280">
                  <a:extLst>
                    <a:ext uri="{9D8B030D-6E8A-4147-A177-3AD203B41FA5}">
                      <a16:colId xmlns:a16="http://schemas.microsoft.com/office/drawing/2014/main" val="1707346840"/>
                    </a:ext>
                  </a:extLst>
                </a:gridCol>
                <a:gridCol w="1197323">
                  <a:extLst>
                    <a:ext uri="{9D8B030D-6E8A-4147-A177-3AD203B41FA5}">
                      <a16:colId xmlns:a16="http://schemas.microsoft.com/office/drawing/2014/main" val="1048771165"/>
                    </a:ext>
                  </a:extLst>
                </a:gridCol>
              </a:tblGrid>
              <a:tr h="260341">
                <a:tc>
                  <a:txBody>
                    <a:bodyPr/>
                    <a:lstStyle/>
                    <a:p>
                      <a:pPr algn="ctr" fontAlgn="ctr"/>
                      <a:r>
                        <a:rPr lang="en-US" sz="1200" b="1" u="none" strike="noStrike">
                          <a:solidFill>
                            <a:srgbClr val="0000FF"/>
                          </a:solidFill>
                          <a:effectLst/>
                          <a:latin typeface="Times New Roman"/>
                          <a:cs typeface="Times New Roman"/>
                        </a:rPr>
                        <a:t>Column C1</a:t>
                      </a:r>
                      <a:endParaRPr lang="en-US" sz="1200" b="1" i="0" u="none" strike="noStrike">
                        <a:solidFill>
                          <a:srgbClr val="0000FF"/>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u="none" strike="noStrike">
                          <a:solidFill>
                            <a:srgbClr val="000000"/>
                          </a:solidFill>
                          <a:effectLst/>
                          <a:latin typeface="Times New Roman"/>
                          <a:cs typeface="Times New Roman"/>
                        </a:rPr>
                        <a:t>Mass In (S1)</a:t>
                      </a:r>
                      <a:endParaRPr lang="en-US" sz="1200" b="1"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u="none" strike="noStrike">
                          <a:solidFill>
                            <a:srgbClr val="000000"/>
                          </a:solidFill>
                          <a:effectLst/>
                          <a:latin typeface="Times New Roman"/>
                          <a:cs typeface="Times New Roman"/>
                        </a:rPr>
                        <a:t>Mass Out(B1)</a:t>
                      </a:r>
                      <a:endParaRPr lang="en-US" sz="1200" b="1"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u="none" strike="noStrike">
                          <a:solidFill>
                            <a:srgbClr val="000000"/>
                          </a:solidFill>
                          <a:effectLst/>
                          <a:latin typeface="Times New Roman"/>
                          <a:cs typeface="Times New Roman"/>
                        </a:rPr>
                        <a:t>Mass Out(D1)</a:t>
                      </a:r>
                      <a:endParaRPr lang="en-US" sz="1200" b="1"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u="none" strike="noStrike">
                          <a:solidFill>
                            <a:srgbClr val="000000"/>
                          </a:solidFill>
                          <a:effectLst/>
                          <a:latin typeface="Times New Roman"/>
                          <a:cs typeface="Times New Roman"/>
                        </a:rPr>
                        <a:t>Mass Out total</a:t>
                      </a:r>
                      <a:endParaRPr lang="en-US" sz="1200" b="1"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4866753"/>
                  </a:ext>
                </a:extLst>
              </a:tr>
              <a:tr h="260341">
                <a:tc>
                  <a:txBody>
                    <a:bodyPr/>
                    <a:lstStyle/>
                    <a:p>
                      <a:pPr algn="ctr" fontAlgn="ctr"/>
                      <a:r>
                        <a:rPr lang="en-US" sz="1200" b="1" u="none" strike="noStrike">
                          <a:solidFill>
                            <a:srgbClr val="000000"/>
                          </a:solidFill>
                          <a:effectLst/>
                          <a:latin typeface="Times New Roman"/>
                          <a:cs typeface="Times New Roman"/>
                        </a:rPr>
                        <a:t>Methyl Benzoate</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36622.21057</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36620.80996</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1.400610149</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36622.21057</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3566470"/>
                  </a:ext>
                </a:extLst>
              </a:tr>
              <a:tr h="260341">
                <a:tc>
                  <a:txBody>
                    <a:bodyPr/>
                    <a:lstStyle/>
                    <a:p>
                      <a:pPr algn="ctr" fontAlgn="ctr"/>
                      <a:r>
                        <a:rPr lang="en-US" sz="1200" b="1" u="none" strike="noStrike">
                          <a:solidFill>
                            <a:srgbClr val="000000"/>
                          </a:solidFill>
                          <a:effectLst/>
                          <a:latin typeface="Times New Roman"/>
                          <a:cs typeface="Times New Roman"/>
                        </a:rPr>
                        <a:t>Benzoic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1.996230958</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1.996230958</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2.47E-24</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2.00E+00</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7989714"/>
                  </a:ext>
                </a:extLst>
              </a:tr>
              <a:tr h="260341">
                <a:tc>
                  <a:txBody>
                    <a:bodyPr/>
                    <a:lstStyle/>
                    <a:p>
                      <a:pPr algn="ctr" fontAlgn="ctr"/>
                      <a:r>
                        <a:rPr lang="en-US" sz="1200" b="1" u="none" strike="noStrike">
                          <a:solidFill>
                            <a:srgbClr val="000000"/>
                          </a:solidFill>
                          <a:effectLst/>
                          <a:latin typeface="Times New Roman"/>
                          <a:cs typeface="Times New Roman"/>
                        </a:rPr>
                        <a:t>Water</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4845.815842</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48.45815348</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4797.357689</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4845.815842</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4848644"/>
                  </a:ext>
                </a:extLst>
              </a:tr>
              <a:tr h="260341">
                <a:tc>
                  <a:txBody>
                    <a:bodyPr/>
                    <a:lstStyle/>
                    <a:p>
                      <a:pPr algn="ctr" fontAlgn="ctr"/>
                      <a:r>
                        <a:rPr lang="en-US" sz="1200" b="1" u="none" strike="noStrike">
                          <a:solidFill>
                            <a:srgbClr val="000000"/>
                          </a:solidFill>
                          <a:effectLst/>
                          <a:latin typeface="Times New Roman"/>
                          <a:cs typeface="Times New Roman"/>
                        </a:rPr>
                        <a:t>Methanol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45692.64392</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0.017089908</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45692.62683</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45692.64392</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422929"/>
                  </a:ext>
                </a:extLst>
              </a:tr>
              <a:tr h="260341">
                <a:tc>
                  <a:txBody>
                    <a:bodyPr/>
                    <a:lstStyle/>
                    <a:p>
                      <a:pPr algn="ctr" fontAlgn="ctr"/>
                      <a:r>
                        <a:rPr lang="en-US" sz="1200" b="1" u="none" strike="noStrike">
                          <a:solidFill>
                            <a:srgbClr val="000000"/>
                          </a:solidFill>
                          <a:effectLst/>
                          <a:latin typeface="Times New Roman"/>
                          <a:cs typeface="Times New Roman"/>
                        </a:rPr>
                        <a:t>Phthalic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166.13324</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166.13324</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1.97E-39</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u="none" strike="noStrike">
                          <a:solidFill>
                            <a:srgbClr val="000000"/>
                          </a:solidFill>
                          <a:effectLst/>
                          <a:latin typeface="Times New Roman"/>
                          <a:cs typeface="Times New Roman"/>
                        </a:rPr>
                        <a:t>1.66E+02</a:t>
                      </a: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1008450"/>
                  </a:ext>
                </a:extLst>
              </a:tr>
              <a:tr h="272738">
                <a:tc>
                  <a:txBody>
                    <a:bodyPr/>
                    <a:lstStyle/>
                    <a:p>
                      <a:pPr algn="ctr" fontAlgn="ctr"/>
                      <a:r>
                        <a:rPr lang="en-US" sz="1200" b="1" u="none" strike="noStrike">
                          <a:solidFill>
                            <a:srgbClr val="000000"/>
                          </a:solidFill>
                          <a:effectLst/>
                          <a:latin typeface="Times New Roman"/>
                          <a:cs typeface="Times New Roman"/>
                        </a:rPr>
                        <a:t>TOTAL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u="none" strike="noStrike">
                          <a:solidFill>
                            <a:srgbClr val="0000FF"/>
                          </a:solidFill>
                          <a:effectLst/>
                          <a:latin typeface="Times New Roman"/>
                          <a:cs typeface="Times New Roman"/>
                        </a:rPr>
                        <a:t>87328.7998</a:t>
                      </a:r>
                      <a:endParaRPr lang="en-US" sz="1200" b="1" i="0" u="none" strike="noStrike">
                        <a:solidFill>
                          <a:srgbClr val="0000FF"/>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0" i="0" u="none" strike="noStrike">
                        <a:solidFill>
                          <a:srgbClr val="000000"/>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u="none" strike="noStrike">
                          <a:solidFill>
                            <a:srgbClr val="0000FF"/>
                          </a:solidFill>
                          <a:effectLst/>
                          <a:latin typeface="Times New Roman"/>
                          <a:cs typeface="Times New Roman"/>
                        </a:rPr>
                        <a:t>87328.7998</a:t>
                      </a:r>
                      <a:endParaRPr lang="en-US" sz="1200" b="1" i="0" u="none" strike="noStrike">
                        <a:solidFill>
                          <a:srgbClr val="0000FF"/>
                        </a:solidFill>
                        <a:effectLst/>
                        <a:latin typeface="Times New Roman"/>
                        <a:cs typeface="Times New Roman"/>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119555"/>
                  </a:ext>
                </a:extLst>
              </a:tr>
            </a:tbl>
          </a:graphicData>
        </a:graphic>
      </p:graphicFrame>
      <p:graphicFrame>
        <p:nvGraphicFramePr>
          <p:cNvPr id="21" name="Table 20">
            <a:extLst>
              <a:ext uri="{FF2B5EF4-FFF2-40B4-BE49-F238E27FC236}">
                <a16:creationId xmlns:a16="http://schemas.microsoft.com/office/drawing/2014/main" id="{86A31C13-A0F1-4C35-A672-87ED0BB89860}"/>
              </a:ext>
            </a:extLst>
          </p:cNvPr>
          <p:cNvGraphicFramePr>
            <a:graphicFrameLocks noGrp="1"/>
          </p:cNvGraphicFramePr>
          <p:nvPr>
            <p:extLst>
              <p:ext uri="{D42A27DB-BD31-4B8C-83A1-F6EECF244321}">
                <p14:modId xmlns:p14="http://schemas.microsoft.com/office/powerpoint/2010/main" val="4064692207"/>
              </p:ext>
            </p:extLst>
          </p:nvPr>
        </p:nvGraphicFramePr>
        <p:xfrm>
          <a:off x="322754" y="4175797"/>
          <a:ext cx="5811391" cy="1834784"/>
        </p:xfrm>
        <a:graphic>
          <a:graphicData uri="http://schemas.openxmlformats.org/drawingml/2006/table">
            <a:tbl>
              <a:tblPr>
                <a:tableStyleId>{9D7B26C5-4107-4FEC-AEDC-1716B250A1EF}</a:tableStyleId>
              </a:tblPr>
              <a:tblGrid>
                <a:gridCol w="1254703">
                  <a:extLst>
                    <a:ext uri="{9D8B030D-6E8A-4147-A177-3AD203B41FA5}">
                      <a16:colId xmlns:a16="http://schemas.microsoft.com/office/drawing/2014/main" val="1152049568"/>
                    </a:ext>
                  </a:extLst>
                </a:gridCol>
                <a:gridCol w="1019952">
                  <a:extLst>
                    <a:ext uri="{9D8B030D-6E8A-4147-A177-3AD203B41FA5}">
                      <a16:colId xmlns:a16="http://schemas.microsoft.com/office/drawing/2014/main" val="2988529557"/>
                    </a:ext>
                  </a:extLst>
                </a:gridCol>
                <a:gridCol w="1206133">
                  <a:extLst>
                    <a:ext uri="{9D8B030D-6E8A-4147-A177-3AD203B41FA5}">
                      <a16:colId xmlns:a16="http://schemas.microsoft.com/office/drawing/2014/main" val="1687907663"/>
                    </a:ext>
                  </a:extLst>
                </a:gridCol>
                <a:gridCol w="1133280">
                  <a:extLst>
                    <a:ext uri="{9D8B030D-6E8A-4147-A177-3AD203B41FA5}">
                      <a16:colId xmlns:a16="http://schemas.microsoft.com/office/drawing/2014/main" val="1707346840"/>
                    </a:ext>
                  </a:extLst>
                </a:gridCol>
                <a:gridCol w="1197323">
                  <a:extLst>
                    <a:ext uri="{9D8B030D-6E8A-4147-A177-3AD203B41FA5}">
                      <a16:colId xmlns:a16="http://schemas.microsoft.com/office/drawing/2014/main" val="1048771165"/>
                    </a:ext>
                  </a:extLst>
                </a:gridCol>
              </a:tblGrid>
              <a:tr h="260341">
                <a:tc>
                  <a:txBody>
                    <a:bodyPr/>
                    <a:lstStyle/>
                    <a:p>
                      <a:pPr algn="ctr" fontAlgn="ctr"/>
                      <a:r>
                        <a:rPr lang="en-US" sz="1200" b="1" u="none" strike="noStrike">
                          <a:solidFill>
                            <a:srgbClr val="0000FF"/>
                          </a:solidFill>
                          <a:effectLst/>
                          <a:latin typeface="Times New Roman"/>
                          <a:cs typeface="Times New Roman"/>
                        </a:rPr>
                        <a:t>Column C2</a:t>
                      </a:r>
                      <a:endParaRPr lang="en-US" sz="1200" b="1" i="0" u="none" strike="noStrike">
                        <a:solidFill>
                          <a:srgbClr val="0000FF"/>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In (D1)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Out(B2)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Out(D2)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 total</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4866753"/>
                  </a:ext>
                </a:extLst>
              </a:tr>
              <a:tr h="260341">
                <a:tc>
                  <a:txBody>
                    <a:bodyPr/>
                    <a:lstStyle/>
                    <a:p>
                      <a:pPr algn="ctr" fontAlgn="ctr"/>
                      <a:r>
                        <a:rPr lang="en-US" sz="1200" b="1" u="none" strike="noStrike">
                          <a:solidFill>
                            <a:srgbClr val="000000"/>
                          </a:solidFill>
                          <a:effectLst/>
                          <a:latin typeface="Times New Roman"/>
                          <a:cs typeface="Times New Roman"/>
                        </a:rPr>
                        <a:t>Methyl Benzoate</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1.400610149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1.400610149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1.400610149</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3566470"/>
                  </a:ext>
                </a:extLst>
              </a:tr>
              <a:tr h="260341">
                <a:tc>
                  <a:txBody>
                    <a:bodyPr/>
                    <a:lstStyle/>
                    <a:p>
                      <a:pPr algn="ctr" fontAlgn="ctr"/>
                      <a:r>
                        <a:rPr lang="en-US" sz="1200" b="1" u="none" strike="noStrike">
                          <a:solidFill>
                            <a:srgbClr val="000000"/>
                          </a:solidFill>
                          <a:effectLst/>
                          <a:latin typeface="Times New Roman"/>
                          <a:cs typeface="Times New Roman"/>
                        </a:rPr>
                        <a:t>Benzoic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2.47E-24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7989714"/>
                  </a:ext>
                </a:extLst>
              </a:tr>
              <a:tr h="260341">
                <a:tc>
                  <a:txBody>
                    <a:bodyPr/>
                    <a:lstStyle/>
                    <a:p>
                      <a:pPr algn="ctr" fontAlgn="ctr"/>
                      <a:r>
                        <a:rPr lang="en-US" sz="1200" b="1" u="none" strike="noStrike">
                          <a:solidFill>
                            <a:srgbClr val="000000"/>
                          </a:solidFill>
                          <a:effectLst/>
                          <a:latin typeface="Times New Roman"/>
                          <a:cs typeface="Times New Roman"/>
                        </a:rPr>
                        <a:t>Water</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4797.357689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4792.560331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4.797357688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4797.357689</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4848644"/>
                  </a:ext>
                </a:extLst>
              </a:tr>
              <a:tr h="260341">
                <a:tc>
                  <a:txBody>
                    <a:bodyPr/>
                    <a:lstStyle/>
                    <a:p>
                      <a:pPr algn="ctr" fontAlgn="ctr"/>
                      <a:r>
                        <a:rPr lang="en-US" sz="1200" b="1" u="none" strike="noStrike">
                          <a:solidFill>
                            <a:srgbClr val="000000"/>
                          </a:solidFill>
                          <a:effectLst/>
                          <a:latin typeface="Times New Roman"/>
                          <a:cs typeface="Times New Roman"/>
                        </a:rPr>
                        <a:t>Methanol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45692.62683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9.138525366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45683.4883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45692.62683</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422929"/>
                  </a:ext>
                </a:extLst>
              </a:tr>
              <a:tr h="260341">
                <a:tc>
                  <a:txBody>
                    <a:bodyPr/>
                    <a:lstStyle/>
                    <a:p>
                      <a:pPr algn="ctr" fontAlgn="ctr"/>
                      <a:r>
                        <a:rPr lang="en-US" sz="1200" b="1" u="none" strike="noStrike">
                          <a:solidFill>
                            <a:srgbClr val="000000"/>
                          </a:solidFill>
                          <a:effectLst/>
                          <a:latin typeface="Times New Roman"/>
                          <a:cs typeface="Times New Roman"/>
                        </a:rPr>
                        <a:t>Phthalic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1.97E-39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1008450"/>
                  </a:ext>
                </a:extLst>
              </a:tr>
              <a:tr h="272738">
                <a:tc>
                  <a:txBody>
                    <a:bodyPr/>
                    <a:lstStyle/>
                    <a:p>
                      <a:pPr algn="ctr" fontAlgn="ctr"/>
                      <a:r>
                        <a:rPr lang="en-US" sz="1200" b="1" u="none" strike="noStrike">
                          <a:solidFill>
                            <a:srgbClr val="000000"/>
                          </a:solidFill>
                          <a:effectLst/>
                          <a:latin typeface="Times New Roman"/>
                          <a:cs typeface="Times New Roman"/>
                        </a:rPr>
                        <a:t>TOTAL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a:solidFill>
                            <a:srgbClr val="0000FF"/>
                          </a:solidFill>
                          <a:effectLst/>
                          <a:latin typeface="Times New Roman"/>
                        </a:rPr>
                        <a:t>50491.38513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0" i="0" u="none" strike="noStrike">
                        <a:solidFill>
                          <a:srgbClr val="000000"/>
                        </a:solidFill>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0" i="0" u="none" strike="noStrike">
                        <a:solidFill>
                          <a:srgbClr val="000000"/>
                        </a:solidFill>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a:solidFill>
                            <a:srgbClr val="0000FF"/>
                          </a:solidFill>
                          <a:effectLst/>
                          <a:latin typeface="Times New Roman"/>
                        </a:rPr>
                        <a:t>50491.38513</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119555"/>
                  </a:ext>
                </a:extLst>
              </a:tr>
            </a:tbl>
          </a:graphicData>
        </a:graphic>
      </p:graphicFrame>
      <p:graphicFrame>
        <p:nvGraphicFramePr>
          <p:cNvPr id="12" name="Table 11">
            <a:extLst>
              <a:ext uri="{FF2B5EF4-FFF2-40B4-BE49-F238E27FC236}">
                <a16:creationId xmlns:a16="http://schemas.microsoft.com/office/drawing/2014/main" id="{2217CB6D-AB64-40E5-A595-0FAF25F58970}"/>
              </a:ext>
            </a:extLst>
          </p:cNvPr>
          <p:cNvGraphicFramePr>
            <a:graphicFrameLocks noGrp="1"/>
          </p:cNvGraphicFramePr>
          <p:nvPr>
            <p:extLst>
              <p:ext uri="{D42A27DB-BD31-4B8C-83A1-F6EECF244321}">
                <p14:modId xmlns:p14="http://schemas.microsoft.com/office/powerpoint/2010/main" val="1567086226"/>
              </p:ext>
            </p:extLst>
          </p:nvPr>
        </p:nvGraphicFramePr>
        <p:xfrm>
          <a:off x="6400798" y="2191395"/>
          <a:ext cx="5468448" cy="1472260"/>
        </p:xfrm>
        <a:graphic>
          <a:graphicData uri="http://schemas.openxmlformats.org/drawingml/2006/table">
            <a:tbl>
              <a:tblPr>
                <a:tableStyleId>{9D7B26C5-4107-4FEC-AEDC-1716B250A1EF}</a:tableStyleId>
              </a:tblPr>
              <a:tblGrid>
                <a:gridCol w="1729814">
                  <a:extLst>
                    <a:ext uri="{9D8B030D-6E8A-4147-A177-3AD203B41FA5}">
                      <a16:colId xmlns:a16="http://schemas.microsoft.com/office/drawing/2014/main" val="4230772287"/>
                    </a:ext>
                  </a:extLst>
                </a:gridCol>
                <a:gridCol w="1171811">
                  <a:extLst>
                    <a:ext uri="{9D8B030D-6E8A-4147-A177-3AD203B41FA5}">
                      <a16:colId xmlns:a16="http://schemas.microsoft.com/office/drawing/2014/main" val="240174359"/>
                    </a:ext>
                  </a:extLst>
                </a:gridCol>
                <a:gridCol w="1364012">
                  <a:extLst>
                    <a:ext uri="{9D8B030D-6E8A-4147-A177-3AD203B41FA5}">
                      <a16:colId xmlns:a16="http://schemas.microsoft.com/office/drawing/2014/main" val="375560844"/>
                    </a:ext>
                  </a:extLst>
                </a:gridCol>
                <a:gridCol w="1202811">
                  <a:extLst>
                    <a:ext uri="{9D8B030D-6E8A-4147-A177-3AD203B41FA5}">
                      <a16:colId xmlns:a16="http://schemas.microsoft.com/office/drawing/2014/main" val="284774596"/>
                    </a:ext>
                  </a:extLst>
                </a:gridCol>
              </a:tblGrid>
              <a:tr h="29445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a:solidFill>
                            <a:srgbClr val="0000FF"/>
                          </a:solidFill>
                          <a:effectLst/>
                          <a:latin typeface="Times New Roman" panose="02020603050405020304" pitchFamily="18" charset="0"/>
                          <a:cs typeface="Times New Roman" panose="02020603050405020304" pitchFamily="18" charset="0"/>
                        </a:rPr>
                        <a:t>Column C1 </a:t>
                      </a:r>
                      <a:endParaRPr lang="en-US" sz="1200" b="1" i="0" u="none" strike="noStrike">
                        <a:solidFill>
                          <a:srgbClr val="0000FF"/>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In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 </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out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3239841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Feed (S1)</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u="none" strike="noStrike">
                          <a:solidFill>
                            <a:srgbClr val="000000"/>
                          </a:solidFill>
                          <a:effectLst/>
                          <a:latin typeface="Times New Roman" panose="02020603050405020304" pitchFamily="18" charset="0"/>
                          <a:cs typeface="Times New Roman" panose="02020603050405020304" pitchFamily="18" charset="0"/>
                        </a:rPr>
                        <a:t>-141828.2926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Distillate C1 (D1)</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u="none" strike="noStrike">
                          <a:solidFill>
                            <a:srgbClr val="000000"/>
                          </a:solidFill>
                          <a:effectLst/>
                          <a:latin typeface="Times New Roman" panose="02020603050405020304" pitchFamily="18" charset="0"/>
                          <a:cs typeface="Times New Roman" panose="02020603050405020304" pitchFamily="18" charset="0"/>
                        </a:rPr>
                        <a:t>-113817.4079</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9104890"/>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Reboiler Duty C1 (</a:t>
                      </a:r>
                      <a:r>
                        <a:rPr lang="en-US" sz="1200" b="1" u="none" strike="noStrike" err="1">
                          <a:solidFill>
                            <a:srgbClr val="000000"/>
                          </a:solidFill>
                          <a:effectLst/>
                          <a:latin typeface="Times New Roman" panose="02020603050405020304" pitchFamily="18" charset="0"/>
                          <a:cs typeface="Times New Roman" panose="02020603050405020304" pitchFamily="18" charset="0"/>
                        </a:rPr>
                        <a:t>Qr</a:t>
                      </a:r>
                      <a:r>
                        <a:rPr lang="en-US" sz="1200" b="1" u="none" strike="noStrike">
                          <a:solidFill>
                            <a:srgbClr val="000000"/>
                          </a:solidFill>
                          <a:effectLst/>
                          <a:latin typeface="Times New Roman" panose="02020603050405020304" pitchFamily="18" charset="0"/>
                          <a:cs typeface="Times New Roman" panose="02020603050405020304" pitchFamily="18" charset="0"/>
                        </a:rPr>
                        <a:t>)</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22532</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Bottoms C1 (B1)</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u="none" strike="noStrike">
                          <a:solidFill>
                            <a:srgbClr val="000000"/>
                          </a:solidFill>
                          <a:effectLst/>
                          <a:latin typeface="Times New Roman" panose="02020603050405020304" pitchFamily="18" charset="0"/>
                          <a:cs typeface="Times New Roman" panose="02020603050405020304" pitchFamily="18" charset="0"/>
                        </a:rPr>
                        <a:t>-23075.58014</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284966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Condenser Duty C1 (Qc)</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-17596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 </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 </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52611"/>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u="none" strike="noStrike">
                          <a:solidFill>
                            <a:srgbClr val="0000FF"/>
                          </a:solidFill>
                          <a:effectLst/>
                          <a:latin typeface="Times New Roman" panose="02020603050405020304" pitchFamily="18" charset="0"/>
                          <a:cs typeface="Times New Roman" panose="02020603050405020304" pitchFamily="18" charset="0"/>
                        </a:rPr>
                        <a:t>-136892.2926</a:t>
                      </a:r>
                      <a:endParaRPr lang="en-US" sz="1200" b="1" i="0" u="none" strike="noStrike">
                        <a:solidFill>
                          <a:srgbClr val="0000FF"/>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u="none" strike="noStrike">
                          <a:solidFill>
                            <a:srgbClr val="0000FF"/>
                          </a:solidFill>
                          <a:effectLst/>
                          <a:latin typeface="Times New Roman" panose="02020603050405020304" pitchFamily="18" charset="0"/>
                          <a:cs typeface="Times New Roman" panose="02020603050405020304" pitchFamily="18" charset="0"/>
                        </a:rPr>
                        <a:t>-136892.988</a:t>
                      </a:r>
                      <a:endParaRPr lang="en-US" sz="1200" b="1" i="0" u="none" strike="noStrike">
                        <a:solidFill>
                          <a:srgbClr val="0000FF"/>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6129199"/>
                  </a:ext>
                </a:extLst>
              </a:tr>
            </a:tbl>
          </a:graphicData>
        </a:graphic>
      </p:graphicFrame>
      <p:graphicFrame>
        <p:nvGraphicFramePr>
          <p:cNvPr id="13" name="Table 12">
            <a:extLst>
              <a:ext uri="{FF2B5EF4-FFF2-40B4-BE49-F238E27FC236}">
                <a16:creationId xmlns:a16="http://schemas.microsoft.com/office/drawing/2014/main" id="{8ABB08EF-838F-4FA1-A2B1-52F34A5788A4}"/>
              </a:ext>
            </a:extLst>
          </p:cNvPr>
          <p:cNvGraphicFramePr>
            <a:graphicFrameLocks noGrp="1"/>
          </p:cNvGraphicFramePr>
          <p:nvPr>
            <p:extLst>
              <p:ext uri="{D42A27DB-BD31-4B8C-83A1-F6EECF244321}">
                <p14:modId xmlns:p14="http://schemas.microsoft.com/office/powerpoint/2010/main" val="1500353071"/>
              </p:ext>
            </p:extLst>
          </p:nvPr>
        </p:nvGraphicFramePr>
        <p:xfrm>
          <a:off x="6400798" y="4357059"/>
          <a:ext cx="5468448" cy="1472260"/>
        </p:xfrm>
        <a:graphic>
          <a:graphicData uri="http://schemas.openxmlformats.org/drawingml/2006/table">
            <a:tbl>
              <a:tblPr>
                <a:tableStyleId>{9D7B26C5-4107-4FEC-AEDC-1716B250A1EF}</a:tableStyleId>
              </a:tblPr>
              <a:tblGrid>
                <a:gridCol w="1729814">
                  <a:extLst>
                    <a:ext uri="{9D8B030D-6E8A-4147-A177-3AD203B41FA5}">
                      <a16:colId xmlns:a16="http://schemas.microsoft.com/office/drawing/2014/main" val="4230772287"/>
                    </a:ext>
                  </a:extLst>
                </a:gridCol>
                <a:gridCol w="1171811">
                  <a:extLst>
                    <a:ext uri="{9D8B030D-6E8A-4147-A177-3AD203B41FA5}">
                      <a16:colId xmlns:a16="http://schemas.microsoft.com/office/drawing/2014/main" val="240174359"/>
                    </a:ext>
                  </a:extLst>
                </a:gridCol>
                <a:gridCol w="1364012">
                  <a:extLst>
                    <a:ext uri="{9D8B030D-6E8A-4147-A177-3AD203B41FA5}">
                      <a16:colId xmlns:a16="http://schemas.microsoft.com/office/drawing/2014/main" val="375560844"/>
                    </a:ext>
                  </a:extLst>
                </a:gridCol>
                <a:gridCol w="1202811">
                  <a:extLst>
                    <a:ext uri="{9D8B030D-6E8A-4147-A177-3AD203B41FA5}">
                      <a16:colId xmlns:a16="http://schemas.microsoft.com/office/drawing/2014/main" val="284774596"/>
                    </a:ext>
                  </a:extLst>
                </a:gridCol>
              </a:tblGrid>
              <a:tr h="29445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a:solidFill>
                            <a:srgbClr val="0000FF"/>
                          </a:solidFill>
                          <a:effectLst/>
                          <a:latin typeface="Times New Roman" panose="02020603050405020304" pitchFamily="18" charset="0"/>
                          <a:cs typeface="Times New Roman" panose="02020603050405020304" pitchFamily="18" charset="0"/>
                        </a:rPr>
                        <a:t>Column C2 </a:t>
                      </a:r>
                      <a:endParaRPr lang="en-US" sz="1200" b="1" i="0" u="none" strike="noStrike">
                        <a:solidFill>
                          <a:srgbClr val="0000FF"/>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In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 </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out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3239841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Distillate C1 (D1)</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-113817.4079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Distillate C2 (D2)</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-92874.60482</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9104890"/>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Reboiler Duty C2 (</a:t>
                      </a:r>
                      <a:r>
                        <a:rPr lang="en-US" sz="1200" b="1" u="none" strike="noStrike" err="1">
                          <a:solidFill>
                            <a:srgbClr val="000000"/>
                          </a:solidFill>
                          <a:effectLst/>
                          <a:latin typeface="Times New Roman" panose="02020603050405020304" pitchFamily="18" charset="0"/>
                          <a:cs typeface="Times New Roman" panose="02020603050405020304" pitchFamily="18" charset="0"/>
                        </a:rPr>
                        <a:t>Qr</a:t>
                      </a:r>
                      <a:r>
                        <a:rPr lang="en-US" sz="1200" b="1" u="none" strike="noStrike">
                          <a:solidFill>
                            <a:srgbClr val="000000"/>
                          </a:solidFill>
                          <a:effectLst/>
                          <a:latin typeface="Times New Roman" panose="02020603050405020304" pitchFamily="18" charset="0"/>
                          <a:cs typeface="Times New Roman" panose="02020603050405020304" pitchFamily="18" charset="0"/>
                        </a:rPr>
                        <a:t>)</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38340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Bottoms C2 (B2)</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-20712.05695</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284966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Condenser Duty C2 (Qc)</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-38109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 </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52611"/>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i="0" u="none" strike="noStrike">
                          <a:solidFill>
                            <a:srgbClr val="0000FF"/>
                          </a:solidFill>
                          <a:effectLst/>
                          <a:latin typeface="Times New Roman" panose="02020603050405020304" pitchFamily="18" charset="0"/>
                          <a:cs typeface="Times New Roman" panose="02020603050405020304" pitchFamily="18" charset="0"/>
                        </a:rPr>
                        <a:t>-113586.4079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i="0" u="none" strike="noStrike">
                          <a:solidFill>
                            <a:srgbClr val="0000FF"/>
                          </a:solidFill>
                          <a:effectLst/>
                          <a:latin typeface="Times New Roman" panose="02020603050405020304" pitchFamily="18" charset="0"/>
                          <a:cs typeface="Times New Roman" panose="02020603050405020304" pitchFamily="18" charset="0"/>
                        </a:rPr>
                        <a:t>-113586.6618</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6129199"/>
                  </a:ext>
                </a:extLst>
              </a:tr>
            </a:tbl>
          </a:graphicData>
        </a:graphic>
      </p:graphicFrame>
      <p:sp>
        <p:nvSpPr>
          <p:cNvPr id="16" name="TextBox 15">
            <a:extLst>
              <a:ext uri="{FF2B5EF4-FFF2-40B4-BE49-F238E27FC236}">
                <a16:creationId xmlns:a16="http://schemas.microsoft.com/office/drawing/2014/main" id="{BD88F074-D085-45BB-ACE5-4ECC501D6A64}"/>
              </a:ext>
            </a:extLst>
          </p:cNvPr>
          <p:cNvSpPr txBox="1"/>
          <p:nvPr/>
        </p:nvSpPr>
        <p:spPr>
          <a:xfrm>
            <a:off x="162352" y="1132063"/>
            <a:ext cx="7197672" cy="369332"/>
          </a:xfrm>
          <a:prstGeom prst="rect">
            <a:avLst/>
          </a:prstGeom>
          <a:noFill/>
        </p:spPr>
        <p:txBody>
          <a:bodyPr wrap="square">
            <a:spAutoFit/>
          </a:bodyPr>
          <a:lstStyle/>
          <a:p>
            <a:pPr marL="285750" indent="-285750" algn="just">
              <a:buFont typeface="Arial" panose="020B0604020202020204" pitchFamily="34" charset="0"/>
              <a:buChar char="•"/>
            </a:pPr>
            <a:r>
              <a:rPr lang="en-US" sz="1800">
                <a:latin typeface="Times New Roman" panose="02020603050405020304" pitchFamily="18" charset="0"/>
                <a:cs typeface="Times New Roman" panose="02020603050405020304" pitchFamily="18" charset="0"/>
              </a:rPr>
              <a:t>Material and Energy Balance for Columns 1 and 2</a:t>
            </a:r>
          </a:p>
        </p:txBody>
      </p:sp>
      <p:sp>
        <p:nvSpPr>
          <p:cNvPr id="2" name="Slide Number Placeholder 1">
            <a:extLst>
              <a:ext uri="{FF2B5EF4-FFF2-40B4-BE49-F238E27FC236}">
                <a16:creationId xmlns:a16="http://schemas.microsoft.com/office/drawing/2014/main" id="{1EEE0C42-C174-EEEE-FE23-3CC238F37487}"/>
              </a:ext>
            </a:extLst>
          </p:cNvPr>
          <p:cNvSpPr>
            <a:spLocks noGrp="1"/>
          </p:cNvSpPr>
          <p:nvPr>
            <p:ph type="sldNum" sz="quarter" idx="12"/>
          </p:nvPr>
        </p:nvSpPr>
        <p:spPr/>
        <p:txBody>
          <a:bodyPr/>
          <a:lstStyle/>
          <a:p>
            <a:fld id="{330EA680-D336-4FF7-8B7A-9848BB0A1C32}" type="slidenum">
              <a:rPr lang="en-US" smtClean="0"/>
              <a:t>34</a:t>
            </a:fld>
            <a:endParaRPr lang="en-US"/>
          </a:p>
        </p:txBody>
      </p:sp>
      <p:sp>
        <p:nvSpPr>
          <p:cNvPr id="9" name="Rectangle 8">
            <a:extLst>
              <a:ext uri="{FF2B5EF4-FFF2-40B4-BE49-F238E27FC236}">
                <a16:creationId xmlns:a16="http://schemas.microsoft.com/office/drawing/2014/main" id="{2C07DCD9-419B-4219-B831-915026AD1DF6}"/>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Material &amp; Energy Balance</a:t>
            </a:r>
          </a:p>
        </p:txBody>
      </p:sp>
    </p:spTree>
    <p:extLst>
      <p:ext uri="{BB962C8B-B14F-4D97-AF65-F5344CB8AC3E}">
        <p14:creationId xmlns:p14="http://schemas.microsoft.com/office/powerpoint/2010/main" val="34359322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F9C4E6-04FA-3819-1504-F7C4BD66A2AC}"/>
            </a:ext>
          </a:extLst>
        </p:cNvPr>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86A31C13-A0F1-4C35-A672-87ED0BB89860}"/>
              </a:ext>
            </a:extLst>
          </p:cNvPr>
          <p:cNvGraphicFramePr>
            <a:graphicFrameLocks noGrp="1"/>
          </p:cNvGraphicFramePr>
          <p:nvPr>
            <p:extLst>
              <p:ext uri="{D42A27DB-BD31-4B8C-83A1-F6EECF244321}">
                <p14:modId xmlns:p14="http://schemas.microsoft.com/office/powerpoint/2010/main" val="604437123"/>
              </p:ext>
            </p:extLst>
          </p:nvPr>
        </p:nvGraphicFramePr>
        <p:xfrm>
          <a:off x="322754" y="4175797"/>
          <a:ext cx="5811391" cy="1834784"/>
        </p:xfrm>
        <a:graphic>
          <a:graphicData uri="http://schemas.openxmlformats.org/drawingml/2006/table">
            <a:tbl>
              <a:tblPr>
                <a:tableStyleId>{9D7B26C5-4107-4FEC-AEDC-1716B250A1EF}</a:tableStyleId>
              </a:tblPr>
              <a:tblGrid>
                <a:gridCol w="1254703">
                  <a:extLst>
                    <a:ext uri="{9D8B030D-6E8A-4147-A177-3AD203B41FA5}">
                      <a16:colId xmlns:a16="http://schemas.microsoft.com/office/drawing/2014/main" val="1152049568"/>
                    </a:ext>
                  </a:extLst>
                </a:gridCol>
                <a:gridCol w="1019952">
                  <a:extLst>
                    <a:ext uri="{9D8B030D-6E8A-4147-A177-3AD203B41FA5}">
                      <a16:colId xmlns:a16="http://schemas.microsoft.com/office/drawing/2014/main" val="2988529557"/>
                    </a:ext>
                  </a:extLst>
                </a:gridCol>
                <a:gridCol w="1206133">
                  <a:extLst>
                    <a:ext uri="{9D8B030D-6E8A-4147-A177-3AD203B41FA5}">
                      <a16:colId xmlns:a16="http://schemas.microsoft.com/office/drawing/2014/main" val="1687907663"/>
                    </a:ext>
                  </a:extLst>
                </a:gridCol>
                <a:gridCol w="1133280">
                  <a:extLst>
                    <a:ext uri="{9D8B030D-6E8A-4147-A177-3AD203B41FA5}">
                      <a16:colId xmlns:a16="http://schemas.microsoft.com/office/drawing/2014/main" val="1707346840"/>
                    </a:ext>
                  </a:extLst>
                </a:gridCol>
                <a:gridCol w="1197323">
                  <a:extLst>
                    <a:ext uri="{9D8B030D-6E8A-4147-A177-3AD203B41FA5}">
                      <a16:colId xmlns:a16="http://schemas.microsoft.com/office/drawing/2014/main" val="1048771165"/>
                    </a:ext>
                  </a:extLst>
                </a:gridCol>
              </a:tblGrid>
              <a:tr h="260341">
                <a:tc>
                  <a:txBody>
                    <a:bodyPr/>
                    <a:lstStyle/>
                    <a:p>
                      <a:pPr algn="ctr" fontAlgn="ctr"/>
                      <a:r>
                        <a:rPr lang="en-US" sz="1200" b="1" u="none" strike="noStrike">
                          <a:solidFill>
                            <a:srgbClr val="0000FF"/>
                          </a:solidFill>
                          <a:effectLst/>
                          <a:latin typeface="Times New Roman"/>
                          <a:cs typeface="Times New Roman"/>
                        </a:rPr>
                        <a:t>Column C4</a:t>
                      </a:r>
                      <a:endParaRPr lang="en-US" sz="1200" b="1" i="0" u="none" strike="noStrike">
                        <a:solidFill>
                          <a:srgbClr val="0000FF"/>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In (B3)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Out(B4)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Out(D4)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 total</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4866753"/>
                  </a:ext>
                </a:extLst>
              </a:tr>
              <a:tr h="260341">
                <a:tc>
                  <a:txBody>
                    <a:bodyPr/>
                    <a:lstStyle/>
                    <a:p>
                      <a:pPr algn="ctr" fontAlgn="ctr"/>
                      <a:r>
                        <a:rPr lang="en-US" sz="1200" b="1" u="none" strike="noStrike">
                          <a:solidFill>
                            <a:srgbClr val="000000"/>
                          </a:solidFill>
                          <a:effectLst/>
                          <a:latin typeface="Times New Roman"/>
                          <a:cs typeface="Times New Roman"/>
                        </a:rPr>
                        <a:t>Methyl Benzoate</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91.55202489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7.38E-07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91.55202415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9.16E+01</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3566470"/>
                  </a:ext>
                </a:extLst>
              </a:tr>
              <a:tr h="260341">
                <a:tc>
                  <a:txBody>
                    <a:bodyPr/>
                    <a:lstStyle/>
                    <a:p>
                      <a:pPr algn="ctr" fontAlgn="ctr"/>
                      <a:r>
                        <a:rPr lang="en-US" sz="1200" b="1" u="none" strike="noStrike">
                          <a:solidFill>
                            <a:srgbClr val="000000"/>
                          </a:solidFill>
                          <a:effectLst/>
                          <a:latin typeface="Times New Roman"/>
                          <a:cs typeface="Times New Roman"/>
                        </a:rPr>
                        <a:t>Benzoic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1.967318305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1.97E-05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1.967298588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1.97E+00</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7989714"/>
                  </a:ext>
                </a:extLst>
              </a:tr>
              <a:tr h="260341">
                <a:tc>
                  <a:txBody>
                    <a:bodyPr/>
                    <a:lstStyle/>
                    <a:p>
                      <a:pPr algn="ctr" fontAlgn="ctr"/>
                      <a:r>
                        <a:rPr lang="en-US" sz="1200" b="1" u="none" strike="noStrike">
                          <a:solidFill>
                            <a:srgbClr val="000000"/>
                          </a:solidFill>
                          <a:effectLst/>
                          <a:latin typeface="Times New Roman"/>
                          <a:cs typeface="Times New Roman"/>
                        </a:rPr>
                        <a:t>Water</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3.84E-15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4848644"/>
                  </a:ext>
                </a:extLst>
              </a:tr>
              <a:tr h="260341">
                <a:tc>
                  <a:txBody>
                    <a:bodyPr/>
                    <a:lstStyle/>
                    <a:p>
                      <a:pPr algn="ctr" fontAlgn="ctr"/>
                      <a:r>
                        <a:rPr lang="en-US" sz="1200" b="1" u="none" strike="noStrike">
                          <a:solidFill>
                            <a:srgbClr val="000000"/>
                          </a:solidFill>
                          <a:effectLst/>
                          <a:latin typeface="Times New Roman"/>
                          <a:cs typeface="Times New Roman"/>
                        </a:rPr>
                        <a:t>Methanol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9.13E-18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422929"/>
                  </a:ext>
                </a:extLst>
              </a:tr>
              <a:tr h="260341">
                <a:tc>
                  <a:txBody>
                    <a:bodyPr/>
                    <a:lstStyle/>
                    <a:p>
                      <a:pPr algn="ctr" fontAlgn="ctr"/>
                      <a:r>
                        <a:rPr lang="en-US" sz="1200" b="1" u="none" strike="noStrike">
                          <a:solidFill>
                            <a:srgbClr val="000000"/>
                          </a:solidFill>
                          <a:effectLst/>
                          <a:latin typeface="Times New Roman"/>
                          <a:cs typeface="Times New Roman"/>
                        </a:rPr>
                        <a:t>Phthalic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166.13324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165.9671068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0.16613324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166.13324</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1008450"/>
                  </a:ext>
                </a:extLst>
              </a:tr>
              <a:tr h="272738">
                <a:tc>
                  <a:txBody>
                    <a:bodyPr/>
                    <a:lstStyle/>
                    <a:p>
                      <a:pPr algn="ctr" fontAlgn="ctr"/>
                      <a:r>
                        <a:rPr lang="en-US" sz="1200" b="1" u="none" strike="noStrike">
                          <a:solidFill>
                            <a:srgbClr val="000000"/>
                          </a:solidFill>
                          <a:effectLst/>
                          <a:latin typeface="Times New Roman"/>
                          <a:cs typeface="Times New Roman"/>
                        </a:rPr>
                        <a:t>TOTAL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a:solidFill>
                            <a:srgbClr val="0000FF"/>
                          </a:solidFill>
                          <a:effectLst/>
                          <a:latin typeface="Times New Roman"/>
                        </a:rPr>
                        <a:t>259.6525832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a:solidFill>
                          <a:srgbClr val="FF0000"/>
                        </a:solidFill>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1" i="0" u="none" strike="noStrike">
                        <a:solidFill>
                          <a:srgbClr val="FF0000"/>
                        </a:solidFill>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a:solidFill>
                            <a:srgbClr val="0000FF"/>
                          </a:solidFill>
                          <a:effectLst/>
                          <a:latin typeface="Times New Roman"/>
                        </a:rPr>
                        <a:t>259.6525832</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119555"/>
                  </a:ext>
                </a:extLst>
              </a:tr>
            </a:tbl>
          </a:graphicData>
        </a:graphic>
      </p:graphicFrame>
      <p:graphicFrame>
        <p:nvGraphicFramePr>
          <p:cNvPr id="13" name="Table 12">
            <a:extLst>
              <a:ext uri="{FF2B5EF4-FFF2-40B4-BE49-F238E27FC236}">
                <a16:creationId xmlns:a16="http://schemas.microsoft.com/office/drawing/2014/main" id="{8ABB08EF-838F-4FA1-A2B1-52F34A5788A4}"/>
              </a:ext>
            </a:extLst>
          </p:cNvPr>
          <p:cNvGraphicFramePr>
            <a:graphicFrameLocks noGrp="1"/>
          </p:cNvGraphicFramePr>
          <p:nvPr>
            <p:extLst>
              <p:ext uri="{D42A27DB-BD31-4B8C-83A1-F6EECF244321}">
                <p14:modId xmlns:p14="http://schemas.microsoft.com/office/powerpoint/2010/main" val="4173510772"/>
              </p:ext>
            </p:extLst>
          </p:nvPr>
        </p:nvGraphicFramePr>
        <p:xfrm>
          <a:off x="6400798" y="4357059"/>
          <a:ext cx="5468448" cy="1472260"/>
        </p:xfrm>
        <a:graphic>
          <a:graphicData uri="http://schemas.openxmlformats.org/drawingml/2006/table">
            <a:tbl>
              <a:tblPr>
                <a:tableStyleId>{9D7B26C5-4107-4FEC-AEDC-1716B250A1EF}</a:tableStyleId>
              </a:tblPr>
              <a:tblGrid>
                <a:gridCol w="1729814">
                  <a:extLst>
                    <a:ext uri="{9D8B030D-6E8A-4147-A177-3AD203B41FA5}">
                      <a16:colId xmlns:a16="http://schemas.microsoft.com/office/drawing/2014/main" val="4230772287"/>
                    </a:ext>
                  </a:extLst>
                </a:gridCol>
                <a:gridCol w="1171811">
                  <a:extLst>
                    <a:ext uri="{9D8B030D-6E8A-4147-A177-3AD203B41FA5}">
                      <a16:colId xmlns:a16="http://schemas.microsoft.com/office/drawing/2014/main" val="240174359"/>
                    </a:ext>
                  </a:extLst>
                </a:gridCol>
                <a:gridCol w="1364012">
                  <a:extLst>
                    <a:ext uri="{9D8B030D-6E8A-4147-A177-3AD203B41FA5}">
                      <a16:colId xmlns:a16="http://schemas.microsoft.com/office/drawing/2014/main" val="375560844"/>
                    </a:ext>
                  </a:extLst>
                </a:gridCol>
                <a:gridCol w="1202811">
                  <a:extLst>
                    <a:ext uri="{9D8B030D-6E8A-4147-A177-3AD203B41FA5}">
                      <a16:colId xmlns:a16="http://schemas.microsoft.com/office/drawing/2014/main" val="284774596"/>
                    </a:ext>
                  </a:extLst>
                </a:gridCol>
              </a:tblGrid>
              <a:tr h="29445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a:solidFill>
                            <a:srgbClr val="0000FF"/>
                          </a:solidFill>
                          <a:effectLst/>
                          <a:latin typeface="Times New Roman" panose="02020603050405020304" pitchFamily="18" charset="0"/>
                          <a:cs typeface="Times New Roman" panose="02020603050405020304" pitchFamily="18" charset="0"/>
                        </a:rPr>
                        <a:t>Column C4 </a:t>
                      </a:r>
                      <a:endParaRPr lang="en-US" sz="1200" b="1" i="0" u="none" strike="noStrike">
                        <a:solidFill>
                          <a:srgbClr val="0000FF"/>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In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 </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out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3239841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Bottoms C3 (B3)</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-253.7746107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Distillate C4 (D4)</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-58.29793905</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9104890"/>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Reboiler Duty C4 (</a:t>
                      </a:r>
                      <a:r>
                        <a:rPr lang="en-US" sz="1200" b="1" u="none" strike="noStrike" err="1">
                          <a:solidFill>
                            <a:srgbClr val="000000"/>
                          </a:solidFill>
                          <a:effectLst/>
                          <a:latin typeface="Times New Roman" panose="02020603050405020304" pitchFamily="18" charset="0"/>
                          <a:cs typeface="Times New Roman" panose="02020603050405020304" pitchFamily="18" charset="0"/>
                        </a:rPr>
                        <a:t>Qr</a:t>
                      </a:r>
                      <a:r>
                        <a:rPr lang="en-US" sz="1200" b="1" u="none" strike="noStrike">
                          <a:solidFill>
                            <a:srgbClr val="000000"/>
                          </a:solidFill>
                          <a:effectLst/>
                          <a:latin typeface="Times New Roman" panose="02020603050405020304" pitchFamily="18" charset="0"/>
                          <a:cs typeface="Times New Roman" panose="02020603050405020304" pitchFamily="18" charset="0"/>
                        </a:rPr>
                        <a:t>)</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Bottoms C4 (B4)</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-189.3194072</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284966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Condenser Duty C4 (Qc)</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 </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52611"/>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i="0" u="none" strike="noStrike">
                          <a:solidFill>
                            <a:srgbClr val="0000FF"/>
                          </a:solidFill>
                          <a:effectLst/>
                          <a:latin typeface="Times New Roman" panose="02020603050405020304" pitchFamily="18" charset="0"/>
                          <a:cs typeface="Times New Roman" panose="02020603050405020304" pitchFamily="18" charset="0"/>
                        </a:rPr>
                        <a:t>-247.7746107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i="0" u="none" strike="noStrike">
                          <a:solidFill>
                            <a:srgbClr val="0000FF"/>
                          </a:solidFill>
                          <a:effectLst/>
                          <a:latin typeface="Times New Roman" panose="02020603050405020304" pitchFamily="18" charset="0"/>
                          <a:cs typeface="Times New Roman" panose="02020603050405020304" pitchFamily="18" charset="0"/>
                        </a:rPr>
                        <a:t>-247.6173463</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6129199"/>
                  </a:ext>
                </a:extLst>
              </a:tr>
            </a:tbl>
          </a:graphicData>
        </a:graphic>
      </p:graphicFrame>
      <p:graphicFrame>
        <p:nvGraphicFramePr>
          <p:cNvPr id="8" name="Table 7">
            <a:extLst>
              <a:ext uri="{FF2B5EF4-FFF2-40B4-BE49-F238E27FC236}">
                <a16:creationId xmlns:a16="http://schemas.microsoft.com/office/drawing/2014/main" id="{7589EFDF-5CF7-4124-86B6-F914755EB085}"/>
              </a:ext>
            </a:extLst>
          </p:cNvPr>
          <p:cNvGraphicFramePr>
            <a:graphicFrameLocks noGrp="1"/>
          </p:cNvGraphicFramePr>
          <p:nvPr>
            <p:extLst>
              <p:ext uri="{D42A27DB-BD31-4B8C-83A1-F6EECF244321}">
                <p14:modId xmlns:p14="http://schemas.microsoft.com/office/powerpoint/2010/main" val="306841389"/>
              </p:ext>
            </p:extLst>
          </p:nvPr>
        </p:nvGraphicFramePr>
        <p:xfrm>
          <a:off x="6400798" y="2192858"/>
          <a:ext cx="5468448" cy="1472260"/>
        </p:xfrm>
        <a:graphic>
          <a:graphicData uri="http://schemas.openxmlformats.org/drawingml/2006/table">
            <a:tbl>
              <a:tblPr>
                <a:tableStyleId>{9D7B26C5-4107-4FEC-AEDC-1716B250A1EF}</a:tableStyleId>
              </a:tblPr>
              <a:tblGrid>
                <a:gridCol w="1729814">
                  <a:extLst>
                    <a:ext uri="{9D8B030D-6E8A-4147-A177-3AD203B41FA5}">
                      <a16:colId xmlns:a16="http://schemas.microsoft.com/office/drawing/2014/main" val="4230772287"/>
                    </a:ext>
                  </a:extLst>
                </a:gridCol>
                <a:gridCol w="1171811">
                  <a:extLst>
                    <a:ext uri="{9D8B030D-6E8A-4147-A177-3AD203B41FA5}">
                      <a16:colId xmlns:a16="http://schemas.microsoft.com/office/drawing/2014/main" val="240174359"/>
                    </a:ext>
                  </a:extLst>
                </a:gridCol>
                <a:gridCol w="1364012">
                  <a:extLst>
                    <a:ext uri="{9D8B030D-6E8A-4147-A177-3AD203B41FA5}">
                      <a16:colId xmlns:a16="http://schemas.microsoft.com/office/drawing/2014/main" val="375560844"/>
                    </a:ext>
                  </a:extLst>
                </a:gridCol>
                <a:gridCol w="1202811">
                  <a:extLst>
                    <a:ext uri="{9D8B030D-6E8A-4147-A177-3AD203B41FA5}">
                      <a16:colId xmlns:a16="http://schemas.microsoft.com/office/drawing/2014/main" val="284774596"/>
                    </a:ext>
                  </a:extLst>
                </a:gridCol>
              </a:tblGrid>
              <a:tr h="29445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a:solidFill>
                            <a:srgbClr val="0000FF"/>
                          </a:solidFill>
                          <a:effectLst/>
                          <a:latin typeface="Times New Roman" panose="02020603050405020304" pitchFamily="18" charset="0"/>
                          <a:cs typeface="Times New Roman" panose="02020603050405020304" pitchFamily="18" charset="0"/>
                        </a:rPr>
                        <a:t>Column C3 </a:t>
                      </a:r>
                      <a:endParaRPr lang="en-US" sz="1200" b="1" i="0" u="none" strike="noStrike">
                        <a:solidFill>
                          <a:srgbClr val="0000FF"/>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In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 </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Heat out (kW)</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3239841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Bottoms C1 (B1)</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-23075.58014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Distillate C3 (D3)</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-22966.23687</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9104890"/>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Reboiler Duty C3 (</a:t>
                      </a:r>
                      <a:r>
                        <a:rPr lang="en-US" sz="1200" b="1" u="none" strike="noStrike" err="1">
                          <a:solidFill>
                            <a:srgbClr val="000000"/>
                          </a:solidFill>
                          <a:effectLst/>
                          <a:latin typeface="Times New Roman" panose="02020603050405020304" pitchFamily="18" charset="0"/>
                          <a:cs typeface="Times New Roman" panose="02020603050405020304" pitchFamily="18" charset="0"/>
                        </a:rPr>
                        <a:t>Qr</a:t>
                      </a:r>
                      <a:r>
                        <a:rPr lang="en-US" sz="1200" b="1" u="none" strike="noStrike">
                          <a:solidFill>
                            <a:srgbClr val="000000"/>
                          </a:solidFill>
                          <a:effectLst/>
                          <a:latin typeface="Times New Roman" panose="02020603050405020304" pitchFamily="18" charset="0"/>
                          <a:cs typeface="Times New Roman" panose="02020603050405020304" pitchFamily="18" charset="0"/>
                        </a:rPr>
                        <a:t>)</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4291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Bottoms C3 (B3)</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-253.7746107</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2849665"/>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Condenser Duty C3 (Qc)</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-4436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u="none" strike="noStrike">
                          <a:solidFill>
                            <a:srgbClr val="000000"/>
                          </a:solidFill>
                          <a:effectLst/>
                          <a:latin typeface="Times New Roman" panose="02020603050405020304" pitchFamily="18" charset="0"/>
                          <a:cs typeface="Times New Roman" panose="02020603050405020304" pitchFamily="18" charset="0"/>
                        </a:rPr>
                        <a:t> </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52611"/>
                  </a:ext>
                </a:extLst>
              </a:tr>
              <a:tr h="294452">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i="0" u="none" strike="noStrike">
                          <a:solidFill>
                            <a:srgbClr val="0000FF"/>
                          </a:solidFill>
                          <a:effectLst/>
                          <a:latin typeface="Times New Roman" panose="02020603050405020304" pitchFamily="18" charset="0"/>
                          <a:cs typeface="Times New Roman" panose="02020603050405020304" pitchFamily="18" charset="0"/>
                        </a:rPr>
                        <a:t>-23220.58014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u="none" strike="noStrike">
                          <a:solidFill>
                            <a:srgbClr val="000000"/>
                          </a:solidFill>
                          <a:effectLst/>
                          <a:latin typeface="Times New Roman" panose="02020603050405020304" pitchFamily="18" charset="0"/>
                          <a:cs typeface="Times New Roman" panose="02020603050405020304" pitchFamily="18" charset="0"/>
                        </a:rPr>
                        <a:t>Total</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062" marR="7062" marT="706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200" b="1" i="0" u="none" strike="noStrike">
                          <a:solidFill>
                            <a:srgbClr val="0000FF"/>
                          </a:solidFill>
                          <a:effectLst/>
                          <a:latin typeface="Times New Roman" panose="02020603050405020304" pitchFamily="18" charset="0"/>
                          <a:cs typeface="Times New Roman" panose="02020603050405020304" pitchFamily="18" charset="0"/>
                        </a:rPr>
                        <a:t>-23220.01149</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6129199"/>
                  </a:ext>
                </a:extLst>
              </a:tr>
            </a:tbl>
          </a:graphicData>
        </a:graphic>
      </p:graphicFrame>
      <p:graphicFrame>
        <p:nvGraphicFramePr>
          <p:cNvPr id="9" name="Table 8">
            <a:extLst>
              <a:ext uri="{FF2B5EF4-FFF2-40B4-BE49-F238E27FC236}">
                <a16:creationId xmlns:a16="http://schemas.microsoft.com/office/drawing/2014/main" id="{04AB7800-1E02-41B1-8763-406C34D68E12}"/>
              </a:ext>
            </a:extLst>
          </p:cNvPr>
          <p:cNvGraphicFramePr>
            <a:graphicFrameLocks noGrp="1"/>
          </p:cNvGraphicFramePr>
          <p:nvPr>
            <p:extLst>
              <p:ext uri="{D42A27DB-BD31-4B8C-83A1-F6EECF244321}">
                <p14:modId xmlns:p14="http://schemas.microsoft.com/office/powerpoint/2010/main" val="161530635"/>
              </p:ext>
            </p:extLst>
          </p:nvPr>
        </p:nvGraphicFramePr>
        <p:xfrm>
          <a:off x="322754" y="2009628"/>
          <a:ext cx="5811391" cy="1834784"/>
        </p:xfrm>
        <a:graphic>
          <a:graphicData uri="http://schemas.openxmlformats.org/drawingml/2006/table">
            <a:tbl>
              <a:tblPr>
                <a:tableStyleId>{9D7B26C5-4107-4FEC-AEDC-1716B250A1EF}</a:tableStyleId>
              </a:tblPr>
              <a:tblGrid>
                <a:gridCol w="1254703">
                  <a:extLst>
                    <a:ext uri="{9D8B030D-6E8A-4147-A177-3AD203B41FA5}">
                      <a16:colId xmlns:a16="http://schemas.microsoft.com/office/drawing/2014/main" val="1152049568"/>
                    </a:ext>
                  </a:extLst>
                </a:gridCol>
                <a:gridCol w="1019952">
                  <a:extLst>
                    <a:ext uri="{9D8B030D-6E8A-4147-A177-3AD203B41FA5}">
                      <a16:colId xmlns:a16="http://schemas.microsoft.com/office/drawing/2014/main" val="2988529557"/>
                    </a:ext>
                  </a:extLst>
                </a:gridCol>
                <a:gridCol w="1206133">
                  <a:extLst>
                    <a:ext uri="{9D8B030D-6E8A-4147-A177-3AD203B41FA5}">
                      <a16:colId xmlns:a16="http://schemas.microsoft.com/office/drawing/2014/main" val="1687907663"/>
                    </a:ext>
                  </a:extLst>
                </a:gridCol>
                <a:gridCol w="1133280">
                  <a:extLst>
                    <a:ext uri="{9D8B030D-6E8A-4147-A177-3AD203B41FA5}">
                      <a16:colId xmlns:a16="http://schemas.microsoft.com/office/drawing/2014/main" val="1707346840"/>
                    </a:ext>
                  </a:extLst>
                </a:gridCol>
                <a:gridCol w="1197323">
                  <a:extLst>
                    <a:ext uri="{9D8B030D-6E8A-4147-A177-3AD203B41FA5}">
                      <a16:colId xmlns:a16="http://schemas.microsoft.com/office/drawing/2014/main" val="1048771165"/>
                    </a:ext>
                  </a:extLst>
                </a:gridCol>
              </a:tblGrid>
              <a:tr h="260341">
                <a:tc>
                  <a:txBody>
                    <a:bodyPr/>
                    <a:lstStyle/>
                    <a:p>
                      <a:pPr algn="ctr" fontAlgn="ctr"/>
                      <a:r>
                        <a:rPr lang="en-US" sz="1200" b="1" u="none" strike="noStrike">
                          <a:solidFill>
                            <a:srgbClr val="0000FF"/>
                          </a:solidFill>
                          <a:effectLst/>
                          <a:latin typeface="Times New Roman"/>
                          <a:cs typeface="Times New Roman"/>
                        </a:rPr>
                        <a:t>Column C3</a:t>
                      </a:r>
                      <a:endParaRPr lang="en-US" sz="1200" b="1" i="0" u="none" strike="noStrike">
                        <a:solidFill>
                          <a:srgbClr val="0000FF"/>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In (B1)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Out(B3)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Out(D3)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1200" b="1" i="0" u="none" strike="noStrike">
                          <a:solidFill>
                            <a:srgbClr val="000000"/>
                          </a:solidFill>
                          <a:effectLst/>
                          <a:latin typeface="Times New Roman"/>
                        </a:rPr>
                        <a:t>Mass Out total</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4866753"/>
                  </a:ext>
                </a:extLst>
              </a:tr>
              <a:tr h="260341">
                <a:tc>
                  <a:txBody>
                    <a:bodyPr/>
                    <a:lstStyle/>
                    <a:p>
                      <a:pPr algn="ctr" fontAlgn="ctr"/>
                      <a:r>
                        <a:rPr lang="en-US" sz="1200" b="1" u="none" strike="noStrike">
                          <a:solidFill>
                            <a:srgbClr val="000000"/>
                          </a:solidFill>
                          <a:effectLst/>
                          <a:latin typeface="Times New Roman"/>
                          <a:cs typeface="Times New Roman"/>
                        </a:rPr>
                        <a:t>Methyl Benzoate</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36620.80996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91.55202489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36529.2579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36620.80992</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3566470"/>
                  </a:ext>
                </a:extLst>
              </a:tr>
              <a:tr h="260341">
                <a:tc>
                  <a:txBody>
                    <a:bodyPr/>
                    <a:lstStyle/>
                    <a:p>
                      <a:pPr algn="ctr" fontAlgn="ctr"/>
                      <a:r>
                        <a:rPr lang="en-US" sz="1200" b="1" u="none" strike="noStrike">
                          <a:solidFill>
                            <a:srgbClr val="000000"/>
                          </a:solidFill>
                          <a:effectLst/>
                          <a:latin typeface="Times New Roman"/>
                          <a:cs typeface="Times New Roman"/>
                        </a:rPr>
                        <a:t>Benzoic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1.996230958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1.967318305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0.028912653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1.996230958</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7989714"/>
                  </a:ext>
                </a:extLst>
              </a:tr>
              <a:tr h="260341">
                <a:tc>
                  <a:txBody>
                    <a:bodyPr/>
                    <a:lstStyle/>
                    <a:p>
                      <a:pPr algn="ctr" fontAlgn="ctr"/>
                      <a:r>
                        <a:rPr lang="en-US" sz="1200" b="1" u="none" strike="noStrike">
                          <a:solidFill>
                            <a:srgbClr val="000000"/>
                          </a:solidFill>
                          <a:effectLst/>
                          <a:latin typeface="Times New Roman"/>
                          <a:cs typeface="Times New Roman"/>
                        </a:rPr>
                        <a:t>Water</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48.45815348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3.84E-15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48.45815344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4.85E+01</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4848644"/>
                  </a:ext>
                </a:extLst>
              </a:tr>
              <a:tr h="260341">
                <a:tc>
                  <a:txBody>
                    <a:bodyPr/>
                    <a:lstStyle/>
                    <a:p>
                      <a:pPr algn="ctr" fontAlgn="ctr"/>
                      <a:r>
                        <a:rPr lang="en-US" sz="1200" b="1" u="none" strike="noStrike">
                          <a:solidFill>
                            <a:srgbClr val="000000"/>
                          </a:solidFill>
                          <a:effectLst/>
                          <a:latin typeface="Times New Roman"/>
                          <a:cs typeface="Times New Roman"/>
                        </a:rPr>
                        <a:t>Methanol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0.017089908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9.13E-18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0.017089908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1.71E-02</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422929"/>
                  </a:ext>
                </a:extLst>
              </a:tr>
              <a:tr h="260341">
                <a:tc>
                  <a:txBody>
                    <a:bodyPr/>
                    <a:lstStyle/>
                    <a:p>
                      <a:pPr algn="ctr" fontAlgn="ctr"/>
                      <a:r>
                        <a:rPr lang="en-US" sz="1200" b="1" u="none" strike="noStrike">
                          <a:solidFill>
                            <a:srgbClr val="000000"/>
                          </a:solidFill>
                          <a:effectLst/>
                          <a:latin typeface="Times New Roman"/>
                          <a:cs typeface="Times New Roman"/>
                        </a:rPr>
                        <a:t>Phthalic Acid</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166.13324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166.13324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1.48E-12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0" i="0" u="none" strike="noStrike">
                          <a:solidFill>
                            <a:srgbClr val="000000"/>
                          </a:solidFill>
                          <a:effectLst/>
                          <a:latin typeface="Times New Roman"/>
                        </a:rPr>
                        <a:t>1.66E+02</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1008450"/>
                  </a:ext>
                </a:extLst>
              </a:tr>
              <a:tr h="272738">
                <a:tc>
                  <a:txBody>
                    <a:bodyPr/>
                    <a:lstStyle/>
                    <a:p>
                      <a:pPr algn="ctr" fontAlgn="ctr"/>
                      <a:r>
                        <a:rPr lang="en-US" sz="1200" b="1" u="none" strike="noStrike">
                          <a:solidFill>
                            <a:srgbClr val="000000"/>
                          </a:solidFill>
                          <a:effectLst/>
                          <a:latin typeface="Times New Roman"/>
                          <a:cs typeface="Times New Roman"/>
                        </a:rPr>
                        <a:t>TOTAL</a:t>
                      </a:r>
                      <a:endParaRPr lang="en-US" sz="1200" b="1" i="0" u="none" strike="noStrike">
                        <a:solidFill>
                          <a:srgbClr val="000000"/>
                        </a:solidFill>
                        <a:effectLst/>
                        <a:latin typeface="Times New Roman"/>
                        <a:cs typeface="Times New Roman"/>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a:solidFill>
                            <a:srgbClr val="0000FF"/>
                          </a:solidFill>
                          <a:effectLst/>
                          <a:latin typeface="Times New Roman"/>
                        </a:rPr>
                        <a:t>36837.41467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0" i="0" u="none" strike="noStrike">
                        <a:solidFill>
                          <a:srgbClr val="000000"/>
                        </a:solidFill>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sz="1200" b="0" i="0" u="none" strike="noStrike">
                        <a:solidFill>
                          <a:srgbClr val="000000"/>
                        </a:solidFill>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200" b="1" i="0" u="none" strike="noStrike">
                          <a:solidFill>
                            <a:srgbClr val="0000FF"/>
                          </a:solidFill>
                          <a:effectLst/>
                          <a:latin typeface="Times New Roman"/>
                        </a:rPr>
                        <a:t>36837.41464</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119555"/>
                  </a:ext>
                </a:extLst>
              </a:tr>
            </a:tbl>
          </a:graphicData>
        </a:graphic>
      </p:graphicFrame>
      <p:sp>
        <p:nvSpPr>
          <p:cNvPr id="16" name="TextBox 15">
            <a:extLst>
              <a:ext uri="{FF2B5EF4-FFF2-40B4-BE49-F238E27FC236}">
                <a16:creationId xmlns:a16="http://schemas.microsoft.com/office/drawing/2014/main" id="{97A81FF2-8F05-4DD4-9572-124A51144A1A}"/>
              </a:ext>
            </a:extLst>
          </p:cNvPr>
          <p:cNvSpPr txBox="1"/>
          <p:nvPr/>
        </p:nvSpPr>
        <p:spPr>
          <a:xfrm>
            <a:off x="162352" y="1132063"/>
            <a:ext cx="7197672" cy="369332"/>
          </a:xfrm>
          <a:prstGeom prst="rect">
            <a:avLst/>
          </a:prstGeom>
          <a:noFill/>
        </p:spPr>
        <p:txBody>
          <a:bodyPr wrap="square">
            <a:spAutoFit/>
          </a:bodyPr>
          <a:lstStyle/>
          <a:p>
            <a:pPr marL="285750" indent="-285750" algn="just">
              <a:buFont typeface="Arial" panose="020B0604020202020204" pitchFamily="34" charset="0"/>
              <a:buChar char="•"/>
            </a:pPr>
            <a:r>
              <a:rPr lang="en-US" sz="1800">
                <a:latin typeface="Times New Roman" panose="02020603050405020304" pitchFamily="18" charset="0"/>
                <a:cs typeface="Times New Roman" panose="02020603050405020304" pitchFamily="18" charset="0"/>
              </a:rPr>
              <a:t>Material and Energy Balance for Columns 3 and 4</a:t>
            </a:r>
          </a:p>
        </p:txBody>
      </p:sp>
      <p:sp>
        <p:nvSpPr>
          <p:cNvPr id="2" name="Slide Number Placeholder 1">
            <a:extLst>
              <a:ext uri="{FF2B5EF4-FFF2-40B4-BE49-F238E27FC236}">
                <a16:creationId xmlns:a16="http://schemas.microsoft.com/office/drawing/2014/main" id="{CCB21CDA-75E7-E351-0BA5-91D068D9C416}"/>
              </a:ext>
            </a:extLst>
          </p:cNvPr>
          <p:cNvSpPr>
            <a:spLocks noGrp="1"/>
          </p:cNvSpPr>
          <p:nvPr>
            <p:ph type="sldNum" sz="quarter" idx="12"/>
          </p:nvPr>
        </p:nvSpPr>
        <p:spPr/>
        <p:txBody>
          <a:bodyPr/>
          <a:lstStyle/>
          <a:p>
            <a:fld id="{330EA680-D336-4FF7-8B7A-9848BB0A1C32}" type="slidenum">
              <a:rPr lang="en-US" smtClean="0"/>
              <a:t>35</a:t>
            </a:fld>
            <a:endParaRPr lang="en-US"/>
          </a:p>
        </p:txBody>
      </p:sp>
      <p:sp>
        <p:nvSpPr>
          <p:cNvPr id="10" name="Rectangle 9">
            <a:extLst>
              <a:ext uri="{FF2B5EF4-FFF2-40B4-BE49-F238E27FC236}">
                <a16:creationId xmlns:a16="http://schemas.microsoft.com/office/drawing/2014/main" id="{470BFF00-8CA2-4CF4-8E46-7773A20A52D6}"/>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Material &amp; Energy Balance</a:t>
            </a:r>
          </a:p>
        </p:txBody>
      </p:sp>
    </p:spTree>
    <p:extLst>
      <p:ext uri="{BB962C8B-B14F-4D97-AF65-F5344CB8AC3E}">
        <p14:creationId xmlns:p14="http://schemas.microsoft.com/office/powerpoint/2010/main" val="16489036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EC62B-1F5F-6010-EC29-56773518B130}"/>
              </a:ext>
            </a:extLst>
          </p:cNvPr>
          <p:cNvSpPr>
            <a:spLocks noGrp="1"/>
          </p:cNvSpPr>
          <p:nvPr>
            <p:ph type="sldNum" sz="quarter" idx="12"/>
          </p:nvPr>
        </p:nvSpPr>
        <p:spPr/>
        <p:txBody>
          <a:bodyPr/>
          <a:lstStyle/>
          <a:p>
            <a:fld id="{330EA680-D336-4FF7-8B7A-9848BB0A1C32}" type="slidenum">
              <a:rPr lang="en-US" smtClean="0"/>
              <a:t>36</a:t>
            </a:fld>
            <a:endParaRPr lang="en-US"/>
          </a:p>
        </p:txBody>
      </p:sp>
      <p:sp>
        <p:nvSpPr>
          <p:cNvPr id="6" name="Rectangle 5">
            <a:extLst>
              <a:ext uri="{FF2B5EF4-FFF2-40B4-BE49-F238E27FC236}">
                <a16:creationId xmlns:a16="http://schemas.microsoft.com/office/drawing/2014/main" id="{48C2CF45-A208-4488-9191-1D8E74EA9D2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Block Diagram at a Glance</a:t>
            </a:r>
          </a:p>
        </p:txBody>
      </p:sp>
      <p:pic>
        <p:nvPicPr>
          <p:cNvPr id="5" name="Picture 4">
            <a:extLst>
              <a:ext uri="{FF2B5EF4-FFF2-40B4-BE49-F238E27FC236}">
                <a16:creationId xmlns:a16="http://schemas.microsoft.com/office/drawing/2014/main" id="{955A84D0-24BB-FAE5-70B2-2E6437234726}"/>
              </a:ext>
            </a:extLst>
          </p:cNvPr>
          <p:cNvPicPr>
            <a:picLocks noChangeAspect="1"/>
          </p:cNvPicPr>
          <p:nvPr/>
        </p:nvPicPr>
        <p:blipFill>
          <a:blip r:embed="rId3"/>
          <a:stretch>
            <a:fillRect/>
          </a:stretch>
        </p:blipFill>
        <p:spPr>
          <a:xfrm>
            <a:off x="0" y="1162502"/>
            <a:ext cx="12192000" cy="4532996"/>
          </a:xfrm>
          <a:prstGeom prst="rect">
            <a:avLst/>
          </a:prstGeom>
        </p:spPr>
      </p:pic>
    </p:spTree>
    <p:extLst>
      <p:ext uri="{BB962C8B-B14F-4D97-AF65-F5344CB8AC3E}">
        <p14:creationId xmlns:p14="http://schemas.microsoft.com/office/powerpoint/2010/main" val="1100368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89ECA48-B24B-F135-5D17-B4E225EAF29E}"/>
              </a:ext>
            </a:extLst>
          </p:cNvPr>
          <p:cNvPicPr>
            <a:picLocks noChangeAspect="1"/>
          </p:cNvPicPr>
          <p:nvPr/>
        </p:nvPicPr>
        <p:blipFill>
          <a:blip r:embed="rId3"/>
          <a:stretch>
            <a:fillRect/>
          </a:stretch>
        </p:blipFill>
        <p:spPr>
          <a:xfrm>
            <a:off x="4152122" y="855807"/>
            <a:ext cx="8039878" cy="5146385"/>
          </a:xfrm>
          <a:prstGeom prst="rect">
            <a:avLst/>
          </a:prstGeom>
        </p:spPr>
      </p:pic>
      <p:sp>
        <p:nvSpPr>
          <p:cNvPr id="2" name="Slide Number Placeholder 1">
            <a:extLst>
              <a:ext uri="{FF2B5EF4-FFF2-40B4-BE49-F238E27FC236}">
                <a16:creationId xmlns:a16="http://schemas.microsoft.com/office/drawing/2014/main" id="{F9303B65-8E9B-6ABD-A561-E0CDFDB5DF89}"/>
              </a:ext>
            </a:extLst>
          </p:cNvPr>
          <p:cNvSpPr>
            <a:spLocks noGrp="1"/>
          </p:cNvSpPr>
          <p:nvPr>
            <p:ph type="sldNum" sz="quarter" idx="12"/>
          </p:nvPr>
        </p:nvSpPr>
        <p:spPr/>
        <p:txBody>
          <a:bodyPr/>
          <a:lstStyle/>
          <a:p>
            <a:fld id="{330EA680-D336-4FF7-8B7A-9848BB0A1C32}" type="slidenum">
              <a:rPr lang="en-US" smtClean="0"/>
              <a:t>37</a:t>
            </a:fld>
            <a:endParaRPr lang="en-US"/>
          </a:p>
        </p:txBody>
      </p:sp>
      <p:sp>
        <p:nvSpPr>
          <p:cNvPr id="6" name="Rectangle 5">
            <a:extLst>
              <a:ext uri="{FF2B5EF4-FFF2-40B4-BE49-F238E27FC236}">
                <a16:creationId xmlns:a16="http://schemas.microsoft.com/office/drawing/2014/main" id="{8A0CBAC6-6D5A-4363-9F58-1535C46140AB}"/>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Cogeneration Unit &amp; Turbines Operating conditions</a:t>
            </a:r>
          </a:p>
        </p:txBody>
      </p:sp>
      <p:sp>
        <p:nvSpPr>
          <p:cNvPr id="3" name="TextBox 2">
            <a:extLst>
              <a:ext uri="{FF2B5EF4-FFF2-40B4-BE49-F238E27FC236}">
                <a16:creationId xmlns:a16="http://schemas.microsoft.com/office/drawing/2014/main" id="{6CBB0A38-8E81-B22D-0E38-7EE103CE174E}"/>
              </a:ext>
            </a:extLst>
          </p:cNvPr>
          <p:cNvSpPr txBox="1"/>
          <p:nvPr/>
        </p:nvSpPr>
        <p:spPr>
          <a:xfrm>
            <a:off x="99306" y="4564290"/>
            <a:ext cx="4250270" cy="923330"/>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Times New Roman"/>
                <a:ea typeface="+mn-ea"/>
                <a:cs typeface="Times New Roman"/>
              </a:rPr>
              <a:t>HX1 Heat Exchanger</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Preheats the incoming </a:t>
            </a:r>
            <a:r>
              <a:rPr lang="en-US">
                <a:solidFill>
                  <a:prstClr val="black"/>
                </a:solidFill>
                <a:latin typeface="Times New Roman"/>
                <a:cs typeface="Times New Roman"/>
              </a:rPr>
              <a:t>R</a:t>
            </a:r>
            <a:r>
              <a:rPr kumimoji="0" lang="en-US" sz="1800" b="0" i="0" u="none" strike="noStrike" kern="1200" cap="none" spc="0" normalizeH="0" baseline="0" noProof="0" err="1">
                <a:ln>
                  <a:noFill/>
                </a:ln>
                <a:solidFill>
                  <a:prstClr val="black"/>
                </a:solidFill>
                <a:effectLst/>
                <a:uLnTx/>
                <a:uFillTx/>
                <a:latin typeface="Times New Roman"/>
                <a:ea typeface="+mn-ea"/>
                <a:cs typeface="Times New Roman"/>
              </a:rPr>
              <a:t>ankine</a:t>
            </a:r>
            <a:r>
              <a:rPr kumimoji="0" lang="en-US" sz="1800" b="0" i="0" u="none" strike="noStrike" kern="1200" cap="none" spc="0" normalizeH="0" baseline="0" noProof="0">
                <a:ln>
                  <a:noFill/>
                </a:ln>
                <a:solidFill>
                  <a:prstClr val="black"/>
                </a:solidFill>
                <a:effectLst/>
                <a:uLnTx/>
                <a:uFillTx/>
                <a:latin typeface="Times New Roman"/>
                <a:ea typeface="+mn-ea"/>
                <a:cs typeface="Times New Roman"/>
              </a:rPr>
              <a:t> feed using water from C2 bottoms, reducing preheater duty</a:t>
            </a:r>
          </a:p>
        </p:txBody>
      </p:sp>
      <p:sp>
        <p:nvSpPr>
          <p:cNvPr id="5" name="TextBox 4">
            <a:extLst>
              <a:ext uri="{FF2B5EF4-FFF2-40B4-BE49-F238E27FC236}">
                <a16:creationId xmlns:a16="http://schemas.microsoft.com/office/drawing/2014/main" id="{79C671F4-98B6-0126-DA34-33BE06DEC976}"/>
              </a:ext>
            </a:extLst>
          </p:cNvPr>
          <p:cNvSpPr txBox="1"/>
          <p:nvPr/>
        </p:nvSpPr>
        <p:spPr>
          <a:xfrm>
            <a:off x="3048000" y="2006600"/>
            <a:ext cx="436880" cy="184666"/>
          </a:xfrm>
          <a:prstGeom prst="rect">
            <a:avLst/>
          </a:prstGeom>
          <a:solidFill>
            <a:schemeClr val="bg1"/>
          </a:solidFill>
        </p:spPr>
        <p:txBody>
          <a:bodyPr wrap="square" rtlCol="0">
            <a:spAutoFit/>
          </a:bodyPr>
          <a:lstStyle/>
          <a:p>
            <a:r>
              <a:rPr lang="en-US" sz="600"/>
              <a:t>HX1</a:t>
            </a:r>
          </a:p>
        </p:txBody>
      </p:sp>
      <p:sp>
        <p:nvSpPr>
          <p:cNvPr id="11" name="TextBox 10">
            <a:extLst>
              <a:ext uri="{FF2B5EF4-FFF2-40B4-BE49-F238E27FC236}">
                <a16:creationId xmlns:a16="http://schemas.microsoft.com/office/drawing/2014/main" id="{A9F1E322-137E-332D-3DFF-5998072DA026}"/>
              </a:ext>
            </a:extLst>
          </p:cNvPr>
          <p:cNvSpPr txBox="1"/>
          <p:nvPr/>
        </p:nvSpPr>
        <p:spPr>
          <a:xfrm>
            <a:off x="8537447" y="1701608"/>
            <a:ext cx="1114325" cy="369332"/>
          </a:xfrm>
          <a:prstGeom prst="rect">
            <a:avLst/>
          </a:prstGeom>
          <a:noFill/>
        </p:spPr>
        <p:txBody>
          <a:bodyPr wrap="square" rtlCol="0">
            <a:spAutoFit/>
          </a:bodyPr>
          <a:lstStyle/>
          <a:p>
            <a:r>
              <a:rPr lang="en-US">
                <a:solidFill>
                  <a:srgbClr val="FF0000"/>
                </a:solidFill>
                <a:latin typeface="Times New Roman" panose="02020603050405020304" pitchFamily="18" charset="0"/>
                <a:cs typeface="Times New Roman" panose="02020603050405020304" pitchFamily="18" charset="0"/>
              </a:rPr>
              <a:t>40 bar</a:t>
            </a:r>
            <a:endParaRPr lang="en-IN">
              <a:solidFill>
                <a:srgbClr val="FF0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891C610-A152-3700-7CBB-A87CE715E82A}"/>
              </a:ext>
            </a:extLst>
          </p:cNvPr>
          <p:cNvSpPr txBox="1"/>
          <p:nvPr/>
        </p:nvSpPr>
        <p:spPr>
          <a:xfrm flipH="1">
            <a:off x="9175852" y="4379623"/>
            <a:ext cx="1114326" cy="369333"/>
          </a:xfrm>
          <a:prstGeom prst="rect">
            <a:avLst/>
          </a:prstGeom>
          <a:noFill/>
        </p:spPr>
        <p:txBody>
          <a:bodyPr wrap="square" rtlCol="0">
            <a:spAutoFit/>
          </a:bodyPr>
          <a:lstStyle/>
          <a:p>
            <a:r>
              <a:rPr lang="en-US">
                <a:solidFill>
                  <a:srgbClr val="FF0000"/>
                </a:solidFill>
                <a:latin typeface="Times New Roman" panose="02020603050405020304" pitchFamily="18" charset="0"/>
                <a:cs typeface="Times New Roman" panose="02020603050405020304" pitchFamily="18" charset="0"/>
              </a:rPr>
              <a:t>10 bar</a:t>
            </a:r>
            <a:endParaRPr lang="en-IN">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7A8D109-FB15-C89C-B72C-B0F03E858FBD}"/>
              </a:ext>
            </a:extLst>
          </p:cNvPr>
          <p:cNvSpPr txBox="1"/>
          <p:nvPr/>
        </p:nvSpPr>
        <p:spPr>
          <a:xfrm>
            <a:off x="4349576" y="3734946"/>
            <a:ext cx="1024089" cy="369332"/>
          </a:xfrm>
          <a:prstGeom prst="rect">
            <a:avLst/>
          </a:prstGeom>
          <a:noFill/>
        </p:spPr>
        <p:txBody>
          <a:bodyPr wrap="square" rtlCol="0">
            <a:spAutoFit/>
          </a:bodyPr>
          <a:lstStyle/>
          <a:p>
            <a:r>
              <a:rPr lang="en-US">
                <a:solidFill>
                  <a:srgbClr val="FF0000"/>
                </a:solidFill>
                <a:latin typeface="Times New Roman" panose="02020603050405020304" pitchFamily="18" charset="0"/>
                <a:cs typeface="Times New Roman" panose="02020603050405020304" pitchFamily="18" charset="0"/>
              </a:rPr>
              <a:t>1 bar</a:t>
            </a:r>
            <a:endParaRPr lang="en-IN">
              <a:solidFill>
                <a:srgbClr val="FF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37A237C-E8EE-AF77-DA28-75019B96A84E}"/>
              </a:ext>
            </a:extLst>
          </p:cNvPr>
          <p:cNvSpPr txBox="1"/>
          <p:nvPr/>
        </p:nvSpPr>
        <p:spPr>
          <a:xfrm>
            <a:off x="6891320" y="3550280"/>
            <a:ext cx="1114325" cy="369332"/>
          </a:xfrm>
          <a:prstGeom prst="rect">
            <a:avLst/>
          </a:prstGeom>
          <a:noFill/>
        </p:spPr>
        <p:txBody>
          <a:bodyPr wrap="square" rtlCol="0">
            <a:spAutoFit/>
          </a:bodyPr>
          <a:lstStyle/>
          <a:p>
            <a:r>
              <a:rPr lang="en-US">
                <a:solidFill>
                  <a:srgbClr val="FF0000"/>
                </a:solidFill>
                <a:latin typeface="Times New Roman" panose="02020603050405020304" pitchFamily="18" charset="0"/>
                <a:cs typeface="Times New Roman" panose="02020603050405020304" pitchFamily="18" charset="0"/>
              </a:rPr>
              <a:t>3 bar</a:t>
            </a:r>
            <a:endParaRPr lang="en-IN">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451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C47C-5B92-5BB2-473C-D76EE95D4D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613940-B3E7-2CE8-2081-CBE4055ECE51}"/>
              </a:ext>
            </a:extLst>
          </p:cNvPr>
          <p:cNvPicPr>
            <a:picLocks noChangeAspect="1"/>
          </p:cNvPicPr>
          <p:nvPr/>
        </p:nvPicPr>
        <p:blipFill>
          <a:blip r:embed="rId3"/>
          <a:stretch>
            <a:fillRect/>
          </a:stretch>
        </p:blipFill>
        <p:spPr>
          <a:xfrm>
            <a:off x="337656" y="1147699"/>
            <a:ext cx="7388235" cy="5462651"/>
          </a:xfrm>
          <a:prstGeom prst="rect">
            <a:avLst/>
          </a:prstGeom>
        </p:spPr>
      </p:pic>
      <p:graphicFrame>
        <p:nvGraphicFramePr>
          <p:cNvPr id="3" name="Table 2">
            <a:extLst>
              <a:ext uri="{FF2B5EF4-FFF2-40B4-BE49-F238E27FC236}">
                <a16:creationId xmlns:a16="http://schemas.microsoft.com/office/drawing/2014/main" id="{BC516EEB-D966-B4F5-E282-B09AA670F2AA}"/>
              </a:ext>
            </a:extLst>
          </p:cNvPr>
          <p:cNvGraphicFramePr>
            <a:graphicFrameLocks noGrp="1"/>
          </p:cNvGraphicFramePr>
          <p:nvPr>
            <p:extLst>
              <p:ext uri="{D42A27DB-BD31-4B8C-83A1-F6EECF244321}">
                <p14:modId xmlns:p14="http://schemas.microsoft.com/office/powerpoint/2010/main" val="2693515012"/>
              </p:ext>
            </p:extLst>
          </p:nvPr>
        </p:nvGraphicFramePr>
        <p:xfrm>
          <a:off x="4938928" y="3439281"/>
          <a:ext cx="7054686" cy="1828800"/>
        </p:xfrm>
        <a:graphic>
          <a:graphicData uri="http://schemas.openxmlformats.org/drawingml/2006/table">
            <a:tbl>
              <a:tblPr bandRow="1">
                <a:tableStyleId>{5C22544A-7EE6-4342-B048-85BDC9FD1C3A}</a:tableStyleId>
              </a:tblPr>
              <a:tblGrid>
                <a:gridCol w="1175781">
                  <a:extLst>
                    <a:ext uri="{9D8B030D-6E8A-4147-A177-3AD203B41FA5}">
                      <a16:colId xmlns:a16="http://schemas.microsoft.com/office/drawing/2014/main" val="1422432030"/>
                    </a:ext>
                  </a:extLst>
                </a:gridCol>
                <a:gridCol w="1175781">
                  <a:extLst>
                    <a:ext uri="{9D8B030D-6E8A-4147-A177-3AD203B41FA5}">
                      <a16:colId xmlns:a16="http://schemas.microsoft.com/office/drawing/2014/main" val="628478495"/>
                    </a:ext>
                  </a:extLst>
                </a:gridCol>
                <a:gridCol w="1175781">
                  <a:extLst>
                    <a:ext uri="{9D8B030D-6E8A-4147-A177-3AD203B41FA5}">
                      <a16:colId xmlns:a16="http://schemas.microsoft.com/office/drawing/2014/main" val="2347599792"/>
                    </a:ext>
                  </a:extLst>
                </a:gridCol>
                <a:gridCol w="1175781">
                  <a:extLst>
                    <a:ext uri="{9D8B030D-6E8A-4147-A177-3AD203B41FA5}">
                      <a16:colId xmlns:a16="http://schemas.microsoft.com/office/drawing/2014/main" val="3731019087"/>
                    </a:ext>
                  </a:extLst>
                </a:gridCol>
                <a:gridCol w="1175781">
                  <a:extLst>
                    <a:ext uri="{9D8B030D-6E8A-4147-A177-3AD203B41FA5}">
                      <a16:colId xmlns:a16="http://schemas.microsoft.com/office/drawing/2014/main" val="4039008802"/>
                    </a:ext>
                  </a:extLst>
                </a:gridCol>
                <a:gridCol w="1175781">
                  <a:extLst>
                    <a:ext uri="{9D8B030D-6E8A-4147-A177-3AD203B41FA5}">
                      <a16:colId xmlns:a16="http://schemas.microsoft.com/office/drawing/2014/main" val="2509956495"/>
                    </a:ext>
                  </a:extLst>
                </a:gridCol>
              </a:tblGrid>
              <a:tr h="304800">
                <a:tc>
                  <a:txBody>
                    <a:bodyPr/>
                    <a:lstStyle/>
                    <a:p>
                      <a:pPr algn="ctr" fontAlgn="base">
                        <a:lnSpc>
                          <a:spcPts val="1425"/>
                        </a:lnSpc>
                        <a:buNone/>
                      </a:pPr>
                      <a:r>
                        <a:rPr lang="en-US" sz="1200" b="1">
                          <a:solidFill>
                            <a:srgbClr val="FFFFFF"/>
                          </a:solidFill>
                          <a:effectLst/>
                          <a:latin typeface="Times New Roman"/>
                          <a:cs typeface="Times New Roman"/>
                        </a:rPr>
                        <a:t>CW Req</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200" b="1">
                          <a:solidFill>
                            <a:srgbClr val="FFFFFF"/>
                          </a:solidFill>
                          <a:effectLst/>
                          <a:latin typeface="Times New Roman"/>
                          <a:cs typeface="Times New Roman"/>
                        </a:rPr>
                        <a:t>Energy</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HPS Req</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Energy</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LPS Req</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Energy</a:t>
                      </a:r>
                    </a:p>
                  </a:txBody>
                  <a:tcPr anchor="ctr">
                    <a:lnL w="11906">
                      <a:solidFill>
                        <a:srgbClr val="FFFFFF"/>
                      </a:solidFill>
                    </a:lnL>
                    <a:lnR w="11906">
                      <a:solidFill>
                        <a:srgbClr val="FFFFFF"/>
                      </a:solidFill>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304800">
                <a:tc>
                  <a:txBody>
                    <a:bodyPr/>
                    <a:lstStyle/>
                    <a:p>
                      <a:pPr algn="ctr" fontAlgn="base">
                        <a:lnSpc>
                          <a:spcPts val="1425"/>
                        </a:lnSpc>
                        <a:buNone/>
                      </a:pPr>
                      <a:r>
                        <a:rPr lang="en-US" sz="1200">
                          <a:effectLst/>
                          <a:latin typeface="Times New Roman"/>
                          <a:cs typeface="Times New Roman"/>
                        </a:rPr>
                        <a:t>C1 Condenser</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200">
                          <a:effectLst/>
                          <a:latin typeface="Times New Roman"/>
                          <a:cs typeface="Times New Roman"/>
                        </a:rPr>
                        <a:t>120098. kW</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C1 Reboiler</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120791 </a:t>
                      </a:r>
                      <a:r>
                        <a:rPr lang="en-US" sz="1200" b="0" i="0" u="none" strike="noStrike" noProof="0">
                          <a:solidFill>
                            <a:srgbClr val="000000"/>
                          </a:solidFill>
                          <a:effectLst/>
                          <a:latin typeface="Times New Roman"/>
                          <a:cs typeface="Times New Roman"/>
                        </a:rPr>
                        <a:t>kW</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a:solidFill>
                        <a:srgbClr val="FFFFFF"/>
                      </a:solidFill>
                    </a:lnR>
                    <a:lnT w="35738">
                      <a:solidFill>
                        <a:srgbClr val="FFFFFF"/>
                      </a:solidFill>
                    </a:lnT>
                    <a:lnB w="11906">
                      <a:solidFill>
                        <a:srgbClr val="FFFFFF"/>
                      </a:solidFill>
                    </a:lnB>
                    <a:solidFill>
                      <a:srgbClr val="CCD2D8"/>
                    </a:solidFill>
                  </a:tcPr>
                </a:tc>
                <a:extLst>
                  <a:ext uri="{0D108BD9-81ED-4DB2-BD59-A6C34878D82A}">
                    <a16:rowId xmlns:a16="http://schemas.microsoft.com/office/drawing/2014/main" val="172329172"/>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C2 Condenser</a:t>
                      </a:r>
                      <a:endParaRPr lang="en-US" err="1">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IN" sz="1200">
                          <a:effectLst/>
                          <a:latin typeface="Times New Roman"/>
                          <a:cs typeface="Times New Roman"/>
                        </a:rPr>
                        <a:t>202084. kW</a:t>
                      </a:r>
                      <a:endParaRPr lang="en-IN">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endParaRPr lang="en-US" sz="1200" b="0" i="0" u="none" strike="noStrike" noProof="0">
                        <a:solidFill>
                          <a:srgbClr val="000000"/>
                        </a:solidFill>
                        <a:effectLst/>
                        <a:latin typeface="Times New Roman" panose="02020603050405020304" pitchFamily="18" charset="0"/>
                        <a:cs typeface="Times New Roman" panose="02020603050405020304" pitchFamily="18" charset="0"/>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endParaRPr lang="en-IN"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tc>
                  <a:txBody>
                    <a:bodyPr/>
                    <a:lstStyle/>
                    <a:p>
                      <a:pPr lvl="0" algn="ctr">
                        <a:lnSpc>
                          <a:spcPts val="1425"/>
                        </a:lnSpc>
                        <a:buNone/>
                      </a:pPr>
                      <a:r>
                        <a:rPr lang="en-IN" sz="1200">
                          <a:effectLst/>
                          <a:latin typeface="Times New Roman"/>
                          <a:cs typeface="Times New Roman"/>
                        </a:rPr>
                        <a:t>C2 Reboiler</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tc>
                  <a:txBody>
                    <a:bodyPr/>
                    <a:lstStyle/>
                    <a:p>
                      <a:pPr lvl="0" algn="ctr">
                        <a:lnSpc>
                          <a:spcPts val="1425"/>
                        </a:lnSpc>
                        <a:buNone/>
                      </a:pPr>
                      <a:r>
                        <a:rPr lang="en-US" sz="1200">
                          <a:effectLst/>
                          <a:latin typeface="Times New Roman"/>
                          <a:cs typeface="Times New Roman"/>
                        </a:rPr>
                        <a:t>202132</a:t>
                      </a:r>
                      <a:r>
                        <a:rPr lang="en-IN" sz="1200">
                          <a:effectLst/>
                          <a:latin typeface="Times New Roman"/>
                          <a:cs typeface="Times New Roman"/>
                        </a:rPr>
                        <a:t>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CCD2D8"/>
                    </a:solidFill>
                  </a:tcPr>
                </a:tc>
                <a:extLst>
                  <a:ext uri="{0D108BD9-81ED-4DB2-BD59-A6C34878D82A}">
                    <a16:rowId xmlns:a16="http://schemas.microsoft.com/office/drawing/2014/main" val="2913045058"/>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C3 Condenser</a:t>
                      </a:r>
                      <a:endParaRPr lang="en-US" err="1">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algn="ctr" fontAlgn="base">
                        <a:lnSpc>
                          <a:spcPts val="1425"/>
                        </a:lnSpc>
                        <a:buNone/>
                      </a:pPr>
                      <a:r>
                        <a:rPr lang="en-US" sz="1200">
                          <a:effectLst/>
                          <a:latin typeface="Times New Roman"/>
                          <a:cs typeface="Times New Roman"/>
                        </a:rPr>
                        <a:t>4341 KW </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C3 Reboiler</a:t>
                      </a:r>
                      <a:endParaRPr lang="en-US">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4291 </a:t>
                      </a:r>
                      <a:r>
                        <a:rPr lang="en-US" sz="1200" b="0" i="0" u="none" strike="noStrike" noProof="0">
                          <a:solidFill>
                            <a:srgbClr val="000000"/>
                          </a:solidFill>
                          <a:effectLst/>
                          <a:latin typeface="Times New Roman"/>
                          <a:cs typeface="Times New Roman"/>
                        </a:rPr>
                        <a:t>kW</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extLst>
                  <a:ext uri="{0D108BD9-81ED-4DB2-BD59-A6C34878D82A}">
                    <a16:rowId xmlns:a16="http://schemas.microsoft.com/office/drawing/2014/main" val="984635660"/>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C4 Condenser</a:t>
                      </a:r>
                      <a:endParaRPr lang="en-US" err="1">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algn="ctr" fontAlgn="base">
                        <a:lnSpc>
                          <a:spcPts val="1425"/>
                        </a:lnSpc>
                        <a:buNone/>
                      </a:pPr>
                      <a:r>
                        <a:rPr lang="en-US" sz="1200">
                          <a:effectLst/>
                          <a:latin typeface="Times New Roman"/>
                          <a:cs typeface="Times New Roman"/>
                        </a:rPr>
                        <a:t>999 kW</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C4 </a:t>
                      </a:r>
                      <a:r>
                        <a:rPr lang="en-US" sz="1200" b="0" i="0" u="none" strike="noStrike" noProof="0">
                          <a:solidFill>
                            <a:srgbClr val="000000"/>
                          </a:solidFill>
                          <a:effectLst/>
                          <a:latin typeface="Times New Roman"/>
                          <a:cs typeface="Times New Roman"/>
                        </a:rPr>
                        <a:t>Reboiler</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1000 </a:t>
                      </a:r>
                      <a:r>
                        <a:rPr lang="en-US" sz="1200" b="0" i="0" u="none" strike="noStrike" noProof="0">
                          <a:solidFill>
                            <a:srgbClr val="000000"/>
                          </a:solidFill>
                          <a:effectLst/>
                          <a:latin typeface="Times New Roman"/>
                          <a:cs typeface="Times New Roman"/>
                        </a:rPr>
                        <a:t>kW</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a:solidFill>
                        <a:srgbClr val="FFFFFF"/>
                      </a:solidFill>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980677396"/>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Net</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327522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Net</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126082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Net</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202132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extLst>
                  <a:ext uri="{0D108BD9-81ED-4DB2-BD59-A6C34878D82A}">
                    <a16:rowId xmlns:a16="http://schemas.microsoft.com/office/drawing/2014/main" val="4188739953"/>
                  </a:ext>
                </a:extLst>
              </a:tr>
            </a:tbl>
          </a:graphicData>
        </a:graphic>
      </p:graphicFrame>
      <p:graphicFrame>
        <p:nvGraphicFramePr>
          <p:cNvPr id="8" name="Table 7">
            <a:extLst>
              <a:ext uri="{FF2B5EF4-FFF2-40B4-BE49-F238E27FC236}">
                <a16:creationId xmlns:a16="http://schemas.microsoft.com/office/drawing/2014/main" id="{822FFC02-6D4F-22CB-27A1-7BDCF2653256}"/>
              </a:ext>
            </a:extLst>
          </p:cNvPr>
          <p:cNvGraphicFramePr>
            <a:graphicFrameLocks noGrp="1"/>
          </p:cNvGraphicFramePr>
          <p:nvPr>
            <p:extLst>
              <p:ext uri="{D42A27DB-BD31-4B8C-83A1-F6EECF244321}">
                <p14:modId xmlns:p14="http://schemas.microsoft.com/office/powerpoint/2010/main" val="939776861"/>
              </p:ext>
            </p:extLst>
          </p:nvPr>
        </p:nvGraphicFramePr>
        <p:xfrm>
          <a:off x="5925479" y="1233418"/>
          <a:ext cx="6068135" cy="1676400"/>
        </p:xfrm>
        <a:graphic>
          <a:graphicData uri="http://schemas.openxmlformats.org/drawingml/2006/table">
            <a:tbl>
              <a:tblPr bandRow="1">
                <a:tableStyleId>{5C22544A-7EE6-4342-B048-85BDC9FD1C3A}</a:tableStyleId>
              </a:tblPr>
              <a:tblGrid>
                <a:gridCol w="1213627">
                  <a:extLst>
                    <a:ext uri="{9D8B030D-6E8A-4147-A177-3AD203B41FA5}">
                      <a16:colId xmlns:a16="http://schemas.microsoft.com/office/drawing/2014/main" val="1422432030"/>
                    </a:ext>
                  </a:extLst>
                </a:gridCol>
                <a:gridCol w="1213627">
                  <a:extLst>
                    <a:ext uri="{9D8B030D-6E8A-4147-A177-3AD203B41FA5}">
                      <a16:colId xmlns:a16="http://schemas.microsoft.com/office/drawing/2014/main" val="628478495"/>
                    </a:ext>
                  </a:extLst>
                </a:gridCol>
                <a:gridCol w="1213627">
                  <a:extLst>
                    <a:ext uri="{9D8B030D-6E8A-4147-A177-3AD203B41FA5}">
                      <a16:colId xmlns:a16="http://schemas.microsoft.com/office/drawing/2014/main" val="2347599792"/>
                    </a:ext>
                  </a:extLst>
                </a:gridCol>
                <a:gridCol w="1213627">
                  <a:extLst>
                    <a:ext uri="{9D8B030D-6E8A-4147-A177-3AD203B41FA5}">
                      <a16:colId xmlns:a16="http://schemas.microsoft.com/office/drawing/2014/main" val="3731019087"/>
                    </a:ext>
                  </a:extLst>
                </a:gridCol>
                <a:gridCol w="1213627">
                  <a:extLst>
                    <a:ext uri="{9D8B030D-6E8A-4147-A177-3AD203B41FA5}">
                      <a16:colId xmlns:a16="http://schemas.microsoft.com/office/drawing/2014/main" val="4039008802"/>
                    </a:ext>
                  </a:extLst>
                </a:gridCol>
              </a:tblGrid>
              <a:tr h="304800">
                <a:tc>
                  <a:txBody>
                    <a:bodyPr/>
                    <a:lstStyle/>
                    <a:p>
                      <a:pPr algn="ctr" fontAlgn="base">
                        <a:lnSpc>
                          <a:spcPts val="1425"/>
                        </a:lnSpc>
                        <a:buNone/>
                      </a:pPr>
                      <a:r>
                        <a:rPr lang="en-US" sz="1200" b="1">
                          <a:solidFill>
                            <a:srgbClr val="FFFFFF"/>
                          </a:solidFill>
                          <a:effectLst/>
                          <a:latin typeface="Times New Roman"/>
                          <a:cs typeface="Times New Roman"/>
                        </a:rPr>
                        <a:t>Column</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200" b="1">
                          <a:solidFill>
                            <a:srgbClr val="FFFFFF"/>
                          </a:solidFill>
                          <a:effectLst/>
                          <a:latin typeface="Times New Roman"/>
                          <a:cs typeface="Times New Roman"/>
                        </a:rPr>
                        <a:t>Condensor Pressure </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Condensor Temperature </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ct val="100000"/>
                        </a:lnSpc>
                        <a:spcBef>
                          <a:spcPts val="0"/>
                        </a:spcBef>
                        <a:spcAft>
                          <a:spcPts val="0"/>
                        </a:spcAft>
                        <a:buNone/>
                      </a:pPr>
                      <a:r>
                        <a:rPr lang="en-US" sz="1200" b="1" i="0" u="none" strike="noStrike" noProof="0">
                          <a:solidFill>
                            <a:srgbClr val="FFFFFF"/>
                          </a:solidFill>
                          <a:effectLst/>
                          <a:latin typeface="Times New Roman"/>
                          <a:cs typeface="Times New Roman"/>
                        </a:rPr>
                        <a:t>Reboiler</a:t>
                      </a:r>
                      <a:endParaRPr lang="en-US" sz="1200" b="0" i="0" u="none" strike="noStrike" noProof="0">
                        <a:solidFill>
                          <a:srgbClr val="000000"/>
                        </a:solidFill>
                        <a:effectLst/>
                        <a:latin typeface="Times New Roman"/>
                        <a:cs typeface="Times New Roman"/>
                      </a:endParaRPr>
                    </a:p>
                    <a:p>
                      <a:pPr lvl="0" algn="ctr">
                        <a:lnSpc>
                          <a:spcPct val="100000"/>
                        </a:lnSpc>
                        <a:spcBef>
                          <a:spcPts val="0"/>
                        </a:spcBef>
                        <a:spcAft>
                          <a:spcPts val="0"/>
                        </a:spcAft>
                        <a:buNone/>
                      </a:pPr>
                      <a:r>
                        <a:rPr lang="en-US" sz="1200" b="1" i="0" u="none" strike="noStrike" noProof="0">
                          <a:solidFill>
                            <a:srgbClr val="FFFFFF"/>
                          </a:solidFill>
                          <a:effectLst/>
                          <a:latin typeface="Times New Roman"/>
                          <a:cs typeface="Times New Roman"/>
                        </a:rPr>
                        <a:t>Pressure</a:t>
                      </a:r>
                      <a:endParaRPr lang="en-US" sz="1200" b="0" i="0" u="none" strike="noStrike" noProof="0">
                        <a:solidFill>
                          <a:srgbClr val="000000"/>
                        </a:solidFill>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ct val="100000"/>
                        </a:lnSpc>
                        <a:spcBef>
                          <a:spcPts val="0"/>
                        </a:spcBef>
                        <a:spcAft>
                          <a:spcPts val="0"/>
                        </a:spcAft>
                        <a:buNone/>
                      </a:pPr>
                      <a:r>
                        <a:rPr lang="en-US" sz="1200" b="1" i="0" u="none" strike="noStrike" noProof="0">
                          <a:solidFill>
                            <a:srgbClr val="FFFFFF"/>
                          </a:solidFill>
                          <a:effectLst/>
                          <a:latin typeface="Times New Roman"/>
                          <a:cs typeface="Times New Roman"/>
                        </a:rPr>
                        <a:t>Reboiler Temperature</a:t>
                      </a:r>
                      <a:endParaRPr lang="en-US" sz="1200" b="0" i="0" u="none" strike="noStrike" noProof="0">
                        <a:solidFill>
                          <a:srgbClr val="000000"/>
                        </a:solidFill>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304800">
                <a:tc>
                  <a:txBody>
                    <a:bodyPr/>
                    <a:lstStyle/>
                    <a:p>
                      <a:pPr algn="ctr" fontAlgn="base">
                        <a:lnSpc>
                          <a:spcPts val="1425"/>
                        </a:lnSpc>
                        <a:buNone/>
                      </a:pPr>
                      <a:r>
                        <a:rPr lang="en-US" sz="1200">
                          <a:effectLst/>
                          <a:latin typeface="Times New Roman"/>
                          <a:cs typeface="Times New Roman"/>
                        </a:rPr>
                        <a:t>C1</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200">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66.6  °C</a:t>
                      </a:r>
                      <a:endParaRPr lang="en-US">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1.2 bar</a:t>
                      </a:r>
                      <a:endParaRPr lang="en-US" sz="1200" b="0" i="0" u="none" strike="noStrike" noProof="0">
                        <a:solidFill>
                          <a:srgbClr val="000000"/>
                        </a:solidFill>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198.1  °C</a:t>
                      </a: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extLst>
                  <a:ext uri="{0D108BD9-81ED-4DB2-BD59-A6C34878D82A}">
                    <a16:rowId xmlns:a16="http://schemas.microsoft.com/office/drawing/2014/main" val="172329172"/>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C2</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64.2  °C</a:t>
                      </a:r>
                      <a:endParaRPr lang="en-US">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 bar</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104.4  °C</a:t>
                      </a:r>
                      <a:endParaRPr lang="en-IN"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extLst>
                  <a:ext uri="{0D108BD9-81ED-4DB2-BD59-A6C34878D82A}">
                    <a16:rowId xmlns:a16="http://schemas.microsoft.com/office/drawing/2014/main" val="2913045058"/>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C3 </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kern="1200" noProof="0">
                          <a:solidFill>
                            <a:srgbClr val="000000"/>
                          </a:solidFill>
                          <a:effectLst/>
                          <a:latin typeface="Times New Roman"/>
                          <a:ea typeface="+mn-ea"/>
                          <a:cs typeface="Times New Roman"/>
                        </a:rPr>
                        <a:t>190.8  °C</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 bar</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247.1  °C</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extLst>
                  <a:ext uri="{0D108BD9-81ED-4DB2-BD59-A6C34878D82A}">
                    <a16:rowId xmlns:a16="http://schemas.microsoft.com/office/drawing/2014/main" val="984635660"/>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C4 </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ct val="100000"/>
                        </a:lnSpc>
                        <a:spcBef>
                          <a:spcPts val="0"/>
                        </a:spcBef>
                        <a:spcAft>
                          <a:spcPts val="0"/>
                        </a:spcAft>
                        <a:buNone/>
                      </a:pPr>
                      <a:r>
                        <a:rPr lang="en-US" sz="1200" b="0" i="0" u="none" strike="noStrike" noProof="0">
                          <a:solidFill>
                            <a:srgbClr val="000000"/>
                          </a:solidFill>
                          <a:effectLst/>
                          <a:latin typeface="Times New Roman"/>
                          <a:cs typeface="Times New Roman"/>
                        </a:rPr>
                        <a:t>1 bar</a:t>
                      </a: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200.11  °C</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 bar</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331.45  °C</a:t>
                      </a:r>
                      <a:endParaRPr lang="en-US">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980677396"/>
                  </a:ext>
                </a:extLst>
              </a:tr>
            </a:tbl>
          </a:graphicData>
        </a:graphic>
      </p:graphicFrame>
      <p:sp>
        <p:nvSpPr>
          <p:cNvPr id="2" name="Slide Number Placeholder 1">
            <a:extLst>
              <a:ext uri="{FF2B5EF4-FFF2-40B4-BE49-F238E27FC236}">
                <a16:creationId xmlns:a16="http://schemas.microsoft.com/office/drawing/2014/main" id="{36BF1B91-ACDC-C0E5-23CB-4A9D8D891860}"/>
              </a:ext>
            </a:extLst>
          </p:cNvPr>
          <p:cNvSpPr>
            <a:spLocks noGrp="1"/>
          </p:cNvSpPr>
          <p:nvPr>
            <p:ph type="sldNum" sz="quarter" idx="12"/>
          </p:nvPr>
        </p:nvSpPr>
        <p:spPr/>
        <p:txBody>
          <a:bodyPr/>
          <a:lstStyle/>
          <a:p>
            <a:fld id="{330EA680-D336-4FF7-8B7A-9848BB0A1C32}" type="slidenum">
              <a:rPr lang="en-US" smtClean="0"/>
              <a:t>38</a:t>
            </a:fld>
            <a:endParaRPr lang="en-US"/>
          </a:p>
        </p:txBody>
      </p:sp>
      <p:sp>
        <p:nvSpPr>
          <p:cNvPr id="10" name="Rectangle 9">
            <a:extLst>
              <a:ext uri="{FF2B5EF4-FFF2-40B4-BE49-F238E27FC236}">
                <a16:creationId xmlns:a16="http://schemas.microsoft.com/office/drawing/2014/main" id="{11BA2C01-CE56-4FEF-A4BF-B58E661683E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Distillation Column Energy Requirements</a:t>
            </a:r>
          </a:p>
        </p:txBody>
      </p:sp>
    </p:spTree>
    <p:extLst>
      <p:ext uri="{BB962C8B-B14F-4D97-AF65-F5344CB8AC3E}">
        <p14:creationId xmlns:p14="http://schemas.microsoft.com/office/powerpoint/2010/main" val="116523864"/>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562707-A3A9-20CA-E2C8-75936B67A351}"/>
              </a:ext>
            </a:extLst>
          </p:cNvPr>
          <p:cNvSpPr txBox="1"/>
          <p:nvPr/>
        </p:nvSpPr>
        <p:spPr>
          <a:xfrm>
            <a:off x="6133237" y="3587120"/>
            <a:ext cx="5004620" cy="2688548"/>
          </a:xfrm>
          <a:prstGeom prst="rect">
            <a:avLst/>
          </a:prstGeom>
          <a:noFill/>
          <a:ln w="38100">
            <a:solidFill>
              <a:schemeClr val="accent2"/>
            </a:solidFill>
            <a:prstDash val="dash"/>
          </a:ln>
        </p:spPr>
        <p:txBody>
          <a:bodyPr wrap="square" rtlCol="0">
            <a:spAutoFit/>
          </a:bodyPr>
          <a:lstStyle/>
          <a:p>
            <a:endParaRPr lang="en-US"/>
          </a:p>
        </p:txBody>
      </p:sp>
      <p:sp>
        <p:nvSpPr>
          <p:cNvPr id="13" name="TextBox 12">
            <a:extLst>
              <a:ext uri="{FF2B5EF4-FFF2-40B4-BE49-F238E27FC236}">
                <a16:creationId xmlns:a16="http://schemas.microsoft.com/office/drawing/2014/main" id="{F7A9B7AE-C678-8676-2D12-5CDD690095FC}"/>
              </a:ext>
            </a:extLst>
          </p:cNvPr>
          <p:cNvSpPr txBox="1"/>
          <p:nvPr/>
        </p:nvSpPr>
        <p:spPr>
          <a:xfrm>
            <a:off x="954663" y="1432806"/>
            <a:ext cx="225393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panose="02020603050405020304" pitchFamily="18" charset="0"/>
                <a:cs typeface="Times New Roman" panose="02020603050405020304" pitchFamily="18" charset="0"/>
              </a:rPr>
              <a:t>CW Loop Requirement</a:t>
            </a:r>
          </a:p>
        </p:txBody>
      </p:sp>
      <p:graphicFrame>
        <p:nvGraphicFramePr>
          <p:cNvPr id="15" name="Table 14">
            <a:extLst>
              <a:ext uri="{FF2B5EF4-FFF2-40B4-BE49-F238E27FC236}">
                <a16:creationId xmlns:a16="http://schemas.microsoft.com/office/drawing/2014/main" id="{466C1EAC-3351-A0B2-CFED-9E01A97B0B82}"/>
              </a:ext>
            </a:extLst>
          </p:cNvPr>
          <p:cNvGraphicFramePr>
            <a:graphicFrameLocks noGrp="1"/>
          </p:cNvGraphicFramePr>
          <p:nvPr>
            <p:extLst>
              <p:ext uri="{D42A27DB-BD31-4B8C-83A1-F6EECF244321}">
                <p14:modId xmlns:p14="http://schemas.microsoft.com/office/powerpoint/2010/main" val="3616662672"/>
              </p:ext>
            </p:extLst>
          </p:nvPr>
        </p:nvGraphicFramePr>
        <p:xfrm>
          <a:off x="947175" y="3953721"/>
          <a:ext cx="4876853" cy="2133600"/>
        </p:xfrm>
        <a:graphic>
          <a:graphicData uri="http://schemas.openxmlformats.org/drawingml/2006/table">
            <a:tbl>
              <a:tblPr bandRow="1">
                <a:tableStyleId>{5C22544A-7EE6-4342-B048-85BDC9FD1C3A}</a:tableStyleId>
              </a:tblPr>
              <a:tblGrid>
                <a:gridCol w="1435652">
                  <a:extLst>
                    <a:ext uri="{9D8B030D-6E8A-4147-A177-3AD203B41FA5}">
                      <a16:colId xmlns:a16="http://schemas.microsoft.com/office/drawing/2014/main" val="3996624"/>
                    </a:ext>
                  </a:extLst>
                </a:gridCol>
                <a:gridCol w="3441201">
                  <a:extLst>
                    <a:ext uri="{9D8B030D-6E8A-4147-A177-3AD203B41FA5}">
                      <a16:colId xmlns:a16="http://schemas.microsoft.com/office/drawing/2014/main" val="1850449956"/>
                    </a:ext>
                  </a:extLst>
                </a:gridCol>
              </a:tblGrid>
              <a:tr h="304800">
                <a:tc>
                  <a:txBody>
                    <a:bodyPr/>
                    <a:lstStyle/>
                    <a:p>
                      <a:pPr algn="ctr" fontAlgn="base">
                        <a:lnSpc>
                          <a:spcPts val="1425"/>
                        </a:lnSpc>
                        <a:buNone/>
                      </a:pPr>
                      <a:r>
                        <a:rPr lang="en-US" sz="1200" b="1">
                          <a:solidFill>
                            <a:srgbClr val="FFFFFF"/>
                          </a:solidFill>
                          <a:effectLst/>
                          <a:latin typeface="Times New Roman"/>
                          <a:cs typeface="Times New Roman"/>
                        </a:rPr>
                        <a:t>Unit</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kern="1200" noProof="0">
                          <a:solidFill>
                            <a:srgbClr val="FFFFFF"/>
                          </a:solidFill>
                          <a:effectLst/>
                          <a:latin typeface="Times New Roman"/>
                          <a:ea typeface="+mn-ea"/>
                          <a:cs typeface="Times New Roman"/>
                        </a:rPr>
                        <a:t>Net Requirements Cooling Water (kW)</a:t>
                      </a:r>
                      <a:endParaRPr lang="en-US" sz="1200" b="1" kern="1200">
                        <a:solidFill>
                          <a:srgbClr val="FFFFFF"/>
                        </a:solidFill>
                        <a:effectLst/>
                        <a:latin typeface="Times New Roman"/>
                        <a:ea typeface="+mn-ea"/>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759969731"/>
                  </a:ext>
                </a:extLst>
              </a:tr>
              <a:tr h="304800">
                <a:tc>
                  <a:txBody>
                    <a:bodyPr/>
                    <a:lstStyle/>
                    <a:p>
                      <a:pPr algn="ctr" fontAlgn="base">
                        <a:lnSpc>
                          <a:spcPts val="1425"/>
                        </a:lnSpc>
                        <a:buNone/>
                      </a:pPr>
                      <a:r>
                        <a:rPr lang="en-US" sz="1200">
                          <a:effectLst/>
                          <a:latin typeface="Times New Roman"/>
                          <a:cs typeface="Times New Roman"/>
                        </a:rPr>
                        <a:t>Distillation</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327522 </a:t>
                      </a:r>
                      <a:endParaRPr lang="en-US"/>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015990965"/>
                  </a:ext>
                </a:extLst>
              </a:tr>
              <a:tr h="304800">
                <a:tc>
                  <a:txBody>
                    <a:bodyPr/>
                    <a:lstStyle/>
                    <a:p>
                      <a:pPr algn="ctr" fontAlgn="base">
                        <a:lnSpc>
                          <a:spcPts val="1425"/>
                        </a:lnSpc>
                        <a:buNone/>
                      </a:pPr>
                      <a:r>
                        <a:rPr lang="en-US" sz="1200">
                          <a:effectLst/>
                          <a:latin typeface="Times New Roman"/>
                          <a:cs typeface="Times New Roman"/>
                        </a:rPr>
                        <a:t>CW</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332324</a:t>
                      </a:r>
                      <a:endParaRPr lang="en-US">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579516569"/>
                  </a:ext>
                </a:extLst>
              </a:tr>
              <a:tr h="304800">
                <a:tc>
                  <a:txBody>
                    <a:bodyPr/>
                    <a:lstStyle/>
                    <a:p>
                      <a:pPr lvl="0" algn="ctr">
                        <a:lnSpc>
                          <a:spcPts val="1425"/>
                        </a:lnSpc>
                        <a:buNone/>
                      </a:pPr>
                      <a:r>
                        <a:rPr lang="en-US" sz="1200" b="1">
                          <a:solidFill>
                            <a:srgbClr val="FFFFFF"/>
                          </a:solidFill>
                          <a:effectLst/>
                          <a:latin typeface="Times New Roman"/>
                          <a:cs typeface="Times New Roman"/>
                        </a:rPr>
                        <a:t>Unit</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i="0" u="none" strike="noStrike" kern="1200" noProof="0">
                          <a:solidFill>
                            <a:srgbClr val="FFFFFF"/>
                          </a:solidFill>
                          <a:effectLst/>
                          <a:latin typeface="Times New Roman"/>
                          <a:cs typeface="Times New Roman"/>
                        </a:rPr>
                        <a:t>Net Requirements</a:t>
                      </a:r>
                      <a:r>
                        <a:rPr lang="en-US" sz="1200" b="1" kern="1200" noProof="0">
                          <a:solidFill>
                            <a:srgbClr val="FFFFFF"/>
                          </a:solidFill>
                          <a:effectLst/>
                          <a:latin typeface="Times New Roman"/>
                          <a:ea typeface="+mn-ea"/>
                          <a:cs typeface="Times New Roman"/>
                        </a:rPr>
                        <a:t> High Pressure Steam </a:t>
                      </a:r>
                      <a:r>
                        <a:rPr lang="en-US" sz="1200" b="1" i="0" u="none" strike="noStrike" kern="1200" noProof="0">
                          <a:solidFill>
                            <a:srgbClr val="FFFFFF"/>
                          </a:solidFill>
                          <a:effectLst/>
                          <a:latin typeface="Times New Roman"/>
                          <a:cs typeface="Times New Roman"/>
                        </a:rPr>
                        <a:t>(kW)</a:t>
                      </a:r>
                      <a:endParaRPr lang="en-US" sz="1200" b="1" kern="1200">
                        <a:solidFill>
                          <a:srgbClr val="FFFFFF"/>
                        </a:solidFill>
                        <a:effectLst/>
                        <a:latin typeface="Times New Roman"/>
                        <a:ea typeface="+mn-ea"/>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734795699"/>
                  </a:ext>
                </a:extLst>
              </a:tr>
              <a:tr h="304800">
                <a:tc>
                  <a:txBody>
                    <a:bodyPr/>
                    <a:lstStyle/>
                    <a:p>
                      <a:pPr lvl="0" algn="ctr">
                        <a:lnSpc>
                          <a:spcPts val="1425"/>
                        </a:lnSpc>
                        <a:buNone/>
                      </a:pPr>
                      <a:r>
                        <a:rPr lang="en-US" sz="1200">
                          <a:effectLst/>
                          <a:latin typeface="Times New Roman"/>
                          <a:cs typeface="Times New Roman"/>
                        </a:rPr>
                        <a:t>Distillation</a:t>
                      </a:r>
                      <a:endParaRPr lang="en-US">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126082</a:t>
                      </a:r>
                      <a:endParaRPr lang="en-US">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812573227"/>
                  </a:ext>
                </a:extLst>
              </a:tr>
              <a:tr h="304800">
                <a:tc>
                  <a:txBody>
                    <a:bodyPr/>
                    <a:lstStyle/>
                    <a:p>
                      <a:pPr lvl="0" algn="ctr">
                        <a:lnSpc>
                          <a:spcPts val="1425"/>
                        </a:lnSpc>
                        <a:buNone/>
                      </a:pPr>
                      <a:r>
                        <a:rPr lang="en-US" sz="1200" b="1">
                          <a:solidFill>
                            <a:srgbClr val="FFFFFF"/>
                          </a:solidFill>
                          <a:effectLst/>
                          <a:latin typeface="Times New Roman"/>
                          <a:cs typeface="Times New Roman"/>
                        </a:rPr>
                        <a:t>Unit</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i="0" u="none" strike="noStrike" kern="1200" noProof="0">
                          <a:solidFill>
                            <a:srgbClr val="FFFFFF"/>
                          </a:solidFill>
                          <a:effectLst/>
                          <a:latin typeface="Times New Roman"/>
                          <a:cs typeface="Times New Roman"/>
                        </a:rPr>
                        <a:t>Net Requirements</a:t>
                      </a:r>
                      <a:r>
                        <a:rPr lang="en-US" sz="1200" b="1" kern="1200" noProof="0">
                          <a:solidFill>
                            <a:srgbClr val="FFFFFF"/>
                          </a:solidFill>
                          <a:effectLst/>
                          <a:latin typeface="Times New Roman"/>
                          <a:ea typeface="+mn-ea"/>
                          <a:cs typeface="Times New Roman"/>
                        </a:rPr>
                        <a:t> Low Pressure Steam </a:t>
                      </a:r>
                      <a:r>
                        <a:rPr lang="en-US" sz="1200" b="1" i="0" u="none" strike="noStrike" kern="1200" noProof="0">
                          <a:solidFill>
                            <a:srgbClr val="FFFFFF"/>
                          </a:solidFill>
                          <a:effectLst/>
                          <a:latin typeface="Times New Roman"/>
                          <a:cs typeface="Times New Roman"/>
                        </a:rPr>
                        <a:t>(kW)</a:t>
                      </a:r>
                      <a:endParaRPr lang="en-US" sz="1200" b="1" kern="1200">
                        <a:solidFill>
                          <a:srgbClr val="FFFFFF"/>
                        </a:solidFill>
                        <a:effectLst/>
                        <a:latin typeface="Times New Roman"/>
                        <a:ea typeface="+mn-ea"/>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632106633"/>
                  </a:ext>
                </a:extLst>
              </a:tr>
              <a:tr h="304800">
                <a:tc>
                  <a:txBody>
                    <a:bodyPr/>
                    <a:lstStyle/>
                    <a:p>
                      <a:pPr lvl="0" algn="ctr">
                        <a:lnSpc>
                          <a:spcPts val="1425"/>
                        </a:lnSpc>
                        <a:buNone/>
                      </a:pPr>
                      <a:r>
                        <a:rPr lang="en-US" sz="1200">
                          <a:effectLst/>
                          <a:latin typeface="Times New Roman"/>
                          <a:cs typeface="Times New Roman"/>
                        </a:rPr>
                        <a:t>Distillation</a:t>
                      </a:r>
                      <a:endParaRPr lang="en-US">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IN" sz="1200" b="0" i="0" u="none" strike="noStrike" noProof="0">
                          <a:solidFill>
                            <a:srgbClr val="000000"/>
                          </a:solidFill>
                          <a:effectLst/>
                          <a:latin typeface="Times New Roman"/>
                        </a:rPr>
                        <a:t>202132</a:t>
                      </a:r>
                      <a:endParaRPr lang="en-US"/>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906190099"/>
                  </a:ext>
                </a:extLst>
              </a:tr>
            </a:tbl>
          </a:graphicData>
        </a:graphic>
      </p:graphicFrame>
      <p:sp>
        <p:nvSpPr>
          <p:cNvPr id="17" name="TextBox 16">
            <a:extLst>
              <a:ext uri="{FF2B5EF4-FFF2-40B4-BE49-F238E27FC236}">
                <a16:creationId xmlns:a16="http://schemas.microsoft.com/office/drawing/2014/main" id="{84D94C13-83FF-183D-D8DF-AE3363521EF6}"/>
              </a:ext>
            </a:extLst>
          </p:cNvPr>
          <p:cNvSpPr txBox="1"/>
          <p:nvPr/>
        </p:nvSpPr>
        <p:spPr>
          <a:xfrm>
            <a:off x="3856095" y="1099421"/>
            <a:ext cx="728176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cs typeface="Times New Roman"/>
              </a:rPr>
              <a:t>Distillation Unit Requirement</a:t>
            </a:r>
          </a:p>
        </p:txBody>
      </p:sp>
      <p:graphicFrame>
        <p:nvGraphicFramePr>
          <p:cNvPr id="4" name="Table 3">
            <a:extLst>
              <a:ext uri="{FF2B5EF4-FFF2-40B4-BE49-F238E27FC236}">
                <a16:creationId xmlns:a16="http://schemas.microsoft.com/office/drawing/2014/main" id="{486EB6C5-14E7-0FE7-625E-47C353347A67}"/>
              </a:ext>
            </a:extLst>
          </p:cNvPr>
          <p:cNvGraphicFramePr>
            <a:graphicFrameLocks noGrp="1"/>
          </p:cNvGraphicFramePr>
          <p:nvPr>
            <p:extLst>
              <p:ext uri="{D42A27DB-BD31-4B8C-83A1-F6EECF244321}">
                <p14:modId xmlns:p14="http://schemas.microsoft.com/office/powerpoint/2010/main" val="395402636"/>
              </p:ext>
            </p:extLst>
          </p:nvPr>
        </p:nvGraphicFramePr>
        <p:xfrm>
          <a:off x="6483552" y="4142074"/>
          <a:ext cx="4339509" cy="1219200"/>
        </p:xfrm>
        <a:graphic>
          <a:graphicData uri="http://schemas.openxmlformats.org/drawingml/2006/table">
            <a:tbl>
              <a:tblPr bandRow="1">
                <a:tableStyleId>{5C22544A-7EE6-4342-B048-85BDC9FD1C3A}</a:tableStyleId>
              </a:tblPr>
              <a:tblGrid>
                <a:gridCol w="1424913">
                  <a:extLst>
                    <a:ext uri="{9D8B030D-6E8A-4147-A177-3AD203B41FA5}">
                      <a16:colId xmlns:a16="http://schemas.microsoft.com/office/drawing/2014/main" val="3996624"/>
                    </a:ext>
                  </a:extLst>
                </a:gridCol>
                <a:gridCol w="1424913">
                  <a:extLst>
                    <a:ext uri="{9D8B030D-6E8A-4147-A177-3AD203B41FA5}">
                      <a16:colId xmlns:a16="http://schemas.microsoft.com/office/drawing/2014/main" val="661765517"/>
                    </a:ext>
                  </a:extLst>
                </a:gridCol>
                <a:gridCol w="1489683">
                  <a:extLst>
                    <a:ext uri="{9D8B030D-6E8A-4147-A177-3AD203B41FA5}">
                      <a16:colId xmlns:a16="http://schemas.microsoft.com/office/drawing/2014/main" val="1850449956"/>
                    </a:ext>
                  </a:extLst>
                </a:gridCol>
              </a:tblGrid>
              <a:tr h="304800">
                <a:tc>
                  <a:txBody>
                    <a:bodyPr/>
                    <a:lstStyle/>
                    <a:p>
                      <a:pPr lvl="0" algn="ctr">
                        <a:lnSpc>
                          <a:spcPts val="1425"/>
                        </a:lnSpc>
                        <a:buNone/>
                      </a:pPr>
                      <a:r>
                        <a:rPr lang="en-US" sz="1200" b="1">
                          <a:solidFill>
                            <a:srgbClr val="FFFFFF"/>
                          </a:solidFill>
                          <a:effectLst/>
                          <a:latin typeface="Times New Roman"/>
                          <a:cs typeface="Times New Roman"/>
                        </a:rPr>
                        <a:t>Stream</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Energy Required</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200" b="1">
                          <a:solidFill>
                            <a:srgbClr val="FFFFFF"/>
                          </a:solidFill>
                          <a:effectLst/>
                          <a:latin typeface="Times New Roman"/>
                          <a:cs typeface="Times New Roman"/>
                        </a:rPr>
                        <a:t>Mass Flow</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759969731"/>
                  </a:ext>
                </a:extLst>
              </a:tr>
              <a:tr h="304800">
                <a:tc>
                  <a:txBody>
                    <a:bodyPr/>
                    <a:lstStyle/>
                    <a:p>
                      <a:pPr lvl="0" algn="ctr">
                        <a:lnSpc>
                          <a:spcPts val="1425"/>
                        </a:lnSpc>
                        <a:buNone/>
                      </a:pPr>
                      <a:r>
                        <a:rPr lang="en-US" sz="1200">
                          <a:effectLst/>
                          <a:latin typeface="Times New Roman"/>
                          <a:cs typeface="Times New Roman"/>
                        </a:rPr>
                        <a:t>HPSOUT</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126083  kW</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200">
                          <a:effectLst/>
                          <a:latin typeface="Times New Roman"/>
                          <a:cs typeface="Times New Roman"/>
                        </a:rPr>
                        <a:t>206574  kg/hr</a:t>
                      </a:r>
                      <a:endParaRPr lang="en-US" err="1">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015990965"/>
                  </a:ext>
                </a:extLst>
              </a:tr>
              <a:tr h="304800">
                <a:tc>
                  <a:txBody>
                    <a:bodyPr/>
                    <a:lstStyle/>
                    <a:p>
                      <a:pPr lvl="0" algn="ctr">
                        <a:lnSpc>
                          <a:spcPts val="1425"/>
                        </a:lnSpc>
                        <a:buNone/>
                      </a:pPr>
                      <a:r>
                        <a:rPr lang="en-US" sz="1200">
                          <a:effectLst/>
                          <a:latin typeface="Times New Roman"/>
                          <a:cs typeface="Times New Roman"/>
                        </a:rPr>
                        <a:t>LPSOUT</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205976  kW</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200">
                          <a:effectLst/>
                          <a:latin typeface="Times New Roman"/>
                          <a:cs typeface="Times New Roman"/>
                        </a:rPr>
                        <a:t>330828 kg/hr</a:t>
                      </a:r>
                      <a:endParaRPr lang="en-US" err="1">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34795699"/>
                  </a:ext>
                </a:extLst>
              </a:tr>
              <a:tr h="304800">
                <a:tc>
                  <a:txBody>
                    <a:bodyPr/>
                    <a:lstStyle/>
                    <a:p>
                      <a:pPr lvl="0" algn="ctr">
                        <a:lnSpc>
                          <a:spcPts val="1425"/>
                        </a:lnSpc>
                        <a:buNone/>
                      </a:pPr>
                      <a:r>
                        <a:rPr lang="en-US" sz="1200">
                          <a:effectLst/>
                          <a:latin typeface="Times New Roman"/>
                          <a:cs typeface="Times New Roman"/>
                        </a:rPr>
                        <a:t>Cooling Water</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332324 kW</a:t>
                      </a:r>
                      <a:endParaRPr lang="en-US">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tc>
                  <a:txBody>
                    <a:bodyPr/>
                    <a:lstStyle/>
                    <a:p>
                      <a:pPr algn="ctr" fontAlgn="base">
                        <a:lnSpc>
                          <a:spcPts val="1425"/>
                        </a:lnSpc>
                        <a:buNone/>
                      </a:pPr>
                      <a:r>
                        <a:rPr lang="en-IN" sz="1200">
                          <a:effectLst/>
                          <a:latin typeface="Times New Roman"/>
                          <a:cs typeface="Times New Roman"/>
                        </a:rPr>
                        <a:t>11441600 kg/hr</a:t>
                      </a:r>
                      <a:endParaRPr lang="en-IN">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812573227"/>
                  </a:ext>
                </a:extLst>
              </a:tr>
            </a:tbl>
          </a:graphicData>
        </a:graphic>
      </p:graphicFrame>
      <p:sp>
        <p:nvSpPr>
          <p:cNvPr id="3" name="Slide Number Placeholder 2">
            <a:extLst>
              <a:ext uri="{FF2B5EF4-FFF2-40B4-BE49-F238E27FC236}">
                <a16:creationId xmlns:a16="http://schemas.microsoft.com/office/drawing/2014/main" id="{FD51E5A9-F785-93AF-18CC-C26720C1F199}"/>
              </a:ext>
            </a:extLst>
          </p:cNvPr>
          <p:cNvSpPr>
            <a:spLocks noGrp="1"/>
          </p:cNvSpPr>
          <p:nvPr>
            <p:ph type="sldNum" sz="quarter" idx="12"/>
          </p:nvPr>
        </p:nvSpPr>
        <p:spPr/>
        <p:txBody>
          <a:bodyPr/>
          <a:lstStyle/>
          <a:p>
            <a:fld id="{330EA680-D336-4FF7-8B7A-9848BB0A1C32}" type="slidenum">
              <a:rPr lang="en-US" smtClean="0">
                <a:latin typeface="+mj-lt"/>
                <a:cs typeface="Times New Roman" panose="02020603050405020304" pitchFamily="18" charset="0"/>
              </a:rPr>
              <a:t>39</a:t>
            </a:fld>
            <a:endParaRPr lang="en-US">
              <a:latin typeface="+mj-lt"/>
              <a:cs typeface="Times New Roman" panose="02020603050405020304" pitchFamily="18" charset="0"/>
            </a:endParaRPr>
          </a:p>
        </p:txBody>
      </p:sp>
      <p:sp>
        <p:nvSpPr>
          <p:cNvPr id="20" name="Rectangle 19">
            <a:extLst>
              <a:ext uri="{FF2B5EF4-FFF2-40B4-BE49-F238E27FC236}">
                <a16:creationId xmlns:a16="http://schemas.microsoft.com/office/drawing/2014/main" id="{1523DB10-5495-4B08-B381-DB23A17A173A}"/>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Cogeneration Analysis: Requirement, Production, Deficit</a:t>
            </a:r>
          </a:p>
        </p:txBody>
      </p:sp>
      <p:graphicFrame>
        <p:nvGraphicFramePr>
          <p:cNvPr id="10" name="Table 9">
            <a:extLst>
              <a:ext uri="{FF2B5EF4-FFF2-40B4-BE49-F238E27FC236}">
                <a16:creationId xmlns:a16="http://schemas.microsoft.com/office/drawing/2014/main" id="{3F26FF9B-B33C-3223-1090-1E149BEF189E}"/>
              </a:ext>
            </a:extLst>
          </p:cNvPr>
          <p:cNvGraphicFramePr>
            <a:graphicFrameLocks noGrp="1"/>
          </p:cNvGraphicFramePr>
          <p:nvPr>
            <p:extLst>
              <p:ext uri="{D42A27DB-BD31-4B8C-83A1-F6EECF244321}">
                <p14:modId xmlns:p14="http://schemas.microsoft.com/office/powerpoint/2010/main" val="2815298684"/>
              </p:ext>
            </p:extLst>
          </p:nvPr>
        </p:nvGraphicFramePr>
        <p:xfrm>
          <a:off x="947174" y="1771360"/>
          <a:ext cx="2261420" cy="1219200"/>
        </p:xfrm>
        <a:graphic>
          <a:graphicData uri="http://schemas.openxmlformats.org/drawingml/2006/table">
            <a:tbl>
              <a:tblPr bandRow="1">
                <a:tableStyleId>{5C22544A-7EE6-4342-B048-85BDC9FD1C3A}</a:tableStyleId>
              </a:tblPr>
              <a:tblGrid>
                <a:gridCol w="1130710">
                  <a:extLst>
                    <a:ext uri="{9D8B030D-6E8A-4147-A177-3AD203B41FA5}">
                      <a16:colId xmlns:a16="http://schemas.microsoft.com/office/drawing/2014/main" val="3996624"/>
                    </a:ext>
                  </a:extLst>
                </a:gridCol>
                <a:gridCol w="1130710">
                  <a:extLst>
                    <a:ext uri="{9D8B030D-6E8A-4147-A177-3AD203B41FA5}">
                      <a16:colId xmlns:a16="http://schemas.microsoft.com/office/drawing/2014/main" val="1400208435"/>
                    </a:ext>
                  </a:extLst>
                </a:gridCol>
              </a:tblGrid>
              <a:tr h="304800">
                <a:tc>
                  <a:txBody>
                    <a:bodyPr/>
                    <a:lstStyle/>
                    <a:p>
                      <a:pPr algn="ctr" fontAlgn="base">
                        <a:lnSpc>
                          <a:spcPts val="1425"/>
                        </a:lnSpc>
                        <a:buNone/>
                      </a:pPr>
                      <a:r>
                        <a:rPr lang="en-US" sz="1200" b="1">
                          <a:solidFill>
                            <a:srgbClr val="FFFFFF"/>
                          </a:solidFill>
                          <a:effectLst/>
                          <a:latin typeface="Times New Roman"/>
                          <a:cs typeface="Times New Roman"/>
                        </a:rPr>
                        <a:t>CW Req</a:t>
                      </a:r>
                      <a:endParaRPr lang="en-US" b="1">
                        <a:solidFill>
                          <a:srgbClr val="FFFFFF"/>
                        </a:solidFill>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Energy</a:t>
                      </a:r>
                    </a:p>
                  </a:txBody>
                  <a:tcPr anchor="ctr">
                    <a:lnL w="12059" cap="flat" cmpd="sng" algn="ctr">
                      <a:solidFill>
                        <a:srgbClr val="FFFFFF"/>
                      </a:solidFill>
                      <a:prstDash val="solid"/>
                      <a:round/>
                      <a:headEnd type="none" w="med" len="med"/>
                      <a:tailEnd type="none" w="med" len="med"/>
                    </a:lnL>
                    <a:lnR w="12058">
                      <a:solidFill>
                        <a:srgbClr val="FFFFFF"/>
                      </a:solidFill>
                    </a:lnR>
                    <a:lnT w="12058">
                      <a:solidFill>
                        <a:srgbClr val="FFFFFF"/>
                      </a:solidFill>
                    </a:lnT>
                    <a:lnB w="36195">
                      <a:solidFill>
                        <a:srgbClr val="FFFFFF"/>
                      </a:solidFill>
                    </a:lnB>
                    <a:solidFill>
                      <a:srgbClr val="002060"/>
                    </a:solidFill>
                  </a:tcPr>
                </a:tc>
                <a:extLst>
                  <a:ext uri="{0D108BD9-81ED-4DB2-BD59-A6C34878D82A}">
                    <a16:rowId xmlns:a16="http://schemas.microsoft.com/office/drawing/2014/main" val="1759969731"/>
                  </a:ext>
                </a:extLst>
              </a:tr>
              <a:tr h="304800">
                <a:tc>
                  <a:txBody>
                    <a:bodyPr/>
                    <a:lstStyle/>
                    <a:p>
                      <a:pPr algn="ctr" fontAlgn="base">
                        <a:lnSpc>
                          <a:spcPts val="1425"/>
                        </a:lnSpc>
                        <a:buNone/>
                      </a:pPr>
                      <a:r>
                        <a:rPr lang="en-US" sz="1200">
                          <a:effectLst/>
                          <a:latin typeface="Times New Roman"/>
                          <a:cs typeface="Times New Roman"/>
                        </a:rPr>
                        <a:t>HEN4</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IN" sz="1200" b="0" i="0" u="none" strike="noStrike" noProof="0">
                          <a:solidFill>
                            <a:srgbClr val="000000"/>
                          </a:solidFill>
                          <a:effectLst/>
                          <a:latin typeface="Times New Roman"/>
                          <a:cs typeface="Times New Roman"/>
                        </a:rPr>
                        <a:t>772 KW</a:t>
                      </a:r>
                      <a:endParaRPr lang="en-US" sz="1200">
                        <a:effectLst/>
                        <a:latin typeface="Times New Roman"/>
                        <a:cs typeface="Times New Roman"/>
                      </a:endParaRPr>
                    </a:p>
                  </a:txBody>
                  <a:tcPr anchor="ctr">
                    <a:lnL w="12059" cap="flat" cmpd="sng" algn="ctr">
                      <a:solidFill>
                        <a:srgbClr val="FFFFFF"/>
                      </a:solidFill>
                      <a:prstDash val="solid"/>
                      <a:round/>
                      <a:headEnd type="none" w="med" len="med"/>
                      <a:tailEnd type="none" w="med" len="med"/>
                    </a:lnL>
                    <a:lnR w="12058"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8">
                      <a:solidFill>
                        <a:srgbClr val="FFFFFF"/>
                      </a:solidFill>
                    </a:lnB>
                    <a:solidFill>
                      <a:srgbClr val="CCD2D8"/>
                    </a:solidFill>
                  </a:tcPr>
                </a:tc>
                <a:extLst>
                  <a:ext uri="{0D108BD9-81ED-4DB2-BD59-A6C34878D82A}">
                    <a16:rowId xmlns:a16="http://schemas.microsoft.com/office/drawing/2014/main" val="1734795699"/>
                  </a:ext>
                </a:extLst>
              </a:tr>
              <a:tr h="304800">
                <a:tc>
                  <a:txBody>
                    <a:bodyPr/>
                    <a:lstStyle/>
                    <a:p>
                      <a:pPr algn="ctr" fontAlgn="base">
                        <a:lnSpc>
                          <a:spcPts val="1425"/>
                        </a:lnSpc>
                        <a:buNone/>
                      </a:pPr>
                      <a:r>
                        <a:rPr lang="en-US" sz="1200">
                          <a:effectLst/>
                          <a:latin typeface="Times New Roman"/>
                          <a:cs typeface="Times New Roman"/>
                        </a:rPr>
                        <a:t>HEN5</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16 KW </a:t>
                      </a:r>
                      <a:endParaRPr lang="en-US">
                        <a:latin typeface="Times New Roman"/>
                        <a:cs typeface="Times New Roman"/>
                      </a:endParaRPr>
                    </a:p>
                  </a:txBody>
                  <a:tcPr anchor="ctr">
                    <a:lnL w="12059" cap="flat" cmpd="sng" algn="ctr">
                      <a:solidFill>
                        <a:srgbClr val="FFFFFF"/>
                      </a:solidFill>
                      <a:prstDash val="solid"/>
                      <a:round/>
                      <a:headEnd type="none" w="med" len="med"/>
                      <a:tailEnd type="none" w="med" len="med"/>
                    </a:lnL>
                    <a:lnR w="12058">
                      <a:solidFill>
                        <a:srgbClr val="FFFFFF"/>
                      </a:solidFill>
                    </a:lnR>
                    <a:lnT w="12058">
                      <a:solidFill>
                        <a:srgbClr val="FFFFFF"/>
                      </a:solidFill>
                    </a:lnT>
                    <a:lnB w="12058"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812573227"/>
                  </a:ext>
                </a:extLst>
              </a:tr>
              <a:tr h="304800">
                <a:tc>
                  <a:txBody>
                    <a:bodyPr/>
                    <a:lstStyle/>
                    <a:p>
                      <a:pPr lvl="0" algn="ctr">
                        <a:lnSpc>
                          <a:spcPts val="1425"/>
                        </a:lnSpc>
                        <a:buNone/>
                      </a:pPr>
                      <a:r>
                        <a:rPr lang="en-US" sz="1200">
                          <a:effectLst/>
                          <a:latin typeface="Times New Roman"/>
                          <a:cs typeface="Times New Roman"/>
                        </a:rPr>
                        <a:t>Rest</a:t>
                      </a:r>
                    </a:p>
                  </a:txBody>
                  <a:tcPr anchor="ctr">
                    <a:lnL w="12058">
                      <a:solidFill>
                        <a:srgbClr val="FFFFFF"/>
                      </a:solidFill>
                    </a:lnL>
                    <a:lnR w="12058">
                      <a:solidFill>
                        <a:srgbClr val="FFFFFF"/>
                      </a:solidFill>
                    </a:lnR>
                    <a:lnT w="12059" cap="flat" cmpd="sng" algn="ctr">
                      <a:solidFill>
                        <a:srgbClr val="FFFFFF"/>
                      </a:solidFill>
                      <a:prstDash val="solid"/>
                      <a:round/>
                      <a:headEnd type="none" w="med" len="med"/>
                      <a:tailEnd type="none" w="med" len="med"/>
                    </a:lnT>
                    <a:lnB w="12058">
                      <a:solidFill>
                        <a:srgbClr val="FFFFFF"/>
                      </a:solidFill>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331536 kW</a:t>
                      </a:r>
                    </a:p>
                  </a:txBody>
                  <a:tcPr anchor="ctr">
                    <a:lnL w="12058">
                      <a:solidFill>
                        <a:srgbClr val="FFFFFF"/>
                      </a:solidFill>
                    </a:lnL>
                    <a:lnR w="12058">
                      <a:solidFill>
                        <a:srgbClr val="FFFFFF"/>
                      </a:solidFill>
                    </a:lnR>
                    <a:lnT w="12058">
                      <a:solidFill>
                        <a:srgbClr val="FFFFFF"/>
                      </a:solidFill>
                    </a:lnT>
                    <a:lnB w="12058">
                      <a:solidFill>
                        <a:srgbClr val="FFFFFF"/>
                      </a:solidFill>
                    </a:lnB>
                    <a:solidFill>
                      <a:srgbClr val="E7EAED"/>
                    </a:solidFill>
                  </a:tcPr>
                </a:tc>
                <a:extLst>
                  <a:ext uri="{0D108BD9-81ED-4DB2-BD59-A6C34878D82A}">
                    <a16:rowId xmlns:a16="http://schemas.microsoft.com/office/drawing/2014/main" val="2411776391"/>
                  </a:ext>
                </a:extLst>
              </a:tr>
            </a:tbl>
          </a:graphicData>
        </a:graphic>
      </p:graphicFrame>
      <p:sp>
        <p:nvSpPr>
          <p:cNvPr id="21" name="TextBox 20">
            <a:extLst>
              <a:ext uri="{FF2B5EF4-FFF2-40B4-BE49-F238E27FC236}">
                <a16:creationId xmlns:a16="http://schemas.microsoft.com/office/drawing/2014/main" id="{5E3CB059-1F49-5AC7-E481-8F0DC6EF357C}"/>
              </a:ext>
            </a:extLst>
          </p:cNvPr>
          <p:cNvSpPr txBox="1"/>
          <p:nvPr/>
        </p:nvSpPr>
        <p:spPr>
          <a:xfrm>
            <a:off x="947174" y="3587120"/>
            <a:ext cx="487685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cs typeface="Times New Roman"/>
              </a:rPr>
              <a:t>Overall Requirements</a:t>
            </a:r>
            <a:endParaRPr lang="en-US"/>
          </a:p>
        </p:txBody>
      </p:sp>
      <p:sp>
        <p:nvSpPr>
          <p:cNvPr id="22" name="TextBox 21">
            <a:extLst>
              <a:ext uri="{FF2B5EF4-FFF2-40B4-BE49-F238E27FC236}">
                <a16:creationId xmlns:a16="http://schemas.microsoft.com/office/drawing/2014/main" id="{E8B2CEA2-3172-F59E-AD8C-6855CC2791F9}"/>
              </a:ext>
            </a:extLst>
          </p:cNvPr>
          <p:cNvSpPr txBox="1"/>
          <p:nvPr/>
        </p:nvSpPr>
        <p:spPr>
          <a:xfrm>
            <a:off x="6483551" y="3793685"/>
            <a:ext cx="433950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cs typeface="Times New Roman"/>
              </a:rPr>
              <a:t>Utility Requirements</a:t>
            </a:r>
          </a:p>
        </p:txBody>
      </p:sp>
      <p:sp>
        <p:nvSpPr>
          <p:cNvPr id="2" name="TextBox 1">
            <a:extLst>
              <a:ext uri="{FF2B5EF4-FFF2-40B4-BE49-F238E27FC236}">
                <a16:creationId xmlns:a16="http://schemas.microsoft.com/office/drawing/2014/main" id="{0B88D581-BE43-B96B-E9DB-7F96F7D721CB}"/>
              </a:ext>
            </a:extLst>
          </p:cNvPr>
          <p:cNvSpPr txBox="1"/>
          <p:nvPr/>
        </p:nvSpPr>
        <p:spPr>
          <a:xfrm>
            <a:off x="6483551" y="5469417"/>
            <a:ext cx="4339509" cy="523220"/>
          </a:xfrm>
          <a:prstGeom prst="rect">
            <a:avLst/>
          </a:prstGeom>
          <a:noFill/>
        </p:spPr>
        <p:txBody>
          <a:bodyPr wrap="square" lIns="91440" tIns="45720" rIns="91440" bIns="45720" rtlCol="0" anchor="t">
            <a:spAutoFit/>
          </a:bodyPr>
          <a:lstStyle/>
          <a:p>
            <a:r>
              <a:rPr lang="en-US" sz="1400">
                <a:latin typeface="Times New Roman"/>
                <a:cs typeface="Times New Roman"/>
              </a:rPr>
              <a:t>*We have assumed that steam cannot be cooled beyond 100°C and cooling water cannot be heated beyond 40°C</a:t>
            </a:r>
          </a:p>
        </p:txBody>
      </p:sp>
      <p:graphicFrame>
        <p:nvGraphicFramePr>
          <p:cNvPr id="6" name="Table 5">
            <a:extLst>
              <a:ext uri="{FF2B5EF4-FFF2-40B4-BE49-F238E27FC236}">
                <a16:creationId xmlns:a16="http://schemas.microsoft.com/office/drawing/2014/main" id="{18288DC3-4016-5C84-33E8-B9918B5CE881}"/>
              </a:ext>
            </a:extLst>
          </p:cNvPr>
          <p:cNvGraphicFramePr>
            <a:graphicFrameLocks noGrp="1"/>
          </p:cNvGraphicFramePr>
          <p:nvPr>
            <p:extLst>
              <p:ext uri="{D42A27DB-BD31-4B8C-83A1-F6EECF244321}">
                <p14:modId xmlns:p14="http://schemas.microsoft.com/office/powerpoint/2010/main" val="1478405422"/>
              </p:ext>
            </p:extLst>
          </p:nvPr>
        </p:nvGraphicFramePr>
        <p:xfrm>
          <a:off x="4083171" y="1530555"/>
          <a:ext cx="7054686" cy="1828800"/>
        </p:xfrm>
        <a:graphic>
          <a:graphicData uri="http://schemas.openxmlformats.org/drawingml/2006/table">
            <a:tbl>
              <a:tblPr bandRow="1">
                <a:tableStyleId>{5C22544A-7EE6-4342-B048-85BDC9FD1C3A}</a:tableStyleId>
              </a:tblPr>
              <a:tblGrid>
                <a:gridCol w="1175781">
                  <a:extLst>
                    <a:ext uri="{9D8B030D-6E8A-4147-A177-3AD203B41FA5}">
                      <a16:colId xmlns:a16="http://schemas.microsoft.com/office/drawing/2014/main" val="1422432030"/>
                    </a:ext>
                  </a:extLst>
                </a:gridCol>
                <a:gridCol w="1175781">
                  <a:extLst>
                    <a:ext uri="{9D8B030D-6E8A-4147-A177-3AD203B41FA5}">
                      <a16:colId xmlns:a16="http://schemas.microsoft.com/office/drawing/2014/main" val="628478495"/>
                    </a:ext>
                  </a:extLst>
                </a:gridCol>
                <a:gridCol w="1175781">
                  <a:extLst>
                    <a:ext uri="{9D8B030D-6E8A-4147-A177-3AD203B41FA5}">
                      <a16:colId xmlns:a16="http://schemas.microsoft.com/office/drawing/2014/main" val="2347599792"/>
                    </a:ext>
                  </a:extLst>
                </a:gridCol>
                <a:gridCol w="1175781">
                  <a:extLst>
                    <a:ext uri="{9D8B030D-6E8A-4147-A177-3AD203B41FA5}">
                      <a16:colId xmlns:a16="http://schemas.microsoft.com/office/drawing/2014/main" val="3731019087"/>
                    </a:ext>
                  </a:extLst>
                </a:gridCol>
                <a:gridCol w="1175781">
                  <a:extLst>
                    <a:ext uri="{9D8B030D-6E8A-4147-A177-3AD203B41FA5}">
                      <a16:colId xmlns:a16="http://schemas.microsoft.com/office/drawing/2014/main" val="4039008802"/>
                    </a:ext>
                  </a:extLst>
                </a:gridCol>
                <a:gridCol w="1175781">
                  <a:extLst>
                    <a:ext uri="{9D8B030D-6E8A-4147-A177-3AD203B41FA5}">
                      <a16:colId xmlns:a16="http://schemas.microsoft.com/office/drawing/2014/main" val="2509956495"/>
                    </a:ext>
                  </a:extLst>
                </a:gridCol>
              </a:tblGrid>
              <a:tr h="304800">
                <a:tc>
                  <a:txBody>
                    <a:bodyPr/>
                    <a:lstStyle/>
                    <a:p>
                      <a:pPr algn="ctr" fontAlgn="base">
                        <a:lnSpc>
                          <a:spcPts val="1425"/>
                        </a:lnSpc>
                        <a:buNone/>
                      </a:pPr>
                      <a:r>
                        <a:rPr lang="en-US" sz="1200" b="1">
                          <a:solidFill>
                            <a:srgbClr val="FFFFFF"/>
                          </a:solidFill>
                          <a:effectLst/>
                          <a:latin typeface="Times New Roman"/>
                          <a:cs typeface="Times New Roman"/>
                        </a:rPr>
                        <a:t>CW Req</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200" b="1">
                          <a:solidFill>
                            <a:srgbClr val="FFFFFF"/>
                          </a:solidFill>
                          <a:effectLst/>
                          <a:latin typeface="Times New Roman"/>
                          <a:cs typeface="Times New Roman"/>
                        </a:rPr>
                        <a:t>Energy</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35738" cap="flat" cmpd="sng" algn="ctr">
                      <a:solidFill>
                        <a:srgbClr val="FFFFFF"/>
                      </a:solidFill>
                      <a:prstDash val="solid"/>
                      <a:round/>
                      <a:headEnd type="none" w="med" len="med"/>
                      <a:tailEnd type="none" w="med" len="med"/>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HPS Req</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Energy</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LPS Req</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35738">
                      <a:solidFill>
                        <a:srgbClr val="FFFFFF"/>
                      </a:solidFill>
                    </a:lnB>
                    <a:solidFill>
                      <a:srgbClr val="002060"/>
                    </a:solidFill>
                  </a:tcPr>
                </a:tc>
                <a:tc>
                  <a:txBody>
                    <a:bodyPr/>
                    <a:lstStyle/>
                    <a:p>
                      <a:pPr lvl="0" algn="ctr">
                        <a:lnSpc>
                          <a:spcPts val="1425"/>
                        </a:lnSpc>
                        <a:buNone/>
                      </a:pPr>
                      <a:r>
                        <a:rPr lang="en-US" sz="1200" b="1">
                          <a:solidFill>
                            <a:srgbClr val="FFFFFF"/>
                          </a:solidFill>
                          <a:effectLst/>
                          <a:latin typeface="Times New Roman"/>
                          <a:cs typeface="Times New Roman"/>
                        </a:rPr>
                        <a:t>Energy</a:t>
                      </a:r>
                    </a:p>
                  </a:txBody>
                  <a:tcPr anchor="ctr">
                    <a:lnL w="11906">
                      <a:solidFill>
                        <a:srgbClr val="FFFFFF"/>
                      </a:solidFill>
                    </a:lnL>
                    <a:lnR w="11906">
                      <a:solidFill>
                        <a:srgbClr val="FFFFFF"/>
                      </a:solidFill>
                    </a:lnR>
                    <a:lnT w="11906">
                      <a:solidFill>
                        <a:srgbClr val="FFFFFF"/>
                      </a:solidFill>
                    </a:lnT>
                    <a:lnB w="35738">
                      <a:solidFill>
                        <a:srgbClr val="FFFFFF"/>
                      </a:solidFill>
                    </a:lnB>
                    <a:solidFill>
                      <a:srgbClr val="002060"/>
                    </a:solidFill>
                  </a:tcPr>
                </a:tc>
                <a:extLst>
                  <a:ext uri="{0D108BD9-81ED-4DB2-BD59-A6C34878D82A}">
                    <a16:rowId xmlns:a16="http://schemas.microsoft.com/office/drawing/2014/main" val="3801379084"/>
                  </a:ext>
                </a:extLst>
              </a:tr>
              <a:tr h="304800">
                <a:tc>
                  <a:txBody>
                    <a:bodyPr/>
                    <a:lstStyle/>
                    <a:p>
                      <a:pPr algn="ctr" fontAlgn="base">
                        <a:lnSpc>
                          <a:spcPts val="1425"/>
                        </a:lnSpc>
                        <a:buNone/>
                      </a:pPr>
                      <a:r>
                        <a:rPr lang="en-US" sz="1200">
                          <a:effectLst/>
                          <a:latin typeface="Times New Roman"/>
                          <a:cs typeface="Times New Roman"/>
                        </a:rPr>
                        <a:t>C1 Condenser</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US" sz="1200">
                          <a:effectLst/>
                          <a:latin typeface="Times New Roman"/>
                          <a:cs typeface="Times New Roman"/>
                        </a:rPr>
                        <a:t>120098. kW</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C1 Reboiler</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35738"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200">
                          <a:effectLst/>
                          <a:latin typeface="Times New Roman"/>
                          <a:cs typeface="Times New Roman"/>
                        </a:rPr>
                        <a:t>120791 </a:t>
                      </a:r>
                      <a:r>
                        <a:rPr lang="en-US" sz="1200" b="0" i="0" u="none" strike="noStrike" noProof="0">
                          <a:solidFill>
                            <a:srgbClr val="000000"/>
                          </a:solidFill>
                          <a:effectLst/>
                          <a:latin typeface="Times New Roman"/>
                          <a:cs typeface="Times New Roman"/>
                        </a:rPr>
                        <a:t>kW</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35738">
                      <a:solidFill>
                        <a:srgbClr val="FFFFFF"/>
                      </a:solidFill>
                    </a:lnT>
                    <a:lnB w="11906">
                      <a:solidFill>
                        <a:srgbClr val="FFFFFF"/>
                      </a:solidFill>
                    </a:lnB>
                    <a:solidFill>
                      <a:srgbClr val="CCD2D8"/>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a:solidFill>
                        <a:srgbClr val="FFFFFF"/>
                      </a:solidFill>
                    </a:lnR>
                    <a:lnT w="35738">
                      <a:solidFill>
                        <a:srgbClr val="FFFFFF"/>
                      </a:solidFill>
                    </a:lnT>
                    <a:lnB w="11906">
                      <a:solidFill>
                        <a:srgbClr val="FFFFFF"/>
                      </a:solidFill>
                    </a:lnB>
                    <a:solidFill>
                      <a:srgbClr val="CCD2D8"/>
                    </a:solidFill>
                  </a:tcPr>
                </a:tc>
                <a:extLst>
                  <a:ext uri="{0D108BD9-81ED-4DB2-BD59-A6C34878D82A}">
                    <a16:rowId xmlns:a16="http://schemas.microsoft.com/office/drawing/2014/main" val="172329172"/>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C2 Condenser</a:t>
                      </a:r>
                      <a:endParaRPr lang="en-US" err="1">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algn="ctr" fontAlgn="base">
                        <a:lnSpc>
                          <a:spcPts val="1425"/>
                        </a:lnSpc>
                        <a:buNone/>
                      </a:pPr>
                      <a:r>
                        <a:rPr lang="en-IN" sz="1200">
                          <a:effectLst/>
                          <a:latin typeface="Times New Roman"/>
                          <a:cs typeface="Times New Roman"/>
                        </a:rPr>
                        <a:t>202084. kW</a:t>
                      </a:r>
                      <a:endParaRPr lang="en-IN">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endParaRPr lang="en-US" sz="1200" b="0" i="0" u="none" strike="noStrike" noProof="0">
                        <a:solidFill>
                          <a:srgbClr val="000000"/>
                        </a:solidFill>
                        <a:effectLst/>
                        <a:latin typeface="Times New Roman" panose="02020603050405020304" pitchFamily="18" charset="0"/>
                        <a:cs typeface="Times New Roman" panose="02020603050405020304" pitchFamily="18" charset="0"/>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endParaRPr lang="en-IN"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tc>
                  <a:txBody>
                    <a:bodyPr/>
                    <a:lstStyle/>
                    <a:p>
                      <a:pPr lvl="0" algn="ctr">
                        <a:lnSpc>
                          <a:spcPts val="1425"/>
                        </a:lnSpc>
                        <a:buNone/>
                      </a:pPr>
                      <a:r>
                        <a:rPr lang="en-IN" sz="1200">
                          <a:effectLst/>
                          <a:latin typeface="Times New Roman"/>
                          <a:cs typeface="Times New Roman"/>
                        </a:rPr>
                        <a:t>C2 Reboiler</a:t>
                      </a: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CCD2D8"/>
                    </a:solidFill>
                  </a:tcPr>
                </a:tc>
                <a:tc>
                  <a:txBody>
                    <a:bodyPr/>
                    <a:lstStyle/>
                    <a:p>
                      <a:pPr lvl="0" algn="ctr">
                        <a:lnSpc>
                          <a:spcPts val="1425"/>
                        </a:lnSpc>
                        <a:buNone/>
                      </a:pPr>
                      <a:r>
                        <a:rPr lang="en-US" sz="1200">
                          <a:effectLst/>
                          <a:latin typeface="Times New Roman"/>
                          <a:cs typeface="Times New Roman"/>
                        </a:rPr>
                        <a:t>202132</a:t>
                      </a:r>
                      <a:r>
                        <a:rPr lang="en-IN" sz="1200">
                          <a:effectLst/>
                          <a:latin typeface="Times New Roman"/>
                          <a:cs typeface="Times New Roman"/>
                        </a:rPr>
                        <a:t>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CCD2D8"/>
                    </a:solidFill>
                  </a:tcPr>
                </a:tc>
                <a:extLst>
                  <a:ext uri="{0D108BD9-81ED-4DB2-BD59-A6C34878D82A}">
                    <a16:rowId xmlns:a16="http://schemas.microsoft.com/office/drawing/2014/main" val="2913045058"/>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C3 Condenser</a:t>
                      </a:r>
                      <a:endParaRPr lang="en-US" err="1">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algn="ctr" fontAlgn="base">
                        <a:lnSpc>
                          <a:spcPts val="1425"/>
                        </a:lnSpc>
                        <a:buNone/>
                      </a:pPr>
                      <a:r>
                        <a:rPr lang="en-US" sz="1200">
                          <a:effectLst/>
                          <a:latin typeface="Times New Roman"/>
                          <a:cs typeface="Times New Roman"/>
                        </a:rPr>
                        <a:t>4341 KW </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C3 Reboiler</a:t>
                      </a:r>
                      <a:endParaRPr lang="en-US">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4291 </a:t>
                      </a:r>
                      <a:r>
                        <a:rPr lang="en-US" sz="1200" b="0" i="0" u="none" strike="noStrike" noProof="0">
                          <a:solidFill>
                            <a:srgbClr val="000000"/>
                          </a:solidFill>
                          <a:effectLst/>
                          <a:latin typeface="Times New Roman"/>
                          <a:cs typeface="Times New Roman"/>
                        </a:rPr>
                        <a:t>kW</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a:solidFill>
                        <a:srgbClr val="FFFFFF"/>
                      </a:solidFill>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extLst>
                  <a:ext uri="{0D108BD9-81ED-4DB2-BD59-A6C34878D82A}">
                    <a16:rowId xmlns:a16="http://schemas.microsoft.com/office/drawing/2014/main" val="984635660"/>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C4 Condenser</a:t>
                      </a:r>
                      <a:endParaRPr lang="en-US" err="1">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algn="ctr" fontAlgn="base">
                        <a:lnSpc>
                          <a:spcPts val="1425"/>
                        </a:lnSpc>
                        <a:buNone/>
                      </a:pPr>
                      <a:r>
                        <a:rPr lang="en-US" sz="1200">
                          <a:effectLst/>
                          <a:latin typeface="Times New Roman"/>
                          <a:cs typeface="Times New Roman"/>
                        </a:rPr>
                        <a:t>999 kW</a:t>
                      </a:r>
                      <a:endParaRPr lang="en-US">
                        <a:effectLst/>
                        <a:latin typeface="Times New Roman"/>
                        <a:cs typeface="Times New Roman"/>
                      </a:endParaRPr>
                    </a:p>
                  </a:txBody>
                  <a:tcPr anchor="ctr">
                    <a:lnL w="11906" cap="flat" cmpd="sng" algn="ctr">
                      <a:solidFill>
                        <a:srgbClr val="FFFFFF"/>
                      </a:solidFill>
                      <a:prstDash val="solid"/>
                      <a:round/>
                      <a:headEnd type="none" w="med" len="med"/>
                      <a:tailEnd type="none" w="med" len="med"/>
                    </a:lnL>
                    <a:lnR w="11906" cap="flat" cmpd="sng" algn="ctr">
                      <a:solidFill>
                        <a:srgbClr val="FFFFFF"/>
                      </a:solidFill>
                      <a:prstDash val="solid"/>
                      <a:round/>
                      <a:headEnd type="none" w="med" len="med"/>
                      <a:tailEnd type="none" w="med" len="med"/>
                    </a:lnR>
                    <a:lnT w="11906" cap="flat" cmpd="sng" algn="ctr">
                      <a:solidFill>
                        <a:srgbClr val="FFFFFF"/>
                      </a:solidFill>
                      <a:prstDash val="solid"/>
                      <a:round/>
                      <a:headEnd type="none" w="med" len="med"/>
                      <a:tailEnd type="none" w="med" len="med"/>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C4 </a:t>
                      </a:r>
                      <a:r>
                        <a:rPr lang="en-US" sz="1200" b="0" i="0" u="none" strike="noStrike" noProof="0">
                          <a:solidFill>
                            <a:srgbClr val="000000"/>
                          </a:solidFill>
                          <a:effectLst/>
                          <a:latin typeface="Times New Roman"/>
                          <a:cs typeface="Times New Roman"/>
                        </a:rPr>
                        <a:t>Reboiler</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r>
                        <a:rPr lang="en-US" sz="1200">
                          <a:effectLst/>
                          <a:latin typeface="Times New Roman"/>
                          <a:cs typeface="Times New Roman"/>
                        </a:rPr>
                        <a:t>1000 </a:t>
                      </a:r>
                      <a:r>
                        <a:rPr lang="en-US" sz="1200" b="0" i="0" u="none" strike="noStrike" noProof="0">
                          <a:solidFill>
                            <a:srgbClr val="000000"/>
                          </a:solidFill>
                          <a:effectLst/>
                          <a:latin typeface="Times New Roman"/>
                          <a:cs typeface="Times New Roman"/>
                        </a:rPr>
                        <a:t>kW</a:t>
                      </a:r>
                      <a:endParaRPr lang="en-US" sz="1200">
                        <a:effectLst/>
                        <a:latin typeface="Times New Roman"/>
                        <a:cs typeface="Times New Roman"/>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cap="flat" cmpd="sng" algn="ctr">
                      <a:solidFill>
                        <a:srgbClr val="FFFFFF"/>
                      </a:solidFill>
                      <a:prstDash val="solid"/>
                      <a:round/>
                      <a:headEnd type="none" w="med" len="med"/>
                      <a:tailEnd type="none" w="med" len="med"/>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tc>
                  <a:txBody>
                    <a:bodyPr/>
                    <a:lstStyle/>
                    <a:p>
                      <a:pPr lvl="0" algn="ctr">
                        <a:lnSpc>
                          <a:spcPts val="1425"/>
                        </a:lnSpc>
                        <a:buNone/>
                      </a:pPr>
                      <a:endParaRPr lang="en-US" sz="1200">
                        <a:effectLst/>
                        <a:latin typeface="Times New Roman" panose="02020603050405020304" pitchFamily="18" charset="0"/>
                        <a:cs typeface="Times New Roman" panose="02020603050405020304" pitchFamily="18" charset="0"/>
                      </a:endParaRPr>
                    </a:p>
                  </a:txBody>
                  <a:tcPr anchor="ctr">
                    <a:lnL w="11906">
                      <a:solidFill>
                        <a:srgbClr val="FFFFFF"/>
                      </a:solidFill>
                    </a:lnL>
                    <a:lnR w="11906">
                      <a:solidFill>
                        <a:srgbClr val="FFFFFF"/>
                      </a:solidFill>
                    </a:lnR>
                    <a:lnT w="11906">
                      <a:solidFill>
                        <a:srgbClr val="FFFFFF"/>
                      </a:solidFill>
                    </a:lnT>
                    <a:lnB w="11906"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980677396"/>
                  </a:ext>
                </a:extLst>
              </a:tr>
              <a:tr h="304800">
                <a:tc>
                  <a:txBody>
                    <a:bodyPr/>
                    <a:lstStyle/>
                    <a:p>
                      <a:pPr lvl="0" algn="ctr">
                        <a:lnSpc>
                          <a:spcPts val="1425"/>
                        </a:lnSpc>
                        <a:buNone/>
                      </a:pPr>
                      <a:r>
                        <a:rPr lang="en-US" sz="1200" b="0" i="0" u="none" strike="noStrike" noProof="0">
                          <a:solidFill>
                            <a:srgbClr val="000000"/>
                          </a:solidFill>
                          <a:effectLst/>
                          <a:latin typeface="Times New Roman"/>
                          <a:cs typeface="Times New Roman"/>
                        </a:rPr>
                        <a:t>Net</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327522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b="0" i="0" u="none" strike="noStrike" noProof="0">
                          <a:solidFill>
                            <a:srgbClr val="000000"/>
                          </a:solidFill>
                          <a:effectLst/>
                          <a:latin typeface="Times New Roman"/>
                          <a:cs typeface="Times New Roman"/>
                        </a:rPr>
                        <a:t>Net</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126082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Net</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tc>
                  <a:txBody>
                    <a:bodyPr/>
                    <a:lstStyle/>
                    <a:p>
                      <a:pPr lvl="0" algn="ctr">
                        <a:lnSpc>
                          <a:spcPts val="1425"/>
                        </a:lnSpc>
                        <a:buNone/>
                      </a:pPr>
                      <a:r>
                        <a:rPr lang="en-US" sz="1200">
                          <a:effectLst/>
                          <a:latin typeface="Times New Roman"/>
                          <a:cs typeface="Times New Roman"/>
                        </a:rPr>
                        <a:t>202132 kW</a:t>
                      </a:r>
                    </a:p>
                  </a:txBody>
                  <a:tcPr anchor="ctr">
                    <a:lnL w="11906">
                      <a:solidFill>
                        <a:srgbClr val="FFFFFF"/>
                      </a:solidFill>
                    </a:lnL>
                    <a:lnR w="11906">
                      <a:solidFill>
                        <a:srgbClr val="FFFFFF"/>
                      </a:solidFill>
                    </a:lnR>
                    <a:lnT w="11906">
                      <a:solidFill>
                        <a:srgbClr val="FFFFFF"/>
                      </a:solidFill>
                    </a:lnT>
                    <a:lnB w="11906">
                      <a:solidFill>
                        <a:srgbClr val="FFFFFF"/>
                      </a:solidFill>
                    </a:lnB>
                    <a:solidFill>
                      <a:srgbClr val="E7EAED"/>
                    </a:solidFill>
                  </a:tcPr>
                </a:tc>
                <a:extLst>
                  <a:ext uri="{0D108BD9-81ED-4DB2-BD59-A6C34878D82A}">
                    <a16:rowId xmlns:a16="http://schemas.microsoft.com/office/drawing/2014/main" val="4188739953"/>
                  </a:ext>
                </a:extLst>
              </a:tr>
            </a:tbl>
          </a:graphicData>
        </a:graphic>
      </p:graphicFrame>
    </p:spTree>
    <p:extLst>
      <p:ext uri="{BB962C8B-B14F-4D97-AF65-F5344CB8AC3E}">
        <p14:creationId xmlns:p14="http://schemas.microsoft.com/office/powerpoint/2010/main" val="1371050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6394-4EBA-B961-0C1C-260EB79F51E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6A05ECA-DB60-E1E8-146F-3B8725BAFB67}"/>
              </a:ext>
            </a:extLst>
          </p:cNvPr>
          <p:cNvGraphicFramePr>
            <a:graphicFrameLocks noGrp="1"/>
          </p:cNvGraphicFramePr>
          <p:nvPr>
            <p:extLst>
              <p:ext uri="{D42A27DB-BD31-4B8C-83A1-F6EECF244321}">
                <p14:modId xmlns:p14="http://schemas.microsoft.com/office/powerpoint/2010/main" val="2718164250"/>
              </p:ext>
            </p:extLst>
          </p:nvPr>
        </p:nvGraphicFramePr>
        <p:xfrm>
          <a:off x="892868" y="1427860"/>
          <a:ext cx="4624154" cy="2194560"/>
        </p:xfrm>
        <a:graphic>
          <a:graphicData uri="http://schemas.openxmlformats.org/drawingml/2006/table">
            <a:tbl>
              <a:tblPr bandRow="1">
                <a:tableStyleId>{5C22544A-7EE6-4342-B048-85BDC9FD1C3A}</a:tableStyleId>
              </a:tblPr>
              <a:tblGrid>
                <a:gridCol w="1728577">
                  <a:extLst>
                    <a:ext uri="{9D8B030D-6E8A-4147-A177-3AD203B41FA5}">
                      <a16:colId xmlns:a16="http://schemas.microsoft.com/office/drawing/2014/main" val="3996624"/>
                    </a:ext>
                  </a:extLst>
                </a:gridCol>
                <a:gridCol w="2895577">
                  <a:extLst>
                    <a:ext uri="{9D8B030D-6E8A-4147-A177-3AD203B41FA5}">
                      <a16:colId xmlns:a16="http://schemas.microsoft.com/office/drawing/2014/main" val="1850449956"/>
                    </a:ext>
                  </a:extLst>
                </a:gridCol>
              </a:tblGrid>
              <a:tr h="365760">
                <a:tc>
                  <a:txBody>
                    <a:bodyPr/>
                    <a:lstStyle/>
                    <a:p>
                      <a:pPr algn="ctr" fontAlgn="base">
                        <a:lnSpc>
                          <a:spcPts val="1425"/>
                        </a:lnSpc>
                        <a:buNone/>
                      </a:pPr>
                      <a:r>
                        <a:rPr lang="en-US" sz="1800" b="1">
                          <a:solidFill>
                            <a:srgbClr val="FFFFFF"/>
                          </a:solidFill>
                          <a:effectLst/>
                          <a:latin typeface="Times New Roman"/>
                          <a:cs typeface="Times New Roman"/>
                        </a:rPr>
                        <a:t>Stream</a:t>
                      </a: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tc>
                  <a:txBody>
                    <a:bodyPr/>
                    <a:lstStyle/>
                    <a:p>
                      <a:pPr algn="ctr" fontAlgn="base">
                        <a:lnSpc>
                          <a:spcPts val="1425"/>
                        </a:lnSpc>
                        <a:buNone/>
                      </a:pPr>
                      <a:r>
                        <a:rPr lang="en-US" sz="1800" b="1">
                          <a:solidFill>
                            <a:srgbClr val="FFFFFF"/>
                          </a:solidFill>
                          <a:effectLst/>
                          <a:latin typeface="Times New Roman"/>
                          <a:cs typeface="Times New Roman"/>
                        </a:rPr>
                        <a:t>Electricity Produced (kW)</a:t>
                      </a: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759969731"/>
                  </a:ext>
                </a:extLst>
              </a:tr>
              <a:tr h="365760">
                <a:tc>
                  <a:txBody>
                    <a:bodyPr/>
                    <a:lstStyle/>
                    <a:p>
                      <a:pPr algn="ctr" fontAlgn="base">
                        <a:lnSpc>
                          <a:spcPts val="1425"/>
                        </a:lnSpc>
                        <a:buNone/>
                      </a:pPr>
                      <a:r>
                        <a:rPr lang="en-US" sz="1800">
                          <a:effectLst/>
                          <a:latin typeface="Times New Roman"/>
                          <a:cs typeface="Times New Roman"/>
                        </a:rPr>
                        <a:t>ELEC1</a:t>
                      </a: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lvl="0" algn="ctr">
                        <a:lnSpc>
                          <a:spcPts val="1425"/>
                        </a:lnSpc>
                        <a:buNone/>
                      </a:pPr>
                      <a:r>
                        <a:rPr lang="en-US" sz="1800">
                          <a:effectLst/>
                          <a:latin typeface="Times New Roman"/>
                          <a:cs typeface="Times New Roman"/>
                        </a:rPr>
                        <a:t>5.98 x 10</a:t>
                      </a:r>
                      <a:r>
                        <a:rPr lang="en-US" sz="1800" baseline="30000">
                          <a:effectLst/>
                          <a:latin typeface="Times New Roman"/>
                          <a:cs typeface="Times New Roman"/>
                        </a:rPr>
                        <a:t>9</a:t>
                      </a:r>
                      <a:endParaRPr lang="en-US" sz="1800">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015990965"/>
                  </a:ext>
                </a:extLst>
              </a:tr>
              <a:tr h="365760">
                <a:tc>
                  <a:txBody>
                    <a:bodyPr/>
                    <a:lstStyle/>
                    <a:p>
                      <a:pPr lvl="0" algn="ctr">
                        <a:lnSpc>
                          <a:spcPts val="1425"/>
                        </a:lnSpc>
                        <a:buNone/>
                      </a:pPr>
                      <a:r>
                        <a:rPr lang="en-US" sz="1800" b="0" i="0" u="none" strike="noStrike" noProof="0">
                          <a:solidFill>
                            <a:srgbClr val="000000"/>
                          </a:solidFill>
                          <a:effectLst/>
                          <a:latin typeface="Times New Roman"/>
                          <a:cs typeface="Times New Roman"/>
                        </a:rPr>
                        <a:t>ELEC2</a:t>
                      </a:r>
                      <a:endParaRPr lang="en-US" sz="1800">
                        <a:effectLst/>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lang="en-US" sz="1800">
                          <a:effectLst/>
                          <a:latin typeface="Times New Roman"/>
                          <a:cs typeface="Times New Roman"/>
                        </a:rPr>
                        <a:t>1.70 x 10</a:t>
                      </a:r>
                      <a:r>
                        <a:rPr lang="en-US" sz="1800" baseline="30000">
                          <a:effectLst/>
                          <a:latin typeface="Times New Roman"/>
                          <a:cs typeface="Times New Roman"/>
                        </a:rPr>
                        <a:t>10</a:t>
                      </a:r>
                      <a:endParaRPr lang="en-US" sz="1800">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579516569"/>
                  </a:ext>
                </a:extLst>
              </a:tr>
              <a:tr h="365760">
                <a:tc>
                  <a:txBody>
                    <a:bodyPr/>
                    <a:lstStyle/>
                    <a:p>
                      <a:pPr lvl="0" algn="ctr">
                        <a:lnSpc>
                          <a:spcPts val="1425"/>
                        </a:lnSpc>
                        <a:buNone/>
                      </a:pPr>
                      <a:r>
                        <a:rPr lang="en-US" sz="1800" b="0" i="0" u="none" strike="noStrike" noProof="0">
                          <a:solidFill>
                            <a:srgbClr val="000000"/>
                          </a:solidFill>
                          <a:effectLst/>
                          <a:latin typeface="Times New Roman"/>
                          <a:cs typeface="Times New Roman"/>
                        </a:rPr>
                        <a:t>ELEC3</a:t>
                      </a:r>
                      <a:endParaRPr lang="en-US" sz="1800">
                        <a:effectLst/>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tc>
                  <a:txBody>
                    <a:bodyPr/>
                    <a:lstStyle/>
                    <a:p>
                      <a:pPr marL="0" marR="0" lvl="0" indent="0" algn="ctr" defTabSz="914400" rtl="0" eaLnBrk="1" fontAlgn="auto" latinLnBrk="0" hangingPunct="1">
                        <a:lnSpc>
                          <a:spcPts val="1425"/>
                        </a:lnSpc>
                        <a:spcBef>
                          <a:spcPts val="0"/>
                        </a:spcBef>
                        <a:spcAft>
                          <a:spcPts val="0"/>
                        </a:spcAft>
                        <a:buClrTx/>
                        <a:buSzTx/>
                        <a:buFontTx/>
                        <a:buNone/>
                        <a:tabLst/>
                        <a:defRPr/>
                      </a:pPr>
                      <a:r>
                        <a:rPr lang="en-US" sz="1800">
                          <a:effectLst/>
                          <a:latin typeface="Times New Roman"/>
                          <a:cs typeface="Times New Roman"/>
                        </a:rPr>
                        <a:t>1.14 x 10</a:t>
                      </a:r>
                      <a:r>
                        <a:rPr lang="en-US" sz="1800" baseline="30000">
                          <a:effectLst/>
                          <a:latin typeface="Times New Roman"/>
                          <a:cs typeface="Times New Roman"/>
                        </a:rPr>
                        <a:t>10</a:t>
                      </a:r>
                      <a:endParaRPr lang="en-US" sz="1800">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34795699"/>
                  </a:ext>
                </a:extLst>
              </a:tr>
              <a:tr h="365760">
                <a:tc>
                  <a:txBody>
                    <a:bodyPr/>
                    <a:lstStyle/>
                    <a:p>
                      <a:pPr lvl="0" algn="ctr">
                        <a:lnSpc>
                          <a:spcPts val="1425"/>
                        </a:lnSpc>
                        <a:buNone/>
                      </a:pPr>
                      <a:r>
                        <a:rPr lang="en-US" sz="1800" b="0" i="0" u="none" strike="noStrike" noProof="0">
                          <a:solidFill>
                            <a:srgbClr val="000000"/>
                          </a:solidFill>
                          <a:effectLst/>
                          <a:latin typeface="Times New Roman"/>
                          <a:cs typeface="Times New Roman"/>
                        </a:rPr>
                        <a:t>ELEC4</a:t>
                      </a:r>
                      <a:endParaRPr lang="en-US" sz="1800">
                        <a:effectLst/>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lang="en-IN" sz="1800">
                          <a:effectLst/>
                          <a:latin typeface="Times New Roman"/>
                          <a:cs typeface="Times New Roman"/>
                        </a:rPr>
                        <a:t>8.21 </a:t>
                      </a:r>
                      <a:r>
                        <a:rPr lang="en-US" sz="1800">
                          <a:effectLst/>
                          <a:latin typeface="Times New Roman"/>
                          <a:cs typeface="Times New Roman"/>
                        </a:rPr>
                        <a:t>x 10</a:t>
                      </a:r>
                      <a:r>
                        <a:rPr lang="en-US" sz="1800" baseline="30000">
                          <a:effectLst/>
                          <a:latin typeface="Times New Roman"/>
                          <a:cs typeface="Times New Roman"/>
                        </a:rPr>
                        <a:t>9</a:t>
                      </a:r>
                      <a:endParaRPr lang="en-US" sz="1800">
                        <a:latin typeface="Times New Roman"/>
                        <a:cs typeface="Times New Roman"/>
                      </a:endParaRPr>
                    </a:p>
                  </a:txBody>
                  <a:tcPr marL="106256" marR="106256" marT="53128" marB="53128" anchor="b">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812573227"/>
                  </a:ext>
                </a:extLst>
              </a:tr>
              <a:tr h="365760">
                <a:tc>
                  <a:txBody>
                    <a:bodyPr/>
                    <a:lstStyle/>
                    <a:p>
                      <a:pPr lvl="0" algn="ctr">
                        <a:lnSpc>
                          <a:spcPts val="1425"/>
                        </a:lnSpc>
                        <a:buNone/>
                      </a:pPr>
                      <a:r>
                        <a:rPr lang="en-US" sz="1800" b="0" i="0" u="none" strike="noStrike" noProof="0">
                          <a:solidFill>
                            <a:srgbClr val="000000"/>
                          </a:solidFill>
                          <a:effectLst/>
                          <a:latin typeface="Times New Roman"/>
                          <a:cs typeface="Times New Roman"/>
                        </a:rPr>
                        <a:t>TOTAL</a:t>
                      </a:r>
                    </a:p>
                  </a:txBody>
                  <a:tcPr marL="106256" marR="106256" marT="53128" marB="53128" anchor="b">
                    <a:lnL w="12058">
                      <a:solidFill>
                        <a:srgbClr val="FFFFFF"/>
                      </a:solidFill>
                    </a:lnL>
                    <a:lnR w="12058">
                      <a:solidFill>
                        <a:srgbClr val="FFFFFF"/>
                      </a:solidFill>
                    </a:lnR>
                    <a:lnT w="12059" cap="flat" cmpd="sng" algn="ctr">
                      <a:solidFill>
                        <a:srgbClr val="FFFFFF"/>
                      </a:solidFill>
                      <a:prstDash val="solid"/>
                      <a:round/>
                      <a:headEnd type="none" w="med" len="med"/>
                      <a:tailEnd type="none" w="med" len="med"/>
                    </a:lnT>
                    <a:lnB w="12058">
                      <a:solidFill>
                        <a:srgbClr val="FFFFFF"/>
                      </a:solidFill>
                    </a:lnB>
                    <a:solidFill>
                      <a:srgbClr val="E7EAED"/>
                    </a:solidFill>
                  </a:tcPr>
                </a:tc>
                <a:tc>
                  <a:txBody>
                    <a:bodyPr/>
                    <a:lstStyle/>
                    <a:p>
                      <a:pPr marL="0" marR="0" lvl="0" indent="0" algn="ctr" defTabSz="914400" rtl="0" eaLnBrk="1" fontAlgn="auto" latinLnBrk="0" hangingPunct="1">
                        <a:lnSpc>
                          <a:spcPts val="1425"/>
                        </a:lnSpc>
                        <a:spcBef>
                          <a:spcPts val="0"/>
                        </a:spcBef>
                        <a:spcAft>
                          <a:spcPts val="0"/>
                        </a:spcAft>
                        <a:buClrTx/>
                        <a:buSzTx/>
                        <a:buFontTx/>
                        <a:buNone/>
                        <a:tabLst/>
                        <a:defRPr/>
                      </a:pPr>
                      <a:r>
                        <a:rPr lang="en-IN" sz="1800">
                          <a:effectLst/>
                          <a:latin typeface="Times New Roman"/>
                          <a:cs typeface="Times New Roman"/>
                        </a:rPr>
                        <a:t>4.26 </a:t>
                      </a:r>
                      <a:r>
                        <a:rPr lang="en-US" sz="1800">
                          <a:effectLst/>
                          <a:latin typeface="Times New Roman"/>
                          <a:cs typeface="Times New Roman"/>
                        </a:rPr>
                        <a:t>x 10</a:t>
                      </a:r>
                      <a:r>
                        <a:rPr lang="en-US" sz="1800" baseline="30000">
                          <a:effectLst/>
                          <a:latin typeface="Times New Roman"/>
                          <a:cs typeface="Times New Roman"/>
                        </a:rPr>
                        <a:t>10</a:t>
                      </a:r>
                      <a:endParaRPr lang="en-US" sz="1800">
                        <a:latin typeface="Times New Roman"/>
                        <a:cs typeface="Times New Roman"/>
                      </a:endParaRPr>
                    </a:p>
                  </a:txBody>
                  <a:tcPr marL="106256" marR="106256" marT="53128" marB="53128" anchor="b">
                    <a:lnL w="12058">
                      <a:solidFill>
                        <a:srgbClr val="FFFFFF"/>
                      </a:solidFill>
                    </a:lnL>
                    <a:lnR w="12058">
                      <a:solidFill>
                        <a:srgbClr val="FFFFFF"/>
                      </a:solidFill>
                    </a:lnR>
                    <a:lnT w="12059" cap="flat" cmpd="sng" algn="ctr">
                      <a:solidFill>
                        <a:srgbClr val="FFFFFF"/>
                      </a:solidFill>
                      <a:prstDash val="solid"/>
                      <a:round/>
                      <a:headEnd type="none" w="med" len="med"/>
                      <a:tailEnd type="none" w="med" len="med"/>
                    </a:lnT>
                    <a:lnB w="12058">
                      <a:solidFill>
                        <a:srgbClr val="FFFFFF"/>
                      </a:solidFill>
                    </a:lnB>
                    <a:solidFill>
                      <a:srgbClr val="E7EAED"/>
                    </a:solidFill>
                  </a:tcPr>
                </a:tc>
                <a:extLst>
                  <a:ext uri="{0D108BD9-81ED-4DB2-BD59-A6C34878D82A}">
                    <a16:rowId xmlns:a16="http://schemas.microsoft.com/office/drawing/2014/main" val="2776956176"/>
                  </a:ext>
                </a:extLst>
              </a:tr>
            </a:tbl>
          </a:graphicData>
        </a:graphic>
      </p:graphicFrame>
      <p:sp>
        <p:nvSpPr>
          <p:cNvPr id="2" name="Slide Number Placeholder 1">
            <a:extLst>
              <a:ext uri="{FF2B5EF4-FFF2-40B4-BE49-F238E27FC236}">
                <a16:creationId xmlns:a16="http://schemas.microsoft.com/office/drawing/2014/main" id="{00F2810B-7480-9272-2010-4AED0113B64E}"/>
              </a:ext>
            </a:extLst>
          </p:cNvPr>
          <p:cNvSpPr>
            <a:spLocks noGrp="1"/>
          </p:cNvSpPr>
          <p:nvPr>
            <p:ph type="sldNum" sz="quarter" idx="12"/>
          </p:nvPr>
        </p:nvSpPr>
        <p:spPr/>
        <p:txBody>
          <a:bodyPr/>
          <a:lstStyle/>
          <a:p>
            <a:fld id="{330EA680-D336-4FF7-8B7A-9848BB0A1C32}" type="slidenum">
              <a:rPr lang="en-US" smtClean="0"/>
              <a:t>40</a:t>
            </a:fld>
            <a:endParaRPr lang="en-US"/>
          </a:p>
        </p:txBody>
      </p:sp>
      <p:sp>
        <p:nvSpPr>
          <p:cNvPr id="8" name="Rectangle 7">
            <a:extLst>
              <a:ext uri="{FF2B5EF4-FFF2-40B4-BE49-F238E27FC236}">
                <a16:creationId xmlns:a16="http://schemas.microsoft.com/office/drawing/2014/main" id="{A24B4494-7111-478C-AD6C-8BAD6C43961B}"/>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Cogeneration Analysis: Net Electricity Generation</a:t>
            </a:r>
          </a:p>
        </p:txBody>
      </p:sp>
      <p:sp>
        <p:nvSpPr>
          <p:cNvPr id="3" name="TextBox 2">
            <a:extLst>
              <a:ext uri="{FF2B5EF4-FFF2-40B4-BE49-F238E27FC236}">
                <a16:creationId xmlns:a16="http://schemas.microsoft.com/office/drawing/2014/main" id="{4680B581-A00A-5340-910F-401053AC8CAC}"/>
              </a:ext>
            </a:extLst>
          </p:cNvPr>
          <p:cNvSpPr txBox="1"/>
          <p:nvPr/>
        </p:nvSpPr>
        <p:spPr>
          <a:xfrm>
            <a:off x="6196852" y="1425142"/>
            <a:ext cx="5669533" cy="313932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defRPr/>
            </a:pPr>
            <a:r>
              <a:rPr lang="en-US" b="1">
                <a:solidFill>
                  <a:schemeClr val="accent2"/>
                </a:solidFill>
                <a:latin typeface="Times New Roman"/>
                <a:cs typeface="Times New Roman"/>
              </a:rPr>
              <a:t>Mass flows of reactants taken initially :-</a:t>
            </a: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Methanol: 6964.89 kg/</a:t>
            </a:r>
            <a:r>
              <a:rPr lang="en-US" b="1" err="1">
                <a:solidFill>
                  <a:schemeClr val="accent2"/>
                </a:solidFill>
                <a:latin typeface="Times New Roman"/>
                <a:cs typeface="Times New Roman"/>
              </a:rPr>
              <a:t>hr</a:t>
            </a:r>
            <a:r>
              <a:rPr lang="en-US" b="1">
                <a:solidFill>
                  <a:schemeClr val="accent2"/>
                </a:solidFill>
                <a:latin typeface="Times New Roman"/>
                <a:cs typeface="Times New Roman"/>
              </a:rPr>
              <a:t>, Benzoic acid: 12016.40 kg/</a:t>
            </a:r>
            <a:r>
              <a:rPr lang="en-US" b="1" err="1">
                <a:solidFill>
                  <a:schemeClr val="accent2"/>
                </a:solidFill>
                <a:latin typeface="Times New Roman"/>
                <a:cs typeface="Times New Roman"/>
              </a:rPr>
              <a:t>hr</a:t>
            </a:r>
            <a:endParaRPr lang="en-US" b="1">
              <a:solidFill>
                <a:schemeClr val="accent2"/>
              </a:solidFill>
              <a:latin typeface="Times New Roman"/>
              <a:cs typeface="Times New Roman"/>
            </a:endParaRPr>
          </a:p>
          <a:p>
            <a:pPr algn="just">
              <a:defRPr/>
            </a:pP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Mass of products formed:-</a:t>
            </a:r>
          </a:p>
          <a:p>
            <a:pPr algn="just">
              <a:defRPr/>
            </a:pPr>
            <a:r>
              <a:rPr lang="en-US" b="1">
                <a:solidFill>
                  <a:schemeClr val="accent2"/>
                </a:solidFill>
                <a:latin typeface="Times New Roman"/>
                <a:cs typeface="Times New Roman"/>
              </a:rPr>
              <a:t>Methyl benzoate: 13396.4 kg/</a:t>
            </a:r>
            <a:r>
              <a:rPr lang="en-US" b="1" err="1">
                <a:solidFill>
                  <a:schemeClr val="accent2"/>
                </a:solidFill>
                <a:latin typeface="Times New Roman"/>
                <a:cs typeface="Times New Roman"/>
              </a:rPr>
              <a:t>hr</a:t>
            </a:r>
            <a:endParaRPr lang="en-US" b="1">
              <a:solidFill>
                <a:schemeClr val="accent2"/>
              </a:solidFill>
              <a:latin typeface="Times New Roman"/>
              <a:cs typeface="Times New Roman"/>
            </a:endParaRPr>
          </a:p>
          <a:p>
            <a:pPr algn="just">
              <a:defRPr/>
            </a:pP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Total mass flow of water required in Rankine Cycle:-</a:t>
            </a:r>
          </a:p>
          <a:p>
            <a:pPr algn="just">
              <a:defRPr/>
            </a:pPr>
            <a:r>
              <a:rPr lang="en-US" b="1">
                <a:solidFill>
                  <a:schemeClr val="accent2"/>
                </a:solidFill>
                <a:latin typeface="Times New Roman"/>
                <a:cs typeface="Times New Roman"/>
              </a:rPr>
              <a:t>Water: 1.62 x 10</a:t>
            </a:r>
            <a:r>
              <a:rPr lang="en-US" b="1" baseline="30000">
                <a:solidFill>
                  <a:schemeClr val="accent2"/>
                </a:solidFill>
                <a:latin typeface="Times New Roman"/>
                <a:cs typeface="Times New Roman"/>
              </a:rPr>
              <a:t>11</a:t>
            </a:r>
            <a:r>
              <a:rPr lang="en-US" b="1">
                <a:solidFill>
                  <a:schemeClr val="accent2"/>
                </a:solidFill>
                <a:latin typeface="Times New Roman"/>
                <a:cs typeface="Times New Roman"/>
              </a:rPr>
              <a:t> kg/</a:t>
            </a:r>
            <a:r>
              <a:rPr lang="en-US" b="1" err="1">
                <a:solidFill>
                  <a:schemeClr val="accent2"/>
                </a:solidFill>
                <a:latin typeface="Times New Roman"/>
                <a:cs typeface="Times New Roman"/>
              </a:rPr>
              <a:t>hr</a:t>
            </a:r>
            <a:r>
              <a:rPr lang="en-US" b="1">
                <a:solidFill>
                  <a:schemeClr val="accent2"/>
                </a:solidFill>
                <a:latin typeface="Times New Roman"/>
                <a:cs typeface="Times New Roman"/>
              </a:rPr>
              <a:t> (Hot Utility)</a:t>
            </a:r>
          </a:p>
          <a:p>
            <a:pPr algn="just">
              <a:defRPr/>
            </a:pP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Total flow of Cooling Water required:- </a:t>
            </a:r>
            <a:endParaRPr lang="en-US" b="1">
              <a:solidFill>
                <a:schemeClr val="accent2"/>
              </a:solidFill>
              <a:latin typeface="Times New Roman" panose="02020603050405020304" pitchFamily="18" charset="0"/>
              <a:cs typeface="Times New Roman" panose="02020603050405020304" pitchFamily="18" charset="0"/>
            </a:endParaRPr>
          </a:p>
          <a:p>
            <a:pPr algn="just">
              <a:defRPr/>
            </a:pPr>
            <a:r>
              <a:rPr lang="en-US" b="1">
                <a:solidFill>
                  <a:schemeClr val="accent2"/>
                </a:solidFill>
                <a:latin typeface="Times New Roman"/>
                <a:cs typeface="Times New Roman"/>
              </a:rPr>
              <a:t>Water:1.44 x 10</a:t>
            </a:r>
            <a:r>
              <a:rPr lang="en-US" b="1" baseline="30000">
                <a:solidFill>
                  <a:schemeClr val="accent2"/>
                </a:solidFill>
                <a:latin typeface="Times New Roman"/>
                <a:cs typeface="Times New Roman"/>
              </a:rPr>
              <a:t>7  </a:t>
            </a:r>
            <a:r>
              <a:rPr lang="en-US" b="1">
                <a:solidFill>
                  <a:schemeClr val="accent2"/>
                </a:solidFill>
                <a:latin typeface="Times New Roman"/>
                <a:cs typeface="Times New Roman"/>
              </a:rPr>
              <a:t>kg/</a:t>
            </a:r>
            <a:r>
              <a:rPr lang="en-US" b="1" err="1">
                <a:solidFill>
                  <a:schemeClr val="accent2"/>
                </a:solidFill>
                <a:latin typeface="Times New Roman"/>
                <a:cs typeface="Times New Roman"/>
              </a:rPr>
              <a:t>hr</a:t>
            </a:r>
            <a:r>
              <a:rPr lang="en-US" b="1">
                <a:solidFill>
                  <a:schemeClr val="accent2"/>
                </a:solidFill>
                <a:latin typeface="Times New Roman"/>
                <a:cs typeface="Times New Roman"/>
              </a:rPr>
              <a:t> (Cold Utility)</a:t>
            </a:r>
            <a:endParaRPr lang="en-US" b="1">
              <a:solidFill>
                <a:schemeClr val="accent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70AE5A3-29B7-26E4-D76F-B07A4E0D7715}"/>
              </a:ext>
            </a:extLst>
          </p:cNvPr>
          <p:cNvSpPr txBox="1"/>
          <p:nvPr/>
        </p:nvSpPr>
        <p:spPr>
          <a:xfrm>
            <a:off x="5359" y="5080694"/>
            <a:ext cx="12008488" cy="1077218"/>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400">
                <a:solidFill>
                  <a:srgbClr val="D76DCC"/>
                </a:solidFill>
                <a:latin typeface="Times New Roman"/>
                <a:cs typeface="Times New Roman"/>
              </a:rPr>
              <a:t>Methanol : Benzoic Acid : Methyl Benzoate : Hot Stream Utility : Cold Stream Utility</a:t>
            </a:r>
          </a:p>
          <a:p>
            <a:pPr algn="ctr">
              <a:defRPr/>
            </a:pPr>
            <a:endParaRPr lang="en-US" sz="800" b="1">
              <a:solidFill>
                <a:srgbClr val="D76DCC"/>
              </a:solidFill>
              <a:latin typeface="Times New Roman"/>
              <a:cs typeface="Times New Roman"/>
            </a:endParaRPr>
          </a:p>
          <a:p>
            <a:pPr algn="ctr">
              <a:defRPr/>
            </a:pPr>
            <a:r>
              <a:rPr lang="en-US" sz="3200" b="1">
                <a:solidFill>
                  <a:srgbClr val="D76DCC"/>
                </a:solidFill>
                <a:latin typeface="Times New Roman"/>
                <a:cs typeface="Times New Roman"/>
              </a:rPr>
              <a:t>1 : 1.73 : 1.92 : 2.33 x 10</a:t>
            </a:r>
            <a:r>
              <a:rPr lang="en-US" sz="3200" b="1" baseline="30000">
                <a:solidFill>
                  <a:srgbClr val="D76DCC"/>
                </a:solidFill>
                <a:latin typeface="Times New Roman"/>
                <a:cs typeface="Times New Roman"/>
              </a:rPr>
              <a:t>7</a:t>
            </a:r>
            <a:r>
              <a:rPr lang="en-US" sz="3200" b="1">
                <a:solidFill>
                  <a:srgbClr val="D76DCC"/>
                </a:solidFill>
                <a:latin typeface="Times New Roman"/>
                <a:cs typeface="Times New Roman"/>
              </a:rPr>
              <a:t> : 2.067 x 10</a:t>
            </a:r>
            <a:r>
              <a:rPr lang="en-US" sz="3200" b="1" baseline="30000">
                <a:solidFill>
                  <a:srgbClr val="D76DCC"/>
                </a:solidFill>
                <a:latin typeface="Times New Roman"/>
                <a:cs typeface="Times New Roman"/>
              </a:rPr>
              <a:t>3</a:t>
            </a:r>
            <a:endParaRPr lang="en-US" sz="3200" b="1">
              <a:solidFill>
                <a:srgbClr val="D76D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340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7BC47-24F0-E77B-4B4A-76C9C7F042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774A40-2A4B-C519-301D-793146585484}"/>
              </a:ext>
            </a:extLst>
          </p:cNvPr>
          <p:cNvSpPr>
            <a:spLocks noGrp="1"/>
          </p:cNvSpPr>
          <p:nvPr>
            <p:ph type="sldNum" sz="quarter" idx="12"/>
          </p:nvPr>
        </p:nvSpPr>
        <p:spPr/>
        <p:txBody>
          <a:bodyPr/>
          <a:lstStyle/>
          <a:p>
            <a:fld id="{330EA680-D336-4FF7-8B7A-9848BB0A1C32}" type="slidenum">
              <a:rPr lang="en-US" smtClean="0"/>
              <a:t>41</a:t>
            </a:fld>
            <a:endParaRPr lang="en-US"/>
          </a:p>
        </p:txBody>
      </p:sp>
      <p:sp>
        <p:nvSpPr>
          <p:cNvPr id="4" name="Rectangle 3">
            <a:extLst>
              <a:ext uri="{FF2B5EF4-FFF2-40B4-BE49-F238E27FC236}">
                <a16:creationId xmlns:a16="http://schemas.microsoft.com/office/drawing/2014/main" id="{7827AB38-4C24-BFC0-95F4-DCEB8A8A61CE}"/>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Cooling water loop</a:t>
            </a:r>
            <a:endParaRPr lang="en-US"/>
          </a:p>
        </p:txBody>
      </p:sp>
      <p:pic>
        <p:nvPicPr>
          <p:cNvPr id="7" name="Picture 6">
            <a:extLst>
              <a:ext uri="{FF2B5EF4-FFF2-40B4-BE49-F238E27FC236}">
                <a16:creationId xmlns:a16="http://schemas.microsoft.com/office/drawing/2014/main" id="{CD305F70-F0DF-9B5C-9F58-649CE06F9190}"/>
              </a:ext>
            </a:extLst>
          </p:cNvPr>
          <p:cNvPicPr>
            <a:picLocks noChangeAspect="1"/>
          </p:cNvPicPr>
          <p:nvPr/>
        </p:nvPicPr>
        <p:blipFill>
          <a:blip r:embed="rId3"/>
          <a:stretch>
            <a:fillRect/>
          </a:stretch>
        </p:blipFill>
        <p:spPr>
          <a:xfrm>
            <a:off x="693575" y="1150502"/>
            <a:ext cx="10804849" cy="5179853"/>
          </a:xfrm>
          <a:prstGeom prst="rect">
            <a:avLst/>
          </a:prstGeom>
        </p:spPr>
      </p:pic>
    </p:spTree>
    <p:extLst>
      <p:ext uri="{BB962C8B-B14F-4D97-AF65-F5344CB8AC3E}">
        <p14:creationId xmlns:p14="http://schemas.microsoft.com/office/powerpoint/2010/main" val="22254926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7BC47-24F0-E77B-4B4A-76C9C7F042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774A40-2A4B-C519-301D-793146585484}"/>
              </a:ext>
            </a:extLst>
          </p:cNvPr>
          <p:cNvSpPr>
            <a:spLocks noGrp="1"/>
          </p:cNvSpPr>
          <p:nvPr>
            <p:ph type="sldNum" sz="quarter" idx="12"/>
          </p:nvPr>
        </p:nvSpPr>
        <p:spPr/>
        <p:txBody>
          <a:bodyPr/>
          <a:lstStyle/>
          <a:p>
            <a:fld id="{330EA680-D336-4FF7-8B7A-9848BB0A1C32}" type="slidenum">
              <a:rPr lang="en-US" smtClean="0"/>
              <a:t>42</a:t>
            </a:fld>
            <a:endParaRPr lang="en-US"/>
          </a:p>
        </p:txBody>
      </p:sp>
      <p:sp>
        <p:nvSpPr>
          <p:cNvPr id="4" name="Rectangle 3">
            <a:extLst>
              <a:ext uri="{FF2B5EF4-FFF2-40B4-BE49-F238E27FC236}">
                <a16:creationId xmlns:a16="http://schemas.microsoft.com/office/drawing/2014/main" id="{7827AB38-4C24-BFC0-95F4-DCEB8A8A61CE}"/>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Cooling water loop</a:t>
            </a:r>
            <a:endParaRPr lang="en-US"/>
          </a:p>
        </p:txBody>
      </p:sp>
      <p:pic>
        <p:nvPicPr>
          <p:cNvPr id="5" name="Picture 4">
            <a:extLst>
              <a:ext uri="{FF2B5EF4-FFF2-40B4-BE49-F238E27FC236}">
                <a16:creationId xmlns:a16="http://schemas.microsoft.com/office/drawing/2014/main" id="{53E10A36-8631-77F2-20EB-5E0FD9E8F2B6}"/>
              </a:ext>
            </a:extLst>
          </p:cNvPr>
          <p:cNvPicPr>
            <a:picLocks noChangeAspect="1"/>
          </p:cNvPicPr>
          <p:nvPr/>
        </p:nvPicPr>
        <p:blipFill>
          <a:blip r:embed="rId3"/>
          <a:stretch>
            <a:fillRect/>
          </a:stretch>
        </p:blipFill>
        <p:spPr>
          <a:xfrm>
            <a:off x="276141" y="2406524"/>
            <a:ext cx="7859191" cy="4451476"/>
          </a:xfrm>
          <a:prstGeom prst="rect">
            <a:avLst/>
          </a:prstGeom>
        </p:spPr>
      </p:pic>
      <p:pic>
        <p:nvPicPr>
          <p:cNvPr id="6" name="Picture 5" descr="A close-up of a number&#10;&#10;AI-generated content may be incorrect.">
            <a:extLst>
              <a:ext uri="{FF2B5EF4-FFF2-40B4-BE49-F238E27FC236}">
                <a16:creationId xmlns:a16="http://schemas.microsoft.com/office/drawing/2014/main" id="{3605339A-CEE0-EB88-A4F2-BC92BDB661B2}"/>
              </a:ext>
            </a:extLst>
          </p:cNvPr>
          <p:cNvPicPr>
            <a:picLocks noChangeAspect="1"/>
          </p:cNvPicPr>
          <p:nvPr/>
        </p:nvPicPr>
        <p:blipFill>
          <a:blip r:embed="rId4"/>
          <a:stretch>
            <a:fillRect/>
          </a:stretch>
        </p:blipFill>
        <p:spPr>
          <a:xfrm>
            <a:off x="173521" y="1391367"/>
            <a:ext cx="4426759" cy="767124"/>
          </a:xfrm>
          <a:prstGeom prst="rect">
            <a:avLst/>
          </a:prstGeom>
        </p:spPr>
      </p:pic>
      <p:pic>
        <p:nvPicPr>
          <p:cNvPr id="8" name="Picture 7" descr="A screenshot of a graph&#10;&#10;AI-generated content may be incorrect.">
            <a:extLst>
              <a:ext uri="{FF2B5EF4-FFF2-40B4-BE49-F238E27FC236}">
                <a16:creationId xmlns:a16="http://schemas.microsoft.com/office/drawing/2014/main" id="{EE434536-A637-2CA7-2DD7-25EDC58391EB}"/>
              </a:ext>
            </a:extLst>
          </p:cNvPr>
          <p:cNvPicPr>
            <a:picLocks noChangeAspect="1"/>
          </p:cNvPicPr>
          <p:nvPr/>
        </p:nvPicPr>
        <p:blipFill>
          <a:blip r:embed="rId5"/>
          <a:stretch>
            <a:fillRect/>
          </a:stretch>
        </p:blipFill>
        <p:spPr>
          <a:xfrm>
            <a:off x="5737428" y="3111331"/>
            <a:ext cx="6313169" cy="2422687"/>
          </a:xfrm>
          <a:prstGeom prst="rect">
            <a:avLst/>
          </a:prstGeom>
        </p:spPr>
      </p:pic>
    </p:spTree>
    <p:extLst>
      <p:ext uri="{BB962C8B-B14F-4D97-AF65-F5344CB8AC3E}">
        <p14:creationId xmlns:p14="http://schemas.microsoft.com/office/powerpoint/2010/main" val="35435014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7BC47-24F0-E77B-4B4A-76C9C7F0423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D2428C1-6969-1CC3-0135-8CB9F628844C}"/>
              </a:ext>
            </a:extLst>
          </p:cNvPr>
          <p:cNvPicPr>
            <a:picLocks noChangeAspect="1"/>
          </p:cNvPicPr>
          <p:nvPr/>
        </p:nvPicPr>
        <p:blipFill>
          <a:blip r:embed="rId2"/>
          <a:srcRect b="50963"/>
          <a:stretch/>
        </p:blipFill>
        <p:spPr>
          <a:xfrm>
            <a:off x="-118204" y="924116"/>
            <a:ext cx="9029700" cy="2648354"/>
          </a:xfrm>
          <a:prstGeom prst="rect">
            <a:avLst/>
          </a:prstGeom>
        </p:spPr>
      </p:pic>
      <p:pic>
        <p:nvPicPr>
          <p:cNvPr id="7" name="Picture 6">
            <a:extLst>
              <a:ext uri="{FF2B5EF4-FFF2-40B4-BE49-F238E27FC236}">
                <a16:creationId xmlns:a16="http://schemas.microsoft.com/office/drawing/2014/main" id="{B038D032-D6B3-F6D0-806A-A91B507F29E8}"/>
              </a:ext>
            </a:extLst>
          </p:cNvPr>
          <p:cNvPicPr>
            <a:picLocks noChangeAspect="1"/>
          </p:cNvPicPr>
          <p:nvPr/>
        </p:nvPicPr>
        <p:blipFill>
          <a:blip r:embed="rId2"/>
          <a:srcRect t="57067"/>
          <a:stretch/>
        </p:blipFill>
        <p:spPr>
          <a:xfrm>
            <a:off x="214262" y="4609707"/>
            <a:ext cx="9029700" cy="2318688"/>
          </a:xfrm>
          <a:prstGeom prst="rect">
            <a:avLst/>
          </a:prstGeom>
        </p:spPr>
      </p:pic>
      <p:sp>
        <p:nvSpPr>
          <p:cNvPr id="2" name="Slide Number Placeholder 1">
            <a:extLst>
              <a:ext uri="{FF2B5EF4-FFF2-40B4-BE49-F238E27FC236}">
                <a16:creationId xmlns:a16="http://schemas.microsoft.com/office/drawing/2014/main" id="{4F774A40-2A4B-C519-301D-793146585484}"/>
              </a:ext>
            </a:extLst>
          </p:cNvPr>
          <p:cNvSpPr>
            <a:spLocks noGrp="1"/>
          </p:cNvSpPr>
          <p:nvPr>
            <p:ph type="sldNum" sz="quarter" idx="12"/>
          </p:nvPr>
        </p:nvSpPr>
        <p:spPr/>
        <p:txBody>
          <a:bodyPr/>
          <a:lstStyle/>
          <a:p>
            <a:fld id="{330EA680-D336-4FF7-8B7A-9848BB0A1C32}" type="slidenum">
              <a:rPr lang="en-US" smtClean="0"/>
              <a:t>43</a:t>
            </a:fld>
            <a:endParaRPr lang="en-US"/>
          </a:p>
        </p:txBody>
      </p:sp>
      <p:sp>
        <p:nvSpPr>
          <p:cNvPr id="4" name="Rectangle 3">
            <a:extLst>
              <a:ext uri="{FF2B5EF4-FFF2-40B4-BE49-F238E27FC236}">
                <a16:creationId xmlns:a16="http://schemas.microsoft.com/office/drawing/2014/main" id="{7827AB38-4C24-BFC0-95F4-DCEB8A8A61CE}"/>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Cooling water loop</a:t>
            </a:r>
            <a:endParaRPr lang="en-US"/>
          </a:p>
        </p:txBody>
      </p:sp>
      <p:graphicFrame>
        <p:nvGraphicFramePr>
          <p:cNvPr id="13" name="Table 12">
            <a:extLst>
              <a:ext uri="{FF2B5EF4-FFF2-40B4-BE49-F238E27FC236}">
                <a16:creationId xmlns:a16="http://schemas.microsoft.com/office/drawing/2014/main" id="{725A4D00-4F12-2653-3309-F82A43EB1B56}"/>
              </a:ext>
            </a:extLst>
          </p:cNvPr>
          <p:cNvGraphicFramePr>
            <a:graphicFrameLocks noGrp="1"/>
          </p:cNvGraphicFramePr>
          <p:nvPr>
            <p:extLst>
              <p:ext uri="{D42A27DB-BD31-4B8C-83A1-F6EECF244321}">
                <p14:modId xmlns:p14="http://schemas.microsoft.com/office/powerpoint/2010/main" val="2942825451"/>
              </p:ext>
            </p:extLst>
          </p:nvPr>
        </p:nvGraphicFramePr>
        <p:xfrm>
          <a:off x="6096000" y="3210856"/>
          <a:ext cx="5630992" cy="2428240"/>
        </p:xfrm>
        <a:graphic>
          <a:graphicData uri="http://schemas.openxmlformats.org/drawingml/2006/table">
            <a:tbl>
              <a:tblPr firstRow="1" bandRow="1">
                <a:tableStyleId>{5C22544A-7EE6-4342-B048-85BDC9FD1C3A}</a:tableStyleId>
              </a:tblPr>
              <a:tblGrid>
                <a:gridCol w="1407748">
                  <a:extLst>
                    <a:ext uri="{9D8B030D-6E8A-4147-A177-3AD203B41FA5}">
                      <a16:colId xmlns:a16="http://schemas.microsoft.com/office/drawing/2014/main" val="1718929407"/>
                    </a:ext>
                  </a:extLst>
                </a:gridCol>
                <a:gridCol w="1407748">
                  <a:extLst>
                    <a:ext uri="{9D8B030D-6E8A-4147-A177-3AD203B41FA5}">
                      <a16:colId xmlns:a16="http://schemas.microsoft.com/office/drawing/2014/main" val="989257342"/>
                    </a:ext>
                  </a:extLst>
                </a:gridCol>
                <a:gridCol w="1407748">
                  <a:extLst>
                    <a:ext uri="{9D8B030D-6E8A-4147-A177-3AD203B41FA5}">
                      <a16:colId xmlns:a16="http://schemas.microsoft.com/office/drawing/2014/main" val="3377644098"/>
                    </a:ext>
                  </a:extLst>
                </a:gridCol>
                <a:gridCol w="1407748">
                  <a:extLst>
                    <a:ext uri="{9D8B030D-6E8A-4147-A177-3AD203B41FA5}">
                      <a16:colId xmlns:a16="http://schemas.microsoft.com/office/drawing/2014/main" val="1235115494"/>
                    </a:ext>
                  </a:extLst>
                </a:gridCol>
              </a:tblGrid>
              <a:tr h="0">
                <a:tc>
                  <a:txBody>
                    <a:bodyPr/>
                    <a:lstStyle/>
                    <a:p>
                      <a:pPr algn="ctr" rtl="0" fontAlgn="t">
                        <a:buNone/>
                      </a:pPr>
                      <a:r>
                        <a:rPr lang="en-US" sz="1400">
                          <a:solidFill>
                            <a:schemeClr val="bg1"/>
                          </a:solidFill>
                          <a:effectLst/>
                        </a:rPr>
                        <a:t>Design Spec</a:t>
                      </a:r>
                      <a:endParaRPr lang="en-US">
                        <a:solidFill>
                          <a:schemeClr val="bg1"/>
                        </a:solidFill>
                        <a:effectLst/>
                      </a:endParaRPr>
                    </a:p>
                  </a:txBody>
                  <a:tcPr marL="63500" marR="63500" marT="63500" marB="63500" anchor="ctr">
                    <a:solidFill>
                      <a:srgbClr val="002060"/>
                    </a:solidFill>
                  </a:tcPr>
                </a:tc>
                <a:tc>
                  <a:txBody>
                    <a:bodyPr/>
                    <a:lstStyle/>
                    <a:p>
                      <a:pPr algn="ctr" rtl="0" fontAlgn="t">
                        <a:buNone/>
                      </a:pPr>
                      <a:r>
                        <a:rPr lang="en-US" sz="1400">
                          <a:solidFill>
                            <a:schemeClr val="bg1"/>
                          </a:solidFill>
                          <a:effectLst/>
                        </a:rPr>
                        <a:t>Manipulated variable</a:t>
                      </a:r>
                      <a:endParaRPr lang="en-US">
                        <a:solidFill>
                          <a:schemeClr val="bg1"/>
                        </a:solidFill>
                        <a:effectLst/>
                      </a:endParaRPr>
                    </a:p>
                  </a:txBody>
                  <a:tcPr marL="63500" marR="63500" marT="63500" marB="63500" anchor="ctr">
                    <a:solidFill>
                      <a:srgbClr val="002060"/>
                    </a:solidFill>
                  </a:tcPr>
                </a:tc>
                <a:tc>
                  <a:txBody>
                    <a:bodyPr/>
                    <a:lstStyle/>
                    <a:p>
                      <a:pPr algn="ctr" rtl="0" fontAlgn="t">
                        <a:buNone/>
                      </a:pPr>
                      <a:r>
                        <a:rPr lang="en-US" sz="1400">
                          <a:solidFill>
                            <a:schemeClr val="bg1"/>
                          </a:solidFill>
                          <a:effectLst/>
                        </a:rPr>
                        <a:t>Target variable</a:t>
                      </a:r>
                      <a:endParaRPr lang="en-US">
                        <a:solidFill>
                          <a:schemeClr val="bg1"/>
                        </a:solidFill>
                        <a:effectLst/>
                      </a:endParaRPr>
                    </a:p>
                  </a:txBody>
                  <a:tcPr marL="63500" marR="63500" marT="63500" marB="63500" anchor="ctr">
                    <a:solidFill>
                      <a:srgbClr val="002060"/>
                    </a:solidFill>
                  </a:tcPr>
                </a:tc>
                <a:tc>
                  <a:txBody>
                    <a:bodyPr/>
                    <a:lstStyle/>
                    <a:p>
                      <a:pPr algn="ctr" rtl="0" fontAlgn="t">
                        <a:buNone/>
                      </a:pPr>
                      <a:r>
                        <a:rPr lang="en-US" sz="1400">
                          <a:solidFill>
                            <a:schemeClr val="bg1"/>
                          </a:solidFill>
                          <a:effectLst/>
                        </a:rPr>
                        <a:t>Target value</a:t>
                      </a:r>
                      <a:endParaRPr lang="en-US">
                        <a:solidFill>
                          <a:schemeClr val="bg1"/>
                        </a:solidFill>
                        <a:effectLst/>
                      </a:endParaRPr>
                    </a:p>
                  </a:txBody>
                  <a:tcPr marL="63500" marR="63500" marT="63500" marB="63500" anchor="ctr">
                    <a:solidFill>
                      <a:srgbClr val="002060"/>
                    </a:solidFill>
                  </a:tcPr>
                </a:tc>
                <a:extLst>
                  <a:ext uri="{0D108BD9-81ED-4DB2-BD59-A6C34878D82A}">
                    <a16:rowId xmlns:a16="http://schemas.microsoft.com/office/drawing/2014/main" val="3947030438"/>
                  </a:ext>
                </a:extLst>
              </a:tr>
              <a:tr h="0">
                <a:tc>
                  <a:txBody>
                    <a:bodyPr/>
                    <a:lstStyle/>
                    <a:p>
                      <a:pPr algn="ctr" rtl="0" fontAlgn="t">
                        <a:buNone/>
                      </a:pPr>
                      <a:r>
                        <a:rPr lang="en-US" sz="1400">
                          <a:effectLst/>
                        </a:rPr>
                        <a:t>1.</a:t>
                      </a:r>
                      <a:endParaRPr lang="en-US">
                        <a:effectLst/>
                      </a:endParaRPr>
                    </a:p>
                  </a:txBody>
                  <a:tcPr marL="63500" marR="63500" marT="63500" marB="63500" anchor="ctr"/>
                </a:tc>
                <a:tc>
                  <a:txBody>
                    <a:bodyPr/>
                    <a:lstStyle/>
                    <a:p>
                      <a:pPr algn="ctr" rtl="0" fontAlgn="t">
                        <a:buNone/>
                      </a:pPr>
                      <a:r>
                        <a:rPr lang="en-US" sz="1400">
                          <a:effectLst/>
                        </a:rPr>
                        <a:t>BACW Flow Fraction</a:t>
                      </a:r>
                      <a:endParaRPr lang="en-US">
                        <a:effectLst/>
                      </a:endParaRPr>
                    </a:p>
                  </a:txBody>
                  <a:tcPr marL="63500" marR="63500" marT="63500" marB="63500" anchor="ctr"/>
                </a:tc>
                <a:tc>
                  <a:txBody>
                    <a:bodyPr/>
                    <a:lstStyle/>
                    <a:p>
                      <a:pPr algn="ctr" rtl="0" fontAlgn="t">
                        <a:buNone/>
                      </a:pPr>
                      <a:r>
                        <a:rPr lang="en-US" sz="1400">
                          <a:effectLst/>
                        </a:rPr>
                        <a:t>BACWH Temperature</a:t>
                      </a:r>
                      <a:endParaRPr lang="en-US">
                        <a:effectLst/>
                      </a:endParaRPr>
                    </a:p>
                  </a:txBody>
                  <a:tcPr marL="63500" marR="63500" marT="63500" marB="63500" anchor="ctr"/>
                </a:tc>
                <a:tc>
                  <a:txBody>
                    <a:bodyPr/>
                    <a:lstStyle/>
                    <a:p>
                      <a:pPr algn="ctr" rtl="0" fontAlgn="t">
                        <a:buNone/>
                      </a:pPr>
                      <a:r>
                        <a:rPr lang="en-US" sz="1400">
                          <a:effectLst/>
                        </a:rPr>
                        <a:t>40 °C</a:t>
                      </a:r>
                      <a:endParaRPr lang="en-US">
                        <a:effectLst/>
                      </a:endParaRPr>
                    </a:p>
                  </a:txBody>
                  <a:tcPr marL="63500" marR="63500" marT="63500" marB="63500" anchor="ctr"/>
                </a:tc>
                <a:extLst>
                  <a:ext uri="{0D108BD9-81ED-4DB2-BD59-A6C34878D82A}">
                    <a16:rowId xmlns:a16="http://schemas.microsoft.com/office/drawing/2014/main" val="3464643313"/>
                  </a:ext>
                </a:extLst>
              </a:tr>
              <a:tr h="0">
                <a:tc>
                  <a:txBody>
                    <a:bodyPr/>
                    <a:lstStyle/>
                    <a:p>
                      <a:pPr algn="ctr" rtl="0" fontAlgn="t">
                        <a:buNone/>
                      </a:pPr>
                      <a:r>
                        <a:rPr lang="en-US" sz="1400">
                          <a:effectLst/>
                        </a:rPr>
                        <a:t>2.</a:t>
                      </a:r>
                      <a:endParaRPr lang="en-US">
                        <a:effectLst/>
                      </a:endParaRPr>
                    </a:p>
                  </a:txBody>
                  <a:tcPr marL="63500" marR="63500" marT="63500" marB="63500" anchor="ctr"/>
                </a:tc>
                <a:tc>
                  <a:txBody>
                    <a:bodyPr/>
                    <a:lstStyle/>
                    <a:p>
                      <a:pPr algn="ctr" rtl="0" fontAlgn="t">
                        <a:buNone/>
                      </a:pPr>
                      <a:r>
                        <a:rPr lang="en-US" sz="1400">
                          <a:effectLst/>
                        </a:rPr>
                        <a:t>MBCW Flow Fraction</a:t>
                      </a:r>
                      <a:endParaRPr lang="en-US">
                        <a:effectLst/>
                      </a:endParaRPr>
                    </a:p>
                  </a:txBody>
                  <a:tcPr marL="63500" marR="63500" marT="63500" marB="63500" anchor="ctr"/>
                </a:tc>
                <a:tc>
                  <a:txBody>
                    <a:bodyPr/>
                    <a:lstStyle/>
                    <a:p>
                      <a:pPr algn="ctr" rtl="0" fontAlgn="t">
                        <a:buNone/>
                      </a:pPr>
                      <a:r>
                        <a:rPr lang="en-US" sz="1400">
                          <a:effectLst/>
                        </a:rPr>
                        <a:t>MBCWH Temperature</a:t>
                      </a:r>
                      <a:endParaRPr lang="en-US">
                        <a:effectLst/>
                      </a:endParaRPr>
                    </a:p>
                  </a:txBody>
                  <a:tcPr marL="63500" marR="63500" marT="63500" marB="63500" anchor="ctr"/>
                </a:tc>
                <a:tc>
                  <a:txBody>
                    <a:bodyPr/>
                    <a:lstStyle/>
                    <a:p>
                      <a:pPr algn="ctr" rtl="0" fontAlgn="t">
                        <a:buNone/>
                      </a:pPr>
                      <a:r>
                        <a:rPr lang="en-US" sz="1400">
                          <a:effectLst/>
                        </a:rPr>
                        <a:t>40 °C</a:t>
                      </a:r>
                      <a:endParaRPr lang="en-US">
                        <a:effectLst/>
                      </a:endParaRPr>
                    </a:p>
                  </a:txBody>
                  <a:tcPr marL="63500" marR="63500" marT="63500" marB="63500" anchor="ctr"/>
                </a:tc>
                <a:extLst>
                  <a:ext uri="{0D108BD9-81ED-4DB2-BD59-A6C34878D82A}">
                    <a16:rowId xmlns:a16="http://schemas.microsoft.com/office/drawing/2014/main" val="3398678085"/>
                  </a:ext>
                </a:extLst>
              </a:tr>
              <a:tr h="0">
                <a:tc>
                  <a:txBody>
                    <a:bodyPr/>
                    <a:lstStyle/>
                    <a:p>
                      <a:pPr algn="ctr" rtl="0" fontAlgn="t">
                        <a:buNone/>
                      </a:pPr>
                      <a:r>
                        <a:rPr lang="en-US" sz="1400">
                          <a:effectLst/>
                        </a:rPr>
                        <a:t>3.</a:t>
                      </a:r>
                      <a:endParaRPr lang="en-US">
                        <a:effectLst/>
                      </a:endParaRPr>
                    </a:p>
                  </a:txBody>
                  <a:tcPr marL="63500" marR="63500" marT="63500" marB="63500" anchor="ctr"/>
                </a:tc>
                <a:tc>
                  <a:txBody>
                    <a:bodyPr/>
                    <a:lstStyle/>
                    <a:p>
                      <a:pPr algn="ctr" rtl="0" fontAlgn="t">
                        <a:buNone/>
                      </a:pPr>
                      <a:r>
                        <a:rPr lang="en-US" sz="1400">
                          <a:effectLst/>
                        </a:rPr>
                        <a:t>Total Mass Flow across MAKEUP</a:t>
                      </a:r>
                      <a:endParaRPr lang="en-US">
                        <a:effectLst/>
                      </a:endParaRPr>
                    </a:p>
                  </a:txBody>
                  <a:tcPr marL="63500" marR="63500" marT="63500" marB="63500" anchor="ctr"/>
                </a:tc>
                <a:tc>
                  <a:txBody>
                    <a:bodyPr/>
                    <a:lstStyle/>
                    <a:p>
                      <a:pPr algn="ctr" rtl="0" fontAlgn="t">
                        <a:buNone/>
                      </a:pPr>
                      <a:r>
                        <a:rPr lang="en-US" sz="1400">
                          <a:effectLst/>
                        </a:rPr>
                        <a:t>Total Fresh Cooling Water required</a:t>
                      </a:r>
                      <a:endParaRPr lang="en-US">
                        <a:effectLst/>
                      </a:endParaRPr>
                    </a:p>
                  </a:txBody>
                  <a:tcPr marL="63500" marR="63500" marT="63500" marB="63500" anchor="ctr"/>
                </a:tc>
                <a:tc>
                  <a:txBody>
                    <a:bodyPr/>
                    <a:lstStyle/>
                    <a:p>
                      <a:pPr algn="ctr" rtl="0" fontAlgn="t">
                        <a:buNone/>
                      </a:pPr>
                      <a:r>
                        <a:rPr lang="en-US" sz="1400">
                          <a:effectLst/>
                        </a:rPr>
                        <a:t>0 </a:t>
                      </a:r>
                      <a:r>
                        <a:rPr lang="en-US" sz="1400" err="1">
                          <a:effectLst/>
                        </a:rPr>
                        <a:t>tonne</a:t>
                      </a:r>
                      <a:r>
                        <a:rPr lang="en-US" sz="1400">
                          <a:effectLst/>
                        </a:rPr>
                        <a:t>/</a:t>
                      </a:r>
                      <a:r>
                        <a:rPr lang="en-US" sz="1400" err="1">
                          <a:effectLst/>
                        </a:rPr>
                        <a:t>hr</a:t>
                      </a:r>
                      <a:endParaRPr lang="en-US">
                        <a:effectLst/>
                      </a:endParaRPr>
                    </a:p>
                  </a:txBody>
                  <a:tcPr marL="63500" marR="63500" marT="63500" marB="63500" anchor="ctr"/>
                </a:tc>
                <a:extLst>
                  <a:ext uri="{0D108BD9-81ED-4DB2-BD59-A6C34878D82A}">
                    <a16:rowId xmlns:a16="http://schemas.microsoft.com/office/drawing/2014/main" val="3115419113"/>
                  </a:ext>
                </a:extLst>
              </a:tr>
            </a:tbl>
          </a:graphicData>
        </a:graphic>
      </p:graphicFrame>
    </p:spTree>
    <p:extLst>
      <p:ext uri="{BB962C8B-B14F-4D97-AF65-F5344CB8AC3E}">
        <p14:creationId xmlns:p14="http://schemas.microsoft.com/office/powerpoint/2010/main" val="41355643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9EFC9-0549-1A13-2501-5312D49EB451}"/>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54C34966-EA46-ACE0-6A2E-31C3AA581EF7}"/>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b="1" cap="all">
                <a:solidFill>
                  <a:schemeClr val="bg1"/>
                </a:solidFill>
                <a:latin typeface="Times New Roman"/>
                <a:cs typeface="Times New Roman"/>
              </a:rPr>
              <a:t>Reactor design and sequencing with detailed kinetics:</a:t>
            </a:r>
            <a:r>
              <a:rPr lang="en-US" sz="2800" cap="all">
                <a:solidFill>
                  <a:schemeClr val="bg1"/>
                </a:solidFill>
                <a:latin typeface="Times New Roman"/>
                <a:cs typeface="Times New Roman"/>
              </a:rPr>
              <a:t> </a:t>
            </a:r>
            <a:endParaRPr lang="en-US" sz="2800">
              <a:solidFill>
                <a:schemeClr val="bg1"/>
              </a:solidFill>
              <a:latin typeface="Times New Roman"/>
              <a:cs typeface="Times New Roman"/>
            </a:endParaRPr>
          </a:p>
        </p:txBody>
      </p:sp>
      <p:sp>
        <p:nvSpPr>
          <p:cNvPr id="9" name="TextBox 8">
            <a:extLst>
              <a:ext uri="{FF2B5EF4-FFF2-40B4-BE49-F238E27FC236}">
                <a16:creationId xmlns:a16="http://schemas.microsoft.com/office/drawing/2014/main" id="{DC1AB293-9D3E-29C0-8697-BFB4B355F611}"/>
              </a:ext>
            </a:extLst>
          </p:cNvPr>
          <p:cNvSpPr txBox="1"/>
          <p:nvPr/>
        </p:nvSpPr>
        <p:spPr>
          <a:xfrm>
            <a:off x="687782" y="1162453"/>
            <a:ext cx="1081333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Times New Roman"/>
                <a:cs typeface="Times New Roman"/>
              </a:rPr>
              <a:t>We are using a </a:t>
            </a:r>
            <a:r>
              <a:rPr lang="en-US" b="1">
                <a:latin typeface="Times New Roman"/>
                <a:ea typeface="Times New Roman"/>
                <a:cs typeface="Times New Roman"/>
              </a:rPr>
              <a:t>Plug Flow Reactor</a:t>
            </a:r>
            <a:r>
              <a:rPr lang="en-US">
                <a:latin typeface="Times New Roman"/>
                <a:ea typeface="Times New Roman"/>
                <a:cs typeface="Times New Roman"/>
              </a:rPr>
              <a:t> in our process with a conversion of </a:t>
            </a:r>
            <a:r>
              <a:rPr lang="en-US" b="1">
                <a:latin typeface="Times New Roman"/>
                <a:ea typeface="Times New Roman"/>
                <a:cs typeface="Times New Roman"/>
              </a:rPr>
              <a:t>99.628%</a:t>
            </a:r>
            <a:r>
              <a:rPr lang="en-US">
                <a:latin typeface="Times New Roman"/>
                <a:ea typeface="Times New Roman"/>
                <a:cs typeface="Times New Roman"/>
              </a:rPr>
              <a:t>. Although the reaction is reversible, due to a lack of data (The value k in backward reaction was not provided and Keq calculation was not possible, as affirmed in the paper), we are considering our reaction only in the forward direction.</a:t>
            </a:r>
            <a:endParaRPr lang="en-US">
              <a:latin typeface="Times New Roman"/>
              <a:cs typeface="Times New Roman"/>
            </a:endParaRPr>
          </a:p>
        </p:txBody>
      </p:sp>
      <p:pic>
        <p:nvPicPr>
          <p:cNvPr id="16" name="Picture 15" descr="undefined">
            <a:extLst>
              <a:ext uri="{FF2B5EF4-FFF2-40B4-BE49-F238E27FC236}">
                <a16:creationId xmlns:a16="http://schemas.microsoft.com/office/drawing/2014/main" id="{B122C007-FEB1-EE40-2619-86E9CF5DB3B6}"/>
              </a:ext>
            </a:extLst>
          </p:cNvPr>
          <p:cNvPicPr>
            <a:picLocks noChangeAspect="1"/>
          </p:cNvPicPr>
          <p:nvPr/>
        </p:nvPicPr>
        <p:blipFill>
          <a:blip r:embed="rId2"/>
          <a:stretch>
            <a:fillRect/>
          </a:stretch>
        </p:blipFill>
        <p:spPr>
          <a:xfrm>
            <a:off x="3094076" y="2077992"/>
            <a:ext cx="5991648" cy="3999125"/>
          </a:xfrm>
          <a:prstGeom prst="rect">
            <a:avLst/>
          </a:prstGeom>
        </p:spPr>
      </p:pic>
    </p:spTree>
    <p:extLst>
      <p:ext uri="{BB962C8B-B14F-4D97-AF65-F5344CB8AC3E}">
        <p14:creationId xmlns:p14="http://schemas.microsoft.com/office/powerpoint/2010/main" val="34413020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14AC71-F822-B454-7AD6-B182239185C9}"/>
              </a:ext>
            </a:extLst>
          </p:cNvPr>
          <p:cNvSpPr>
            <a:spLocks noGrp="1"/>
          </p:cNvSpPr>
          <p:nvPr>
            <p:ph type="sldNum" sz="quarter" idx="12"/>
          </p:nvPr>
        </p:nvSpPr>
        <p:spPr/>
        <p:txBody>
          <a:bodyPr/>
          <a:lstStyle/>
          <a:p>
            <a:fld id="{330EA680-D336-4FF7-8B7A-9848BB0A1C32}" type="slidenum">
              <a:rPr lang="en-US" smtClean="0"/>
              <a:t>45</a:t>
            </a:fld>
            <a:endParaRPr lang="en-US"/>
          </a:p>
        </p:txBody>
      </p:sp>
      <p:sp>
        <p:nvSpPr>
          <p:cNvPr id="4" name="Rectangle 3">
            <a:extLst>
              <a:ext uri="{FF2B5EF4-FFF2-40B4-BE49-F238E27FC236}">
                <a16:creationId xmlns:a16="http://schemas.microsoft.com/office/drawing/2014/main" id="{475A0BBC-AC24-B028-6AEF-94FFACCF563E}"/>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b="1">
                <a:solidFill>
                  <a:schemeClr val="bg1"/>
                </a:solidFill>
                <a:latin typeface="Times New Roman"/>
                <a:cs typeface="Times New Roman"/>
              </a:rPr>
              <a:t>Reactor Design:</a:t>
            </a:r>
          </a:p>
        </p:txBody>
      </p:sp>
      <p:pic>
        <p:nvPicPr>
          <p:cNvPr id="6" name="Picture 5" descr="A screenshot of a computer&#10;&#10;AI-generated content may be incorrect.">
            <a:extLst>
              <a:ext uri="{FF2B5EF4-FFF2-40B4-BE49-F238E27FC236}">
                <a16:creationId xmlns:a16="http://schemas.microsoft.com/office/drawing/2014/main" id="{E9F219BA-17CA-8C8A-3F55-8702C4A6CFAE}"/>
              </a:ext>
            </a:extLst>
          </p:cNvPr>
          <p:cNvPicPr>
            <a:picLocks noChangeAspect="1"/>
          </p:cNvPicPr>
          <p:nvPr/>
        </p:nvPicPr>
        <p:blipFill>
          <a:blip r:embed="rId2"/>
          <a:stretch>
            <a:fillRect/>
          </a:stretch>
        </p:blipFill>
        <p:spPr>
          <a:xfrm>
            <a:off x="5772436" y="1090400"/>
            <a:ext cx="6178232" cy="3932200"/>
          </a:xfrm>
          <a:prstGeom prst="rect">
            <a:avLst/>
          </a:prstGeom>
        </p:spPr>
      </p:pic>
      <p:sp>
        <p:nvSpPr>
          <p:cNvPr id="8" name="TextBox 7">
            <a:extLst>
              <a:ext uri="{FF2B5EF4-FFF2-40B4-BE49-F238E27FC236}">
                <a16:creationId xmlns:a16="http://schemas.microsoft.com/office/drawing/2014/main" id="{E4FF19B7-374D-345E-B73C-F141DC8F4C4E}"/>
              </a:ext>
            </a:extLst>
          </p:cNvPr>
          <p:cNvSpPr txBox="1"/>
          <p:nvPr/>
        </p:nvSpPr>
        <p:spPr>
          <a:xfrm>
            <a:off x="579120" y="990600"/>
            <a:ext cx="37490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Flow Regime:</a:t>
            </a:r>
          </a:p>
          <a:p>
            <a:r>
              <a:rPr lang="en-US" b="1">
                <a:latin typeface="Times New Roman" panose="02020603050405020304" pitchFamily="18" charset="0"/>
                <a:cs typeface="Times New Roman" panose="02020603050405020304" pitchFamily="18" charset="0"/>
              </a:rPr>
              <a:t>Average Velocity:</a:t>
            </a:r>
            <a:r>
              <a:rPr lang="en-US">
                <a:latin typeface="Times New Roman" panose="02020603050405020304" pitchFamily="18" charset="0"/>
                <a:cs typeface="Times New Roman" panose="02020603050405020304" pitchFamily="18" charset="0"/>
              </a:rPr>
              <a:t> 0.004328 m/s</a:t>
            </a:r>
          </a:p>
          <a:p>
            <a:r>
              <a:rPr lang="en-US" b="1">
                <a:latin typeface="Times New Roman" panose="02020603050405020304" pitchFamily="18" charset="0"/>
                <a:cs typeface="Times New Roman" panose="02020603050405020304" pitchFamily="18" charset="0"/>
              </a:rPr>
              <a:t>Reynolds Number:</a:t>
            </a:r>
            <a:r>
              <a:rPr lang="en-US">
                <a:latin typeface="Times New Roman" panose="02020603050405020304" pitchFamily="18" charset="0"/>
                <a:cs typeface="Times New Roman" panose="02020603050405020304" pitchFamily="18" charset="0"/>
              </a:rPr>
              <a:t> 36960.81</a:t>
            </a:r>
          </a:p>
          <a:p>
            <a:r>
              <a:rPr lang="en-US" b="1">
                <a:latin typeface="Times New Roman" panose="02020603050405020304" pitchFamily="18" charset="0"/>
                <a:cs typeface="Times New Roman" panose="02020603050405020304" pitchFamily="18" charset="0"/>
              </a:rPr>
              <a:t>Flow Regime: </a:t>
            </a:r>
            <a:r>
              <a:rPr lang="en-US">
                <a:latin typeface="Times New Roman" panose="02020603050405020304" pitchFamily="18" charset="0"/>
                <a:cs typeface="Times New Roman" panose="02020603050405020304" pitchFamily="18" charset="0"/>
              </a:rPr>
              <a:t>Turbulent (Re ≥ 4000)</a:t>
            </a:r>
          </a:p>
        </p:txBody>
      </p:sp>
      <p:sp>
        <p:nvSpPr>
          <p:cNvPr id="9" name="TextBox 8">
            <a:extLst>
              <a:ext uri="{FF2B5EF4-FFF2-40B4-BE49-F238E27FC236}">
                <a16:creationId xmlns:a16="http://schemas.microsoft.com/office/drawing/2014/main" id="{54DE58C8-D289-1DF3-8900-CB16170BBDA0}"/>
              </a:ext>
            </a:extLst>
          </p:cNvPr>
          <p:cNvSpPr txBox="1"/>
          <p:nvPr/>
        </p:nvSpPr>
        <p:spPr>
          <a:xfrm>
            <a:off x="579120" y="2541270"/>
            <a:ext cx="471525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Times New Roman"/>
                <a:cs typeface="Times New Roman"/>
              </a:rPr>
              <a:t>The flow regime obtained in our reactor is turbulent which is consistent with standard industrial practices. </a:t>
            </a:r>
            <a:endParaRPr lang="en-US">
              <a:latin typeface="Aptos" panose="020B0004020202020204"/>
              <a:ea typeface="Times New Roman"/>
              <a:cs typeface="Times New Roman"/>
            </a:endParaRPr>
          </a:p>
          <a:p>
            <a:pPr algn="just"/>
            <a:endParaRPr lang="en-US">
              <a:latin typeface="Times New Roman"/>
              <a:ea typeface="Times New Roman"/>
              <a:cs typeface="Times New Roman"/>
            </a:endParaRPr>
          </a:p>
          <a:p>
            <a:pPr algn="just"/>
            <a:r>
              <a:rPr lang="en-US">
                <a:latin typeface="Times New Roman"/>
                <a:ea typeface="Times New Roman"/>
                <a:cs typeface="Times New Roman"/>
              </a:rPr>
              <a:t>We usually operate PFR in turbulent regime due to  following reasons:</a:t>
            </a:r>
            <a:endParaRPr lang="en-US"/>
          </a:p>
        </p:txBody>
      </p:sp>
      <p:sp>
        <p:nvSpPr>
          <p:cNvPr id="10" name="TextBox 9">
            <a:extLst>
              <a:ext uri="{FF2B5EF4-FFF2-40B4-BE49-F238E27FC236}">
                <a16:creationId xmlns:a16="http://schemas.microsoft.com/office/drawing/2014/main" id="{6FDBD314-2891-0E55-7889-4E22D351E4F7}"/>
              </a:ext>
            </a:extLst>
          </p:cNvPr>
          <p:cNvSpPr txBox="1"/>
          <p:nvPr/>
        </p:nvSpPr>
        <p:spPr>
          <a:xfrm>
            <a:off x="579120" y="4645938"/>
            <a:ext cx="471525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a:latin typeface="Times New Roman"/>
                <a:ea typeface="Times New Roman"/>
                <a:cs typeface="Times New Roman"/>
              </a:rPr>
              <a:t>Complete radial mixing (uniform temperature/concentration)</a:t>
            </a:r>
          </a:p>
          <a:p>
            <a:pPr marL="228600" indent="-228600" algn="just">
              <a:buFont typeface=""/>
              <a:buChar char="•"/>
            </a:pPr>
            <a:r>
              <a:rPr lang="en-US">
                <a:latin typeface="Times New Roman"/>
                <a:ea typeface="Times New Roman"/>
                <a:cs typeface="Times New Roman"/>
              </a:rPr>
              <a:t>High heat transfer coefficients</a:t>
            </a:r>
          </a:p>
          <a:p>
            <a:pPr marL="228600" indent="-228600" algn="just">
              <a:buFont typeface=""/>
              <a:buChar char="•"/>
            </a:pPr>
            <a:r>
              <a:rPr lang="en-US">
                <a:latin typeface="Times New Roman"/>
                <a:ea typeface="Times New Roman"/>
                <a:cs typeface="Times New Roman"/>
              </a:rPr>
              <a:t>Minimized axial dispersion (plug-flow approach)</a:t>
            </a:r>
          </a:p>
        </p:txBody>
      </p:sp>
    </p:spTree>
    <p:extLst>
      <p:ext uri="{BB962C8B-B14F-4D97-AF65-F5344CB8AC3E}">
        <p14:creationId xmlns:p14="http://schemas.microsoft.com/office/powerpoint/2010/main" val="12077313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2F53E5-328E-F661-1D47-EC51572799C9}"/>
              </a:ext>
            </a:extLst>
          </p:cNvPr>
          <p:cNvSpPr>
            <a:spLocks noGrp="1"/>
          </p:cNvSpPr>
          <p:nvPr>
            <p:ph type="sldNum" sz="quarter" idx="12"/>
          </p:nvPr>
        </p:nvSpPr>
        <p:spPr/>
        <p:txBody>
          <a:bodyPr/>
          <a:lstStyle/>
          <a:p>
            <a:fld id="{330EA680-D336-4FF7-8B7A-9848BB0A1C32}" type="slidenum">
              <a:rPr lang="en-US" smtClean="0"/>
              <a:t>46</a:t>
            </a:fld>
            <a:endParaRPr lang="en-US"/>
          </a:p>
        </p:txBody>
      </p:sp>
      <p:sp>
        <p:nvSpPr>
          <p:cNvPr id="4" name="Rectangle 3">
            <a:extLst>
              <a:ext uri="{FF2B5EF4-FFF2-40B4-BE49-F238E27FC236}">
                <a16:creationId xmlns:a16="http://schemas.microsoft.com/office/drawing/2014/main" id="{4F751909-761F-3EA8-92B6-2E44796A48AE}"/>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b="1" cap="all">
                <a:solidFill>
                  <a:schemeClr val="bg1"/>
                </a:solidFill>
                <a:latin typeface="Times New Roman"/>
                <a:cs typeface="Times New Roman"/>
              </a:rPr>
              <a:t>Reactor Design:</a:t>
            </a:r>
            <a:endParaRPr lang="en-US" b="1">
              <a:solidFill>
                <a:schemeClr val="bg1"/>
              </a:solidFill>
              <a:latin typeface="Times New Roman"/>
              <a:cs typeface="Times New Roman"/>
            </a:endParaRPr>
          </a:p>
        </p:txBody>
      </p:sp>
      <p:sp>
        <p:nvSpPr>
          <p:cNvPr id="5" name="TextBox 4">
            <a:extLst>
              <a:ext uri="{FF2B5EF4-FFF2-40B4-BE49-F238E27FC236}">
                <a16:creationId xmlns:a16="http://schemas.microsoft.com/office/drawing/2014/main" id="{D6914BB8-E02E-8849-089E-22A5251A4DD4}"/>
              </a:ext>
            </a:extLst>
          </p:cNvPr>
          <p:cNvSpPr txBox="1"/>
          <p:nvPr/>
        </p:nvSpPr>
        <p:spPr>
          <a:xfrm>
            <a:off x="568960" y="1368552"/>
            <a:ext cx="500366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ea typeface="Times New Roman"/>
                <a:cs typeface="Times New Roman"/>
              </a:rPr>
              <a:t>Residence time:</a:t>
            </a:r>
            <a:endParaRPr lang="en-US">
              <a:latin typeface="Times New Roman"/>
              <a:ea typeface="Times New Roman"/>
              <a:cs typeface="Times New Roman"/>
            </a:endParaRPr>
          </a:p>
          <a:p>
            <a:pPr algn="just"/>
            <a:r>
              <a:rPr lang="en-US">
                <a:latin typeface="Times New Roman"/>
                <a:ea typeface="Times New Roman"/>
                <a:cs typeface="Times New Roman"/>
              </a:rPr>
              <a:t>The residence time obtained in our reactor is </a:t>
            </a:r>
            <a:r>
              <a:rPr lang="en-US" b="1">
                <a:latin typeface="Times New Roman"/>
                <a:ea typeface="Times New Roman"/>
                <a:cs typeface="Times New Roman"/>
              </a:rPr>
              <a:t>2.56 hours</a:t>
            </a:r>
            <a:r>
              <a:rPr lang="en-US">
                <a:latin typeface="Times New Roman"/>
                <a:ea typeface="Times New Roman"/>
                <a:cs typeface="Times New Roman"/>
              </a:rPr>
              <a:t>, which is consistent with typical industrial ranges (</a:t>
            </a:r>
            <a:r>
              <a:rPr lang="en-US" b="1">
                <a:latin typeface="Times New Roman"/>
                <a:ea typeface="Times New Roman"/>
                <a:cs typeface="Times New Roman"/>
              </a:rPr>
              <a:t>1–5 hours</a:t>
            </a:r>
            <a:r>
              <a:rPr lang="en-US">
                <a:latin typeface="Times New Roman"/>
                <a:ea typeface="Times New Roman"/>
                <a:cs typeface="Times New Roman"/>
              </a:rPr>
              <a:t>) for plug flow reactors, especially for reactions requiring extended contact time.</a:t>
            </a:r>
            <a:endParaRPr lang="en-US">
              <a:latin typeface="Times New Roman"/>
              <a:cs typeface="Times New Roman"/>
            </a:endParaRPr>
          </a:p>
        </p:txBody>
      </p:sp>
      <p:sp>
        <p:nvSpPr>
          <p:cNvPr id="3" name="TextBox 2">
            <a:extLst>
              <a:ext uri="{FF2B5EF4-FFF2-40B4-BE49-F238E27FC236}">
                <a16:creationId xmlns:a16="http://schemas.microsoft.com/office/drawing/2014/main" id="{42FFF9AB-ECB6-607A-A238-D47F37E1C8B4}"/>
              </a:ext>
            </a:extLst>
          </p:cNvPr>
          <p:cNvSpPr txBox="1"/>
          <p:nvPr/>
        </p:nvSpPr>
        <p:spPr>
          <a:xfrm>
            <a:off x="568960" y="3650761"/>
            <a:ext cx="500366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Times New Roman"/>
                <a:cs typeface="Times New Roman"/>
              </a:rPr>
              <a:t>In our system, we obtained a </a:t>
            </a:r>
            <a:r>
              <a:rPr lang="en-US" b="1">
                <a:latin typeface="Times New Roman"/>
                <a:ea typeface="Times New Roman"/>
                <a:cs typeface="Times New Roman"/>
              </a:rPr>
              <a:t>single-pass conversion of 58%</a:t>
            </a:r>
            <a:r>
              <a:rPr lang="en-US">
                <a:latin typeface="Times New Roman"/>
                <a:ea typeface="Times New Roman"/>
                <a:cs typeface="Times New Roman"/>
              </a:rPr>
              <a:t>. We implement </a:t>
            </a:r>
            <a:r>
              <a:rPr lang="en-US" b="1">
                <a:latin typeface="Times New Roman"/>
                <a:ea typeface="Times New Roman"/>
                <a:cs typeface="Times New Roman"/>
              </a:rPr>
              <a:t>reactant recycling to</a:t>
            </a:r>
            <a:r>
              <a:rPr lang="en-US">
                <a:latin typeface="Times New Roman"/>
                <a:ea typeface="Times New Roman"/>
                <a:cs typeface="Times New Roman"/>
              </a:rPr>
              <a:t> optimize resource utilization and minimize waste, allowing unreacted species to re-enter the reactor. This significantly boosts the </a:t>
            </a:r>
            <a:r>
              <a:rPr lang="en-US" b="1">
                <a:latin typeface="Times New Roman"/>
                <a:ea typeface="Times New Roman"/>
                <a:cs typeface="Times New Roman"/>
              </a:rPr>
              <a:t>overall conversion to 99.93%</a:t>
            </a:r>
            <a:r>
              <a:rPr lang="en-US">
                <a:latin typeface="Times New Roman"/>
                <a:ea typeface="Times New Roman"/>
                <a:cs typeface="Times New Roman"/>
              </a:rPr>
              <a:t>.</a:t>
            </a:r>
            <a:endParaRPr lang="en-US"/>
          </a:p>
        </p:txBody>
      </p:sp>
      <p:pic>
        <p:nvPicPr>
          <p:cNvPr id="6" name="Picture 5" descr="A screenshot of a computer&#10;&#10;AI-generated content may be incorrect.">
            <a:extLst>
              <a:ext uri="{FF2B5EF4-FFF2-40B4-BE49-F238E27FC236}">
                <a16:creationId xmlns:a16="http://schemas.microsoft.com/office/drawing/2014/main" id="{9DB1E471-619F-049F-6E65-67856042C610}"/>
              </a:ext>
            </a:extLst>
          </p:cNvPr>
          <p:cNvPicPr>
            <a:picLocks noChangeAspect="1"/>
          </p:cNvPicPr>
          <p:nvPr/>
        </p:nvPicPr>
        <p:blipFill>
          <a:blip r:embed="rId2"/>
          <a:stretch>
            <a:fillRect/>
          </a:stretch>
        </p:blipFill>
        <p:spPr>
          <a:xfrm>
            <a:off x="5841674" y="1425461"/>
            <a:ext cx="6083220" cy="4007078"/>
          </a:xfrm>
          <a:prstGeom prst="rect">
            <a:avLst/>
          </a:prstGeom>
        </p:spPr>
      </p:pic>
    </p:spTree>
    <p:extLst>
      <p:ext uri="{BB962C8B-B14F-4D97-AF65-F5344CB8AC3E}">
        <p14:creationId xmlns:p14="http://schemas.microsoft.com/office/powerpoint/2010/main" val="2130125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AF8B4A-83D1-FBF3-1D9E-5CB574DE72D1}"/>
              </a:ext>
            </a:extLst>
          </p:cNvPr>
          <p:cNvSpPr>
            <a:spLocks noGrp="1"/>
          </p:cNvSpPr>
          <p:nvPr>
            <p:ph type="sldNum" sz="quarter" idx="12"/>
          </p:nvPr>
        </p:nvSpPr>
        <p:spPr/>
        <p:txBody>
          <a:bodyPr/>
          <a:lstStyle/>
          <a:p>
            <a:fld id="{330EA680-D336-4FF7-8B7A-9848BB0A1C32}" type="slidenum">
              <a:rPr lang="en-US" smtClean="0"/>
              <a:t>47</a:t>
            </a:fld>
            <a:endParaRPr lang="en-US"/>
          </a:p>
        </p:txBody>
      </p:sp>
      <p:sp>
        <p:nvSpPr>
          <p:cNvPr id="4" name="Rectangle 3">
            <a:extLst>
              <a:ext uri="{FF2B5EF4-FFF2-40B4-BE49-F238E27FC236}">
                <a16:creationId xmlns:a16="http://schemas.microsoft.com/office/drawing/2014/main" id="{E26E7870-7383-A854-EDDE-06EFDAD1F1B5}"/>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Results: </a:t>
            </a:r>
          </a:p>
        </p:txBody>
      </p:sp>
      <p:sp>
        <p:nvSpPr>
          <p:cNvPr id="3" name="TextBox 2">
            <a:extLst>
              <a:ext uri="{FF2B5EF4-FFF2-40B4-BE49-F238E27FC236}">
                <a16:creationId xmlns:a16="http://schemas.microsoft.com/office/drawing/2014/main" id="{59209DE6-A16E-46E9-7A3A-EB388FC3B885}"/>
              </a:ext>
            </a:extLst>
          </p:cNvPr>
          <p:cNvSpPr txBox="1"/>
          <p:nvPr/>
        </p:nvSpPr>
        <p:spPr>
          <a:xfrm>
            <a:off x="365760" y="828040"/>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Times New Roman"/>
                <a:ea typeface="Times New Roman"/>
                <a:cs typeface="Times New Roman"/>
              </a:rPr>
              <a:t>Composition Profile of Reactor:</a:t>
            </a:r>
            <a:endParaRPr lang="en-US" sz="2800"/>
          </a:p>
        </p:txBody>
      </p:sp>
      <p:pic>
        <p:nvPicPr>
          <p:cNvPr id="5" name="Picture 4" descr="A graph with a green line and a blue line&#10;&#10;AI-generated content may be incorrect.">
            <a:extLst>
              <a:ext uri="{FF2B5EF4-FFF2-40B4-BE49-F238E27FC236}">
                <a16:creationId xmlns:a16="http://schemas.microsoft.com/office/drawing/2014/main" id="{37C851D8-FA9E-777E-DFA3-8F6AEFAE057B}"/>
              </a:ext>
            </a:extLst>
          </p:cNvPr>
          <p:cNvPicPr>
            <a:picLocks noChangeAspect="1"/>
          </p:cNvPicPr>
          <p:nvPr/>
        </p:nvPicPr>
        <p:blipFill>
          <a:blip r:embed="rId2"/>
          <a:stretch>
            <a:fillRect/>
          </a:stretch>
        </p:blipFill>
        <p:spPr>
          <a:xfrm>
            <a:off x="4923790" y="2719249"/>
            <a:ext cx="6906260" cy="3135630"/>
          </a:xfrm>
          <a:prstGeom prst="rect">
            <a:avLst/>
          </a:prstGeom>
        </p:spPr>
      </p:pic>
      <p:sp>
        <p:nvSpPr>
          <p:cNvPr id="6" name="TextBox 5">
            <a:extLst>
              <a:ext uri="{FF2B5EF4-FFF2-40B4-BE49-F238E27FC236}">
                <a16:creationId xmlns:a16="http://schemas.microsoft.com/office/drawing/2014/main" id="{FF49543F-5BF9-C29A-E03E-E06E21C8B371}"/>
              </a:ext>
            </a:extLst>
          </p:cNvPr>
          <p:cNvSpPr txBox="1"/>
          <p:nvPr/>
        </p:nvSpPr>
        <p:spPr>
          <a:xfrm>
            <a:off x="477520" y="2609910"/>
            <a:ext cx="423672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cs typeface="Times New Roman"/>
              </a:rPr>
              <a:t>Conclusion:</a:t>
            </a:r>
          </a:p>
          <a:p>
            <a:pPr algn="just"/>
            <a:endParaRPr lang="en-US" b="1">
              <a:latin typeface="Times New Roman"/>
              <a:cs typeface="Times New Roman"/>
            </a:endParaRPr>
          </a:p>
          <a:p>
            <a:pPr marL="228600" indent="-228600" algn="just">
              <a:buFont typeface=""/>
              <a:buAutoNum type="arabicPeriod"/>
            </a:pPr>
            <a:r>
              <a:rPr lang="en-US" b="1">
                <a:latin typeface="Times New Roman"/>
                <a:cs typeface="Times New Roman"/>
              </a:rPr>
              <a:t>BENZA </a:t>
            </a:r>
            <a:r>
              <a:rPr lang="en-US">
                <a:latin typeface="Times New Roman"/>
                <a:cs typeface="Times New Roman"/>
              </a:rPr>
              <a:t>is</a:t>
            </a:r>
            <a:r>
              <a:rPr lang="en-US" b="1">
                <a:latin typeface="Times New Roman"/>
                <a:cs typeface="Times New Roman"/>
              </a:rPr>
              <a:t> </a:t>
            </a:r>
            <a:r>
              <a:rPr lang="en-US">
                <a:latin typeface="Times New Roman"/>
                <a:cs typeface="Times New Roman"/>
              </a:rPr>
              <a:t>the reactant, and it is being </a:t>
            </a:r>
            <a:r>
              <a:rPr lang="en-US" b="1">
                <a:latin typeface="Times New Roman"/>
                <a:cs typeface="Times New Roman"/>
              </a:rPr>
              <a:t>consumed</a:t>
            </a:r>
            <a:r>
              <a:rPr lang="en-US">
                <a:latin typeface="Times New Roman"/>
                <a:cs typeface="Times New Roman"/>
              </a:rPr>
              <a:t> along the reactor length.</a:t>
            </a:r>
          </a:p>
          <a:p>
            <a:pPr marL="228600" indent="-228600" algn="just">
              <a:buAutoNum type="arabicPeriod"/>
            </a:pPr>
            <a:endParaRPr lang="en-US">
              <a:latin typeface="Times New Roman"/>
              <a:cs typeface="Times New Roman"/>
            </a:endParaRPr>
          </a:p>
          <a:p>
            <a:pPr marL="228600" indent="-228600" algn="just">
              <a:buFont typeface=""/>
              <a:buAutoNum type="arabicPeriod"/>
            </a:pPr>
            <a:r>
              <a:rPr lang="en-US" b="1">
                <a:latin typeface="Times New Roman"/>
                <a:cs typeface="Times New Roman"/>
              </a:rPr>
              <a:t>MEB </a:t>
            </a:r>
            <a:r>
              <a:rPr lang="en-US">
                <a:latin typeface="Times New Roman"/>
                <a:cs typeface="Times New Roman"/>
              </a:rPr>
              <a:t>is the product, and it is being </a:t>
            </a:r>
            <a:r>
              <a:rPr lang="en-US" b="1">
                <a:latin typeface="Times New Roman"/>
                <a:cs typeface="Times New Roman"/>
              </a:rPr>
              <a:t>formed</a:t>
            </a:r>
            <a:r>
              <a:rPr lang="en-US">
                <a:latin typeface="Times New Roman"/>
                <a:cs typeface="Times New Roman"/>
              </a:rPr>
              <a:t> progressively as the reaction proceeds.</a:t>
            </a:r>
          </a:p>
          <a:p>
            <a:pPr marL="228600" indent="-228600" algn="just">
              <a:buAutoNum type="arabicPeriod"/>
            </a:pPr>
            <a:endParaRPr lang="en-US">
              <a:latin typeface="Times New Roman"/>
              <a:cs typeface="Times New Roman"/>
            </a:endParaRPr>
          </a:p>
          <a:p>
            <a:pPr marL="228600" indent="-228600" algn="just">
              <a:buFont typeface=""/>
              <a:buAutoNum type="arabicPeriod"/>
            </a:pPr>
            <a:r>
              <a:rPr lang="en-US">
                <a:latin typeface="Times New Roman"/>
                <a:cs typeface="Times New Roman"/>
              </a:rPr>
              <a:t>The </a:t>
            </a:r>
            <a:r>
              <a:rPr lang="en-US" b="1">
                <a:latin typeface="Times New Roman"/>
                <a:cs typeface="Times New Roman"/>
              </a:rPr>
              <a:t>monotonic decrease</a:t>
            </a:r>
            <a:r>
              <a:rPr lang="en-US">
                <a:latin typeface="Times New Roman"/>
                <a:cs typeface="Times New Roman"/>
              </a:rPr>
              <a:t> in BENZA and </a:t>
            </a:r>
            <a:r>
              <a:rPr lang="en-US" b="1">
                <a:latin typeface="Times New Roman"/>
                <a:cs typeface="Times New Roman"/>
              </a:rPr>
              <a:t>increase</a:t>
            </a:r>
            <a:r>
              <a:rPr lang="en-US">
                <a:latin typeface="Times New Roman"/>
                <a:cs typeface="Times New Roman"/>
              </a:rPr>
              <a:t> in MEB confirms that the reaction is proceeding </a:t>
            </a:r>
            <a:r>
              <a:rPr lang="en-US" b="1">
                <a:latin typeface="Times New Roman"/>
                <a:cs typeface="Times New Roman"/>
              </a:rPr>
              <a:t>forward</a:t>
            </a:r>
            <a:r>
              <a:rPr lang="en-US">
                <a:latin typeface="Times New Roman"/>
                <a:cs typeface="Times New Roman"/>
              </a:rPr>
              <a:t> without significant reverse reaction.</a:t>
            </a:r>
          </a:p>
        </p:txBody>
      </p:sp>
      <p:sp>
        <p:nvSpPr>
          <p:cNvPr id="7" name="TextBox 6">
            <a:extLst>
              <a:ext uri="{FF2B5EF4-FFF2-40B4-BE49-F238E27FC236}">
                <a16:creationId xmlns:a16="http://schemas.microsoft.com/office/drawing/2014/main" id="{3C1A1E93-A3B7-3D59-9AB1-C1C1E37E267A}"/>
              </a:ext>
            </a:extLst>
          </p:cNvPr>
          <p:cNvSpPr txBox="1"/>
          <p:nvPr/>
        </p:nvSpPr>
        <p:spPr>
          <a:xfrm>
            <a:off x="477520" y="1518920"/>
            <a:ext cx="482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Times New Roman"/>
                <a:cs typeface="Times New Roman"/>
              </a:rPr>
              <a:t>Fresh methanol feed rate =</a:t>
            </a:r>
            <a:r>
              <a:rPr lang="en-US" b="1">
                <a:latin typeface="Times New Roman"/>
                <a:ea typeface="Times New Roman"/>
                <a:cs typeface="Times New Roman"/>
              </a:rPr>
              <a:t> 61.3666 </a:t>
            </a:r>
            <a:r>
              <a:rPr lang="en-US" b="1" err="1">
                <a:latin typeface="Times New Roman"/>
                <a:ea typeface="Times New Roman"/>
                <a:cs typeface="Times New Roman"/>
              </a:rPr>
              <a:t>kmol</a:t>
            </a:r>
            <a:r>
              <a:rPr lang="en-US" b="1">
                <a:latin typeface="Times New Roman"/>
                <a:ea typeface="Times New Roman"/>
                <a:cs typeface="Times New Roman"/>
              </a:rPr>
              <a:t>/</a:t>
            </a:r>
            <a:r>
              <a:rPr lang="en-US" b="1" err="1">
                <a:latin typeface="Times New Roman"/>
                <a:ea typeface="Times New Roman"/>
                <a:cs typeface="Times New Roman"/>
              </a:rPr>
              <a:t>hr</a:t>
            </a:r>
            <a:endParaRPr lang="en-US">
              <a:latin typeface="Times New Roman"/>
              <a:ea typeface="Times New Roman"/>
              <a:cs typeface="Times New Roman"/>
            </a:endParaRPr>
          </a:p>
          <a:p>
            <a:pPr algn="just"/>
            <a:r>
              <a:rPr lang="en-US">
                <a:latin typeface="Times New Roman"/>
                <a:ea typeface="Times New Roman"/>
                <a:cs typeface="Times New Roman"/>
              </a:rPr>
              <a:t>Fresh benzoic acid feed rate =</a:t>
            </a:r>
            <a:r>
              <a:rPr lang="en-US" b="1">
                <a:latin typeface="Times New Roman"/>
                <a:ea typeface="Times New Roman"/>
                <a:cs typeface="Times New Roman"/>
              </a:rPr>
              <a:t> 57.812 </a:t>
            </a:r>
            <a:r>
              <a:rPr lang="en-US" b="1" err="1">
                <a:latin typeface="Times New Roman"/>
                <a:ea typeface="Times New Roman"/>
                <a:cs typeface="Times New Roman"/>
              </a:rPr>
              <a:t>kmol</a:t>
            </a:r>
            <a:r>
              <a:rPr lang="en-US" b="1">
                <a:latin typeface="Times New Roman"/>
                <a:ea typeface="Times New Roman"/>
                <a:cs typeface="Times New Roman"/>
              </a:rPr>
              <a:t>/</a:t>
            </a:r>
            <a:r>
              <a:rPr lang="en-US" b="1" err="1">
                <a:latin typeface="Times New Roman"/>
                <a:ea typeface="Times New Roman"/>
                <a:cs typeface="Times New Roman"/>
              </a:rPr>
              <a:t>hr</a:t>
            </a:r>
            <a:br>
              <a:rPr lang="en-US">
                <a:latin typeface="Times New Roman"/>
              </a:rPr>
            </a:br>
            <a:r>
              <a:rPr lang="en-US">
                <a:latin typeface="Times New Roman"/>
                <a:ea typeface="Times New Roman"/>
                <a:cs typeface="Times New Roman"/>
              </a:rPr>
              <a:t>Methyl Benzoate outlet flow rate =</a:t>
            </a:r>
            <a:r>
              <a:rPr lang="en-US" b="1">
                <a:latin typeface="Times New Roman"/>
                <a:ea typeface="Times New Roman"/>
                <a:cs typeface="Times New Roman"/>
              </a:rPr>
              <a:t> 57.77 </a:t>
            </a:r>
            <a:r>
              <a:rPr lang="en-US" b="1" err="1">
                <a:latin typeface="Times New Roman"/>
                <a:ea typeface="Times New Roman"/>
                <a:cs typeface="Times New Roman"/>
              </a:rPr>
              <a:t>kmol</a:t>
            </a:r>
            <a:r>
              <a:rPr lang="en-US" b="1">
                <a:latin typeface="Times New Roman"/>
                <a:ea typeface="Times New Roman"/>
                <a:cs typeface="Times New Roman"/>
              </a:rPr>
              <a:t>/</a:t>
            </a:r>
            <a:r>
              <a:rPr lang="en-US" b="1" err="1">
                <a:latin typeface="Times New Roman"/>
                <a:ea typeface="Times New Roman"/>
                <a:cs typeface="Times New Roman"/>
              </a:rPr>
              <a:t>hr</a:t>
            </a:r>
            <a:endParaRPr lang="en-US"/>
          </a:p>
        </p:txBody>
      </p:sp>
    </p:spTree>
    <p:extLst>
      <p:ext uri="{BB962C8B-B14F-4D97-AF65-F5344CB8AC3E}">
        <p14:creationId xmlns:p14="http://schemas.microsoft.com/office/powerpoint/2010/main" val="105567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BDAB5D-C2C8-51FE-2CFC-2A678257F3EC}"/>
              </a:ext>
            </a:extLst>
          </p:cNvPr>
          <p:cNvSpPr>
            <a:spLocks noGrp="1"/>
          </p:cNvSpPr>
          <p:nvPr>
            <p:ph type="sldNum" sz="quarter" idx="12"/>
          </p:nvPr>
        </p:nvSpPr>
        <p:spPr/>
        <p:txBody>
          <a:bodyPr/>
          <a:lstStyle/>
          <a:p>
            <a:fld id="{330EA680-D336-4FF7-8B7A-9848BB0A1C32}" type="slidenum">
              <a:rPr lang="en-US" smtClean="0"/>
              <a:t>48</a:t>
            </a:fld>
            <a:endParaRPr lang="en-US"/>
          </a:p>
        </p:txBody>
      </p:sp>
      <p:sp>
        <p:nvSpPr>
          <p:cNvPr id="4" name="Rectangle 3">
            <a:extLst>
              <a:ext uri="{FF2B5EF4-FFF2-40B4-BE49-F238E27FC236}">
                <a16:creationId xmlns:a16="http://schemas.microsoft.com/office/drawing/2014/main" id="{4D9CC5A4-6DC6-4367-8A92-67CD9E9E0EBB}"/>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3200">
                <a:solidFill>
                  <a:schemeClr val="bg1"/>
                </a:solidFill>
                <a:latin typeface="Times New Roman"/>
                <a:cs typeface="Arial"/>
              </a:rPr>
              <a:t>DETAILED HEAT EXCHANGER:</a:t>
            </a:r>
          </a:p>
        </p:txBody>
      </p:sp>
      <p:pic>
        <p:nvPicPr>
          <p:cNvPr id="3" name="Picture 2" descr="A diagram of a structure&#10;&#10;AI-generated content may be incorrect.">
            <a:extLst>
              <a:ext uri="{FF2B5EF4-FFF2-40B4-BE49-F238E27FC236}">
                <a16:creationId xmlns:a16="http://schemas.microsoft.com/office/drawing/2014/main" id="{96F8DE8A-2588-89D3-B579-A6C980EB2D2B}"/>
              </a:ext>
            </a:extLst>
          </p:cNvPr>
          <p:cNvPicPr>
            <a:picLocks noChangeAspect="1"/>
          </p:cNvPicPr>
          <p:nvPr/>
        </p:nvPicPr>
        <p:blipFill>
          <a:blip r:embed="rId3"/>
          <a:stretch>
            <a:fillRect/>
          </a:stretch>
        </p:blipFill>
        <p:spPr>
          <a:xfrm>
            <a:off x="5642673" y="2090833"/>
            <a:ext cx="6313805" cy="3018790"/>
          </a:xfrm>
          <a:prstGeom prst="rect">
            <a:avLst/>
          </a:prstGeom>
        </p:spPr>
      </p:pic>
      <p:sp>
        <p:nvSpPr>
          <p:cNvPr id="5" name="TextBox 4">
            <a:extLst>
              <a:ext uri="{FF2B5EF4-FFF2-40B4-BE49-F238E27FC236}">
                <a16:creationId xmlns:a16="http://schemas.microsoft.com/office/drawing/2014/main" id="{02104587-949C-1765-89D3-9CF24A3E4DA9}"/>
              </a:ext>
            </a:extLst>
          </p:cNvPr>
          <p:cNvSpPr txBox="1"/>
          <p:nvPr/>
        </p:nvSpPr>
        <p:spPr>
          <a:xfrm>
            <a:off x="457200" y="1192784"/>
            <a:ext cx="510235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Times New Roman"/>
                <a:cs typeface="Times New Roman"/>
              </a:rPr>
              <a:t>The Tubular Exchanger Manufacturers Association (TEMA) is an association of manufacturers of shell and tube heat exchangers. TEMA has established a set of construction standards for </a:t>
            </a:r>
            <a:r>
              <a:rPr lang="en-US" b="1">
                <a:latin typeface="Times New Roman"/>
                <a:ea typeface="Times New Roman"/>
                <a:cs typeface="Times New Roman"/>
              </a:rPr>
              <a:t>Shell and Tube Heat Exchangers.</a:t>
            </a:r>
            <a:endParaRPr lang="en-US" b="1">
              <a:latin typeface="Times New Roman"/>
              <a:cs typeface="Times New Roman"/>
            </a:endParaRPr>
          </a:p>
        </p:txBody>
      </p:sp>
      <p:sp>
        <p:nvSpPr>
          <p:cNvPr id="6" name="TextBox 5">
            <a:extLst>
              <a:ext uri="{FF2B5EF4-FFF2-40B4-BE49-F238E27FC236}">
                <a16:creationId xmlns:a16="http://schemas.microsoft.com/office/drawing/2014/main" id="{68A5294F-B960-F9F8-5EAC-E8E78462C6B7}"/>
              </a:ext>
            </a:extLst>
          </p:cNvPr>
          <p:cNvSpPr txBox="1"/>
          <p:nvPr/>
        </p:nvSpPr>
        <p:spPr>
          <a:xfrm>
            <a:off x="457200" y="3277063"/>
            <a:ext cx="510235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ea typeface="Times New Roman"/>
                <a:cs typeface="Times New Roman"/>
              </a:rPr>
              <a:t>E-Type shell </a:t>
            </a:r>
            <a:r>
              <a:rPr lang="en-US">
                <a:latin typeface="Times New Roman"/>
                <a:ea typeface="Times New Roman"/>
                <a:cs typeface="Times New Roman"/>
              </a:rPr>
              <a:t>is the more commonly used shell type, suitable for most duties and applications.</a:t>
            </a:r>
            <a:endParaRPr lang="en-US"/>
          </a:p>
        </p:txBody>
      </p:sp>
      <p:sp>
        <p:nvSpPr>
          <p:cNvPr id="7" name="TextBox 6">
            <a:extLst>
              <a:ext uri="{FF2B5EF4-FFF2-40B4-BE49-F238E27FC236}">
                <a16:creationId xmlns:a16="http://schemas.microsoft.com/office/drawing/2014/main" id="{EEFDB065-0907-69BD-E08F-195EF94F1D3C}"/>
              </a:ext>
            </a:extLst>
          </p:cNvPr>
          <p:cNvSpPr txBox="1"/>
          <p:nvPr/>
        </p:nvSpPr>
        <p:spPr>
          <a:xfrm>
            <a:off x="457200" y="4530344"/>
            <a:ext cx="510235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ea typeface="Times New Roman"/>
                <a:cs typeface="Times New Roman"/>
              </a:rPr>
              <a:t>Tube diameter layout and pitch:</a:t>
            </a:r>
            <a:endParaRPr lang="en-US">
              <a:latin typeface="Times New Roman"/>
              <a:ea typeface="Times New Roman"/>
              <a:cs typeface="Times New Roman"/>
            </a:endParaRPr>
          </a:p>
          <a:p>
            <a:pPr algn="just"/>
            <a:r>
              <a:rPr lang="en-US">
                <a:latin typeface="Times New Roman"/>
                <a:ea typeface="Times New Roman"/>
                <a:cs typeface="Times New Roman"/>
              </a:rPr>
              <a:t>Tubes may range in diameter from 12.7 mm (0.5 in) to 50.8 mm (2 in), but 19.05 mm (0.75 in) and 25.4 mm (1 in) are the most common sizes.</a:t>
            </a:r>
            <a:endParaRPr lang="en-US">
              <a:latin typeface="Times New Roman"/>
              <a:cs typeface="Times New Roman"/>
            </a:endParaRPr>
          </a:p>
        </p:txBody>
      </p:sp>
    </p:spTree>
    <p:extLst>
      <p:ext uri="{BB962C8B-B14F-4D97-AF65-F5344CB8AC3E}">
        <p14:creationId xmlns:p14="http://schemas.microsoft.com/office/powerpoint/2010/main" val="2026671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931DCF-85C0-ED9D-B680-C3C33FED472A}"/>
              </a:ext>
            </a:extLst>
          </p:cNvPr>
          <p:cNvSpPr>
            <a:spLocks noGrp="1"/>
          </p:cNvSpPr>
          <p:nvPr>
            <p:ph type="sldNum" sz="quarter" idx="12"/>
          </p:nvPr>
        </p:nvSpPr>
        <p:spPr/>
        <p:txBody>
          <a:bodyPr/>
          <a:lstStyle/>
          <a:p>
            <a:fld id="{330EA680-D336-4FF7-8B7A-9848BB0A1C32}" type="slidenum">
              <a:rPr lang="en-US" smtClean="0"/>
              <a:t>49</a:t>
            </a:fld>
            <a:endParaRPr lang="en-US"/>
          </a:p>
        </p:txBody>
      </p:sp>
      <p:sp>
        <p:nvSpPr>
          <p:cNvPr id="4" name="Rectangle 3">
            <a:extLst>
              <a:ext uri="{FF2B5EF4-FFF2-40B4-BE49-F238E27FC236}">
                <a16:creationId xmlns:a16="http://schemas.microsoft.com/office/drawing/2014/main" id="{3CDC9BB3-8556-ED39-6DEA-E28F62EBCB67}"/>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Shell &amp; tube specification: </a:t>
            </a:r>
            <a:endParaRPr lang="en-US"/>
          </a:p>
        </p:txBody>
      </p:sp>
      <p:sp>
        <p:nvSpPr>
          <p:cNvPr id="3" name="TextBox 2">
            <a:extLst>
              <a:ext uri="{FF2B5EF4-FFF2-40B4-BE49-F238E27FC236}">
                <a16:creationId xmlns:a16="http://schemas.microsoft.com/office/drawing/2014/main" id="{07E4F2B8-1DC2-B96A-C20C-98A9FC1F4B15}"/>
              </a:ext>
            </a:extLst>
          </p:cNvPr>
          <p:cNvSpPr txBox="1"/>
          <p:nvPr/>
        </p:nvSpPr>
        <p:spPr>
          <a:xfrm>
            <a:off x="762000" y="870291"/>
            <a:ext cx="413512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0" i="0" u="none" strike="noStrike">
                <a:solidFill>
                  <a:srgbClr val="000000"/>
                </a:solidFill>
                <a:latin typeface="Times New Roman"/>
                <a:ea typeface="Times New Roman"/>
                <a:cs typeface="Times New Roman"/>
              </a:rPr>
              <a:t>Tube Specifications:</a:t>
            </a:r>
          </a:p>
          <a:p>
            <a:pPr marL="228600" indent="-228600" algn="just">
              <a:buFont typeface=""/>
              <a:buChar char="•"/>
            </a:pPr>
            <a:r>
              <a:rPr lang="en-US" i="0" u="none" strike="noStrike">
                <a:solidFill>
                  <a:srgbClr val="000000"/>
                </a:solidFill>
                <a:latin typeface="Times New Roman"/>
                <a:ea typeface="Times New Roman"/>
                <a:cs typeface="Times New Roman"/>
              </a:rPr>
              <a:t>Outer diameter: </a:t>
            </a:r>
            <a:r>
              <a:rPr lang="en-US" b="0" i="0" u="none" strike="noStrike">
                <a:solidFill>
                  <a:srgbClr val="000000"/>
                </a:solidFill>
                <a:latin typeface="Times New Roman"/>
                <a:ea typeface="Times New Roman"/>
                <a:cs typeface="Times New Roman"/>
              </a:rPr>
              <a:t>20 mm</a:t>
            </a:r>
          </a:p>
          <a:p>
            <a:pPr marL="228600" indent="-228600" algn="just">
              <a:buFont typeface=""/>
              <a:buChar char="•"/>
            </a:pPr>
            <a:r>
              <a:rPr lang="en-US" b="0" i="0" u="none" strike="noStrike">
                <a:solidFill>
                  <a:srgbClr val="000000"/>
                </a:solidFill>
                <a:latin typeface="Times New Roman"/>
                <a:ea typeface="Times New Roman"/>
                <a:cs typeface="Times New Roman"/>
              </a:rPr>
              <a:t>Inner diameter: 16 mm</a:t>
            </a:r>
          </a:p>
          <a:p>
            <a:pPr marL="228600" indent="-228600" algn="just">
              <a:buFont typeface=""/>
              <a:buChar char="•"/>
            </a:pPr>
            <a:r>
              <a:rPr lang="en-US" b="0" i="0" u="none" strike="noStrike">
                <a:solidFill>
                  <a:srgbClr val="000000"/>
                </a:solidFill>
                <a:latin typeface="Times New Roman"/>
                <a:ea typeface="Times New Roman"/>
                <a:cs typeface="Times New Roman"/>
              </a:rPr>
              <a:t>Standard Length: 4.88 m</a:t>
            </a:r>
          </a:p>
          <a:p>
            <a:pPr marL="228600" indent="-228600" algn="just">
              <a:buFont typeface=""/>
              <a:buChar char="•"/>
            </a:pPr>
            <a:r>
              <a:rPr lang="en-US" b="0" i="0" u="none" strike="noStrike">
                <a:solidFill>
                  <a:srgbClr val="000000"/>
                </a:solidFill>
                <a:latin typeface="Times New Roman"/>
                <a:ea typeface="Times New Roman"/>
                <a:cs typeface="Times New Roman"/>
              </a:rPr>
              <a:t>Area of tube (πDL) = 0.303324 m²</a:t>
            </a:r>
          </a:p>
          <a:p>
            <a:pPr marL="228600" indent="-228600" algn="just">
              <a:buFont typeface=""/>
              <a:buChar char="•"/>
            </a:pPr>
            <a:r>
              <a:rPr lang="en-US" b="0" i="0" u="none" strike="noStrike">
                <a:solidFill>
                  <a:srgbClr val="000000"/>
                </a:solidFill>
                <a:latin typeface="Times New Roman"/>
                <a:ea typeface="Times New Roman"/>
                <a:cs typeface="Times New Roman"/>
              </a:rPr>
              <a:t>Number of tubes: 2425</a:t>
            </a:r>
          </a:p>
          <a:p>
            <a:pPr marL="228600" indent="-228600" algn="just">
              <a:buFont typeface=""/>
              <a:buChar char="•"/>
            </a:pPr>
            <a:r>
              <a:rPr lang="en-US" b="0" i="0" u="none" strike="noStrike">
                <a:solidFill>
                  <a:srgbClr val="000000"/>
                </a:solidFill>
                <a:latin typeface="Times New Roman"/>
                <a:ea typeface="Times New Roman"/>
                <a:cs typeface="Times New Roman"/>
              </a:rPr>
              <a:t>Tin = 64.2 ℃, Tout = 35 ℃</a:t>
            </a:r>
          </a:p>
          <a:p>
            <a:pPr marL="228600" indent="-228600" algn="just">
              <a:buFont typeface=""/>
              <a:buChar char="•"/>
            </a:pPr>
            <a:r>
              <a:rPr lang="en-US" b="0" i="0" u="none" strike="noStrike" err="1">
                <a:solidFill>
                  <a:srgbClr val="000000"/>
                </a:solidFill>
                <a:latin typeface="Times New Roman"/>
                <a:ea typeface="Times New Roman"/>
                <a:cs typeface="Times New Roman"/>
              </a:rPr>
              <a:t>Tmean</a:t>
            </a:r>
            <a:r>
              <a:rPr lang="en-US" b="0" i="0" u="none" strike="noStrike">
                <a:solidFill>
                  <a:srgbClr val="000000"/>
                </a:solidFill>
                <a:latin typeface="Times New Roman"/>
                <a:ea typeface="Times New Roman"/>
                <a:cs typeface="Times New Roman"/>
              </a:rPr>
              <a:t> = 49.6 ℃</a:t>
            </a:r>
          </a:p>
          <a:p>
            <a:pPr marL="228600" indent="-228600" algn="just">
              <a:buFont typeface=""/>
              <a:buChar char="•"/>
            </a:pPr>
            <a:r>
              <a:rPr lang="en-US" b="0" i="0" u="none" strike="noStrike">
                <a:solidFill>
                  <a:srgbClr val="000000"/>
                </a:solidFill>
                <a:latin typeface="Times New Roman"/>
                <a:ea typeface="Times New Roman"/>
                <a:cs typeface="Times New Roman"/>
              </a:rPr>
              <a:t>Single pass</a:t>
            </a:r>
          </a:p>
          <a:p>
            <a:pPr marL="228600" indent="-228600" algn="just">
              <a:buFont typeface=""/>
              <a:buChar char="•"/>
            </a:pPr>
            <a:r>
              <a:rPr lang="en-US" b="0" i="0" u="none" strike="noStrike">
                <a:solidFill>
                  <a:srgbClr val="000000"/>
                </a:solidFill>
                <a:latin typeface="Times New Roman"/>
                <a:ea typeface="Times New Roman"/>
                <a:cs typeface="Times New Roman"/>
              </a:rPr>
              <a:t>Mass Flow rate(kg/</a:t>
            </a:r>
            <a:r>
              <a:rPr lang="en-US" b="0" i="0" u="none" strike="noStrike" err="1">
                <a:solidFill>
                  <a:srgbClr val="000000"/>
                </a:solidFill>
                <a:latin typeface="Times New Roman"/>
                <a:ea typeface="Times New Roman"/>
                <a:cs typeface="Times New Roman"/>
              </a:rPr>
              <a:t>hr</a:t>
            </a:r>
            <a:r>
              <a:rPr lang="en-US" b="0" i="0" u="none" strike="noStrike">
                <a:solidFill>
                  <a:srgbClr val="000000"/>
                </a:solidFill>
                <a:latin typeface="Times New Roman"/>
                <a:ea typeface="Times New Roman"/>
                <a:cs typeface="Times New Roman"/>
              </a:rPr>
              <a:t>) = 382130.9</a:t>
            </a:r>
          </a:p>
          <a:p>
            <a:pPr marL="228600" indent="-228600" algn="just">
              <a:buFont typeface=""/>
              <a:buChar char="•"/>
            </a:pPr>
            <a:r>
              <a:rPr lang="en-US" b="0" i="0" u="none" strike="noStrike">
                <a:solidFill>
                  <a:srgbClr val="000000"/>
                </a:solidFill>
                <a:latin typeface="Times New Roman"/>
                <a:ea typeface="Times New Roman"/>
                <a:cs typeface="Times New Roman"/>
              </a:rPr>
              <a:t>Mass Flow rate (kg/s) = 106.147</a:t>
            </a:r>
          </a:p>
          <a:p>
            <a:pPr marL="228600" indent="-228600" algn="just">
              <a:buFont typeface=""/>
              <a:buChar char="•"/>
            </a:pPr>
            <a:r>
              <a:rPr lang="en-US" b="0" i="0" u="none" strike="noStrike">
                <a:solidFill>
                  <a:srgbClr val="000000"/>
                </a:solidFill>
                <a:latin typeface="Times New Roman"/>
                <a:ea typeface="Times New Roman"/>
                <a:cs typeface="Times New Roman"/>
              </a:rPr>
              <a:t>Mass Flow velocity = 217.815 kg/m²s</a:t>
            </a:r>
          </a:p>
          <a:p>
            <a:pPr marL="228600" indent="-228600" algn="just">
              <a:buFont typeface=""/>
              <a:buChar char="•"/>
            </a:pPr>
            <a:r>
              <a:rPr lang="en-US" b="0" i="0" u="none" strike="noStrike">
                <a:solidFill>
                  <a:srgbClr val="000000"/>
                </a:solidFill>
                <a:latin typeface="Times New Roman"/>
                <a:ea typeface="Times New Roman"/>
                <a:cs typeface="Times New Roman"/>
              </a:rPr>
              <a:t>Linear velocity = 0.275 m/s</a:t>
            </a:r>
          </a:p>
        </p:txBody>
      </p:sp>
      <p:sp>
        <p:nvSpPr>
          <p:cNvPr id="5" name="TextBox 4">
            <a:extLst>
              <a:ext uri="{FF2B5EF4-FFF2-40B4-BE49-F238E27FC236}">
                <a16:creationId xmlns:a16="http://schemas.microsoft.com/office/drawing/2014/main" id="{D9CD4BB5-82F1-4701-473C-FEC81F396BF0}"/>
              </a:ext>
            </a:extLst>
          </p:cNvPr>
          <p:cNvSpPr txBox="1"/>
          <p:nvPr/>
        </p:nvSpPr>
        <p:spPr>
          <a:xfrm>
            <a:off x="977392" y="4552275"/>
            <a:ext cx="375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Times New Roman"/>
                <a:cs typeface="Times New Roman"/>
              </a:rPr>
              <a:t>Pitch = 1.25 * outer diameter = 25 mm</a:t>
            </a:r>
            <a:endParaRPr lang="en-US"/>
          </a:p>
        </p:txBody>
      </p:sp>
      <p:sp>
        <p:nvSpPr>
          <p:cNvPr id="6" name="TextBox 5">
            <a:extLst>
              <a:ext uri="{FF2B5EF4-FFF2-40B4-BE49-F238E27FC236}">
                <a16:creationId xmlns:a16="http://schemas.microsoft.com/office/drawing/2014/main" id="{AEA75321-5627-5F87-C3EA-775DBC7024D5}"/>
              </a:ext>
            </a:extLst>
          </p:cNvPr>
          <p:cNvSpPr txBox="1"/>
          <p:nvPr/>
        </p:nvSpPr>
        <p:spPr>
          <a:xfrm>
            <a:off x="762000" y="5289847"/>
            <a:ext cx="709269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ea typeface="Times New Roman"/>
                <a:cs typeface="Times New Roman"/>
              </a:rPr>
              <a:t>The triangular arrangement allows more tubes in a given space.</a:t>
            </a:r>
            <a:endParaRPr lang="en-US">
              <a:latin typeface="Aptos" panose="020B0004020202020204"/>
              <a:ea typeface="Times New Roman"/>
              <a:cs typeface="Times New Roman"/>
            </a:endParaRPr>
          </a:p>
          <a:p>
            <a:pPr algn="just"/>
            <a:r>
              <a:rPr lang="en-US">
                <a:latin typeface="Times New Roman"/>
                <a:ea typeface="Times New Roman"/>
                <a:cs typeface="Times New Roman"/>
              </a:rPr>
              <a:t>In our system the number of tubes is 2425 so we’ll use triangular arrangement.</a:t>
            </a:r>
            <a:endParaRPr lang="en-US"/>
          </a:p>
        </p:txBody>
      </p:sp>
      <p:pic>
        <p:nvPicPr>
          <p:cNvPr id="7" name="Picture 6">
            <a:extLst>
              <a:ext uri="{FF2B5EF4-FFF2-40B4-BE49-F238E27FC236}">
                <a16:creationId xmlns:a16="http://schemas.microsoft.com/office/drawing/2014/main" id="{C38A4B94-81EE-DDA9-F190-5558A0D6DF5B}"/>
              </a:ext>
            </a:extLst>
          </p:cNvPr>
          <p:cNvPicPr>
            <a:picLocks noChangeAspect="1"/>
          </p:cNvPicPr>
          <p:nvPr/>
        </p:nvPicPr>
        <p:blipFill>
          <a:blip r:embed="rId3"/>
          <a:stretch>
            <a:fillRect/>
          </a:stretch>
        </p:blipFill>
        <p:spPr>
          <a:xfrm>
            <a:off x="7997190" y="5003502"/>
            <a:ext cx="2305050" cy="1209675"/>
          </a:xfrm>
          <a:prstGeom prst="rect">
            <a:avLst/>
          </a:prstGeom>
        </p:spPr>
      </p:pic>
      <p:sp>
        <p:nvSpPr>
          <p:cNvPr id="9" name="TextBox 2">
            <a:extLst>
              <a:ext uri="{FF2B5EF4-FFF2-40B4-BE49-F238E27FC236}">
                <a16:creationId xmlns:a16="http://schemas.microsoft.com/office/drawing/2014/main" id="{6A5CF847-FADA-C6C0-FCD1-80C14CE4D4C7}"/>
              </a:ext>
            </a:extLst>
          </p:cNvPr>
          <p:cNvSpPr txBox="1"/>
          <p:nvPr/>
        </p:nvSpPr>
        <p:spPr>
          <a:xfrm>
            <a:off x="7218680" y="1266854"/>
            <a:ext cx="4135120" cy="32316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a:solidFill>
                  <a:srgbClr val="000000"/>
                </a:solidFill>
                <a:latin typeface="Times New Roman"/>
                <a:ea typeface="Times New Roman"/>
                <a:cs typeface="Times New Roman"/>
              </a:rPr>
              <a:t>Shell</a:t>
            </a:r>
            <a:r>
              <a:rPr lang="en-US" sz="2400" b="0" i="0" u="none" strike="noStrike">
                <a:solidFill>
                  <a:srgbClr val="000000"/>
                </a:solidFill>
                <a:latin typeface="Times New Roman"/>
                <a:ea typeface="Times New Roman"/>
                <a:cs typeface="Times New Roman"/>
              </a:rPr>
              <a:t> Specifications:</a:t>
            </a:r>
          </a:p>
          <a:p>
            <a:pPr marL="285750" indent="-285750" algn="just">
              <a:buFont typeface="Arial"/>
              <a:buChar char="•"/>
            </a:pPr>
            <a:r>
              <a:rPr lang="en-US">
                <a:solidFill>
                  <a:srgbClr val="000000"/>
                </a:solidFill>
                <a:latin typeface="Times New Roman"/>
                <a:cs typeface="Arial"/>
              </a:rPr>
              <a:t>Diameter = 1441 mm</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Mass flow rate = 600000 kg/</a:t>
            </a:r>
            <a:r>
              <a:rPr lang="en-US" err="1">
                <a:solidFill>
                  <a:srgbClr val="000000"/>
                </a:solidFill>
                <a:latin typeface="Times New Roman"/>
                <a:cs typeface="Arial"/>
              </a:rPr>
              <a:t>hr</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Mass flow rate = 166.67 kg/s</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Mass flow velocity = 2005.78 kg/m²s</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Tin = 25 ℃</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Tout = 40 ℃</a:t>
            </a:r>
            <a:endParaRPr lang="en-US">
              <a:latin typeface="Times New Roman"/>
              <a:cs typeface="Times New Roman"/>
            </a:endParaRPr>
          </a:p>
          <a:p>
            <a:pPr marL="285750" indent="-285750" algn="just">
              <a:buFont typeface="Arial"/>
              <a:buChar char="•"/>
            </a:pPr>
            <a:r>
              <a:rPr lang="en-US" err="1">
                <a:solidFill>
                  <a:srgbClr val="000000"/>
                </a:solidFill>
                <a:latin typeface="Times New Roman"/>
                <a:cs typeface="Arial"/>
              </a:rPr>
              <a:t>Tmean</a:t>
            </a:r>
            <a:r>
              <a:rPr lang="en-US">
                <a:solidFill>
                  <a:srgbClr val="000000"/>
                </a:solidFill>
                <a:latin typeface="Times New Roman"/>
                <a:cs typeface="Arial"/>
              </a:rPr>
              <a:t> = 32.5 ℃</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Reynold’s number = 32004.6</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Prandtl number = 6.2</a:t>
            </a:r>
            <a:endParaRPr lang="en-US">
              <a:latin typeface="Times New Roman"/>
              <a:cs typeface="Times New Roman"/>
            </a:endParaRPr>
          </a:p>
          <a:p>
            <a:pPr marL="285750" indent="-285750" algn="just">
              <a:buFont typeface="Arial"/>
              <a:buChar char="•"/>
            </a:pPr>
            <a:r>
              <a:rPr lang="en-US">
                <a:solidFill>
                  <a:srgbClr val="000000"/>
                </a:solidFill>
                <a:latin typeface="Times New Roman"/>
                <a:cs typeface="Arial"/>
              </a:rPr>
              <a:t>Baffle cut = 25%</a:t>
            </a:r>
            <a:endParaRPr lang="en-US">
              <a:latin typeface="Times New Roman"/>
              <a:cs typeface="Times New Roman"/>
            </a:endParaRPr>
          </a:p>
        </p:txBody>
      </p:sp>
    </p:spTree>
    <p:extLst>
      <p:ext uri="{BB962C8B-B14F-4D97-AF65-F5344CB8AC3E}">
        <p14:creationId xmlns:p14="http://schemas.microsoft.com/office/powerpoint/2010/main" val="35785123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game&#10;&#10;AI-generated content may be incorrect.">
            <a:extLst>
              <a:ext uri="{FF2B5EF4-FFF2-40B4-BE49-F238E27FC236}">
                <a16:creationId xmlns:a16="http://schemas.microsoft.com/office/drawing/2014/main" id="{35DB78F2-BBD5-BE2A-44A4-C7710C181FA9}"/>
              </a:ext>
            </a:extLst>
          </p:cNvPr>
          <p:cNvPicPr>
            <a:picLocks noChangeAspect="1"/>
          </p:cNvPicPr>
          <p:nvPr/>
        </p:nvPicPr>
        <p:blipFill>
          <a:blip r:embed="rId3"/>
          <a:stretch>
            <a:fillRect/>
          </a:stretch>
        </p:blipFill>
        <p:spPr>
          <a:xfrm>
            <a:off x="6224070" y="761861"/>
            <a:ext cx="5967930" cy="4166096"/>
          </a:xfrm>
          <a:prstGeom prst="rect">
            <a:avLst/>
          </a:prstGeom>
        </p:spPr>
      </p:pic>
      <p:sp>
        <p:nvSpPr>
          <p:cNvPr id="2" name="Slide Number Placeholder 1">
            <a:extLst>
              <a:ext uri="{FF2B5EF4-FFF2-40B4-BE49-F238E27FC236}">
                <a16:creationId xmlns:a16="http://schemas.microsoft.com/office/drawing/2014/main" id="{ABD2636F-C7E3-6657-3176-D70BD4FCBEA6}"/>
              </a:ext>
            </a:extLst>
          </p:cNvPr>
          <p:cNvSpPr>
            <a:spLocks noGrp="1"/>
          </p:cNvSpPr>
          <p:nvPr>
            <p:ph type="sldNum" sz="quarter" idx="12"/>
          </p:nvPr>
        </p:nvSpPr>
        <p:spPr/>
        <p:txBody>
          <a:bodyPr/>
          <a:lstStyle/>
          <a:p>
            <a:fld id="{330EA680-D336-4FF7-8B7A-9848BB0A1C32}" type="slidenum">
              <a:rPr lang="en-US" smtClean="0"/>
              <a:t>50</a:t>
            </a:fld>
            <a:endParaRPr lang="en-US"/>
          </a:p>
        </p:txBody>
      </p:sp>
      <p:sp>
        <p:nvSpPr>
          <p:cNvPr id="4" name="Rectangle 3">
            <a:extLst>
              <a:ext uri="{FF2B5EF4-FFF2-40B4-BE49-F238E27FC236}">
                <a16:creationId xmlns:a16="http://schemas.microsoft.com/office/drawing/2014/main" id="{B86085AF-B441-476C-8017-3109614BFA5E}"/>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panose="02020603050405020304" pitchFamily="18" charset="0"/>
                <a:cs typeface="Times New Roman" panose="02020603050405020304" pitchFamily="18" charset="0"/>
              </a:rPr>
              <a:t>Heat exchanger INTERIOR DESIGN</a:t>
            </a:r>
          </a:p>
        </p:txBody>
      </p:sp>
      <p:sp>
        <p:nvSpPr>
          <p:cNvPr id="3" name="TextBox 2">
            <a:extLst>
              <a:ext uri="{FF2B5EF4-FFF2-40B4-BE49-F238E27FC236}">
                <a16:creationId xmlns:a16="http://schemas.microsoft.com/office/drawing/2014/main" id="{73CE523E-8113-9145-AD59-59ADC6B62448}"/>
              </a:ext>
            </a:extLst>
          </p:cNvPr>
          <p:cNvSpPr txBox="1"/>
          <p:nvPr/>
        </p:nvSpPr>
        <p:spPr>
          <a:xfrm>
            <a:off x="669073" y="10414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i="0" u="none" strike="noStrike">
                <a:solidFill>
                  <a:srgbClr val="000000"/>
                </a:solidFill>
                <a:latin typeface="Times New Roman"/>
                <a:ea typeface="Times New Roman"/>
                <a:cs typeface="Times New Roman"/>
              </a:rPr>
              <a:t>Baffle types</a:t>
            </a:r>
          </a:p>
          <a:p>
            <a:pPr algn="just"/>
            <a:r>
              <a:rPr lang="en-US" b="0" i="0" u="none" strike="noStrike">
                <a:solidFill>
                  <a:srgbClr val="000000"/>
                </a:solidFill>
                <a:latin typeface="Times New Roman"/>
                <a:ea typeface="Times New Roman"/>
                <a:cs typeface="Times New Roman"/>
              </a:rPr>
              <a:t>Baffles are installed on the shell side to give a higher heat-transfer rate due to increased turbulence and to support the tubes thus reducing the chance of damage due to vibration.</a:t>
            </a:r>
          </a:p>
        </p:txBody>
      </p:sp>
      <p:sp>
        <p:nvSpPr>
          <p:cNvPr id="6" name="TextBox 5">
            <a:extLst>
              <a:ext uri="{FF2B5EF4-FFF2-40B4-BE49-F238E27FC236}">
                <a16:creationId xmlns:a16="http://schemas.microsoft.com/office/drawing/2014/main" id="{8B31416E-DC16-29BB-FFE9-BAA10F2AE1E8}"/>
              </a:ext>
            </a:extLst>
          </p:cNvPr>
          <p:cNvSpPr txBox="1"/>
          <p:nvPr/>
        </p:nvSpPr>
        <p:spPr>
          <a:xfrm>
            <a:off x="669073" y="2650699"/>
            <a:ext cx="47950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en-US" b="1" i="1">
                <a:solidFill>
                  <a:srgbClr val="2E393D"/>
                </a:solidFill>
                <a:latin typeface="Times New Roman"/>
                <a:ea typeface="Times New Roman"/>
                <a:cs typeface="Times New Roman"/>
              </a:rPr>
              <a:t>Single segmental </a:t>
            </a:r>
            <a:r>
              <a:rPr lang="en-US" b="1">
                <a:solidFill>
                  <a:srgbClr val="2E393D"/>
                </a:solidFill>
                <a:latin typeface="Times New Roman"/>
                <a:ea typeface="Times New Roman"/>
                <a:cs typeface="Times New Roman"/>
              </a:rPr>
              <a:t>(this is the most common)</a:t>
            </a:r>
          </a:p>
        </p:txBody>
      </p:sp>
      <p:sp>
        <p:nvSpPr>
          <p:cNvPr id="7" name="TextBox 6">
            <a:extLst>
              <a:ext uri="{FF2B5EF4-FFF2-40B4-BE49-F238E27FC236}">
                <a16:creationId xmlns:a16="http://schemas.microsoft.com/office/drawing/2014/main" id="{141C3BAB-79EA-D7F0-E2ED-539A2E68C866}"/>
              </a:ext>
            </a:extLst>
          </p:cNvPr>
          <p:cNvSpPr txBox="1"/>
          <p:nvPr/>
        </p:nvSpPr>
        <p:spPr>
          <a:xfrm>
            <a:off x="669073" y="342900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ea typeface="Arial"/>
                <a:cs typeface="Times New Roman"/>
              </a:rPr>
              <a:t>Baffles specification:</a:t>
            </a:r>
          </a:p>
          <a:p>
            <a:pPr marL="228600" indent="-228600" algn="just">
              <a:buFont typeface=""/>
              <a:buChar char="•"/>
            </a:pPr>
            <a:r>
              <a:rPr lang="en-US" b="1">
                <a:latin typeface="Times New Roman"/>
                <a:ea typeface="Arial"/>
                <a:cs typeface="Times New Roman"/>
              </a:rPr>
              <a:t>Number of baffles</a:t>
            </a:r>
            <a:r>
              <a:rPr lang="en-US">
                <a:latin typeface="Times New Roman"/>
                <a:ea typeface="Arial"/>
                <a:cs typeface="Times New Roman"/>
              </a:rPr>
              <a:t> = 5</a:t>
            </a:r>
          </a:p>
          <a:p>
            <a:pPr marL="228600" indent="-228600" algn="just">
              <a:buFont typeface=""/>
              <a:buChar char="•"/>
            </a:pPr>
            <a:r>
              <a:rPr lang="en-US" b="1">
                <a:latin typeface="Times New Roman"/>
                <a:ea typeface="Arial"/>
                <a:cs typeface="Times New Roman"/>
              </a:rPr>
              <a:t>Baffle spacing(20 % of shell diameter) </a:t>
            </a:r>
            <a:r>
              <a:rPr lang="en-US">
                <a:latin typeface="Times New Roman"/>
                <a:ea typeface="Arial"/>
                <a:cs typeface="Times New Roman"/>
              </a:rPr>
              <a:t>= 288.25 mm</a:t>
            </a:r>
          </a:p>
        </p:txBody>
      </p:sp>
    </p:spTree>
    <p:extLst>
      <p:ext uri="{BB962C8B-B14F-4D97-AF65-F5344CB8AC3E}">
        <p14:creationId xmlns:p14="http://schemas.microsoft.com/office/powerpoint/2010/main" val="42225977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17754-F2DC-8884-B1E2-F8D9B63F750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CFBB99-68BC-41F9-32A6-6A5430326319}"/>
              </a:ext>
            </a:extLst>
          </p:cNvPr>
          <p:cNvSpPr>
            <a:spLocks noGrp="1"/>
          </p:cNvSpPr>
          <p:nvPr>
            <p:ph type="sldNum" sz="quarter" idx="12"/>
          </p:nvPr>
        </p:nvSpPr>
        <p:spPr/>
        <p:txBody>
          <a:bodyPr/>
          <a:lstStyle/>
          <a:p>
            <a:fld id="{330EA680-D336-4FF7-8B7A-9848BB0A1C32}" type="slidenum">
              <a:rPr lang="en-US" smtClean="0"/>
              <a:t>51</a:t>
            </a:fld>
            <a:endParaRPr lang="en-US"/>
          </a:p>
        </p:txBody>
      </p:sp>
      <p:sp>
        <p:nvSpPr>
          <p:cNvPr id="4" name="Rectangle 3">
            <a:extLst>
              <a:ext uri="{FF2B5EF4-FFF2-40B4-BE49-F238E27FC236}">
                <a16:creationId xmlns:a16="http://schemas.microsoft.com/office/drawing/2014/main" id="{9AF8B098-E47D-AE7F-C234-4447DCD540F2}"/>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latin typeface="Times New Roman"/>
                <a:cs typeface="Times New Roman"/>
              </a:rPr>
              <a:t> Exchanger details: </a:t>
            </a:r>
          </a:p>
        </p:txBody>
      </p:sp>
      <p:pic>
        <p:nvPicPr>
          <p:cNvPr id="8" name="Picture 7" descr="A screenshot of a computer&#10;&#10;AI-generated content may be incorrect.">
            <a:extLst>
              <a:ext uri="{FF2B5EF4-FFF2-40B4-BE49-F238E27FC236}">
                <a16:creationId xmlns:a16="http://schemas.microsoft.com/office/drawing/2014/main" id="{12A4BFAC-1E50-032F-E393-F8843EA57DB9}"/>
              </a:ext>
            </a:extLst>
          </p:cNvPr>
          <p:cNvPicPr>
            <a:picLocks noChangeAspect="1"/>
          </p:cNvPicPr>
          <p:nvPr/>
        </p:nvPicPr>
        <p:blipFill>
          <a:blip r:embed="rId3"/>
          <a:stretch>
            <a:fillRect/>
          </a:stretch>
        </p:blipFill>
        <p:spPr>
          <a:xfrm>
            <a:off x="5959379" y="1132902"/>
            <a:ext cx="5468743" cy="4852406"/>
          </a:xfrm>
          <a:prstGeom prst="rect">
            <a:avLst/>
          </a:prstGeom>
        </p:spPr>
      </p:pic>
      <p:sp>
        <p:nvSpPr>
          <p:cNvPr id="9" name="TextBox 8">
            <a:extLst>
              <a:ext uri="{FF2B5EF4-FFF2-40B4-BE49-F238E27FC236}">
                <a16:creationId xmlns:a16="http://schemas.microsoft.com/office/drawing/2014/main" id="{411CA33E-9023-04C1-4578-33CE0099604C}"/>
              </a:ext>
            </a:extLst>
          </p:cNvPr>
          <p:cNvSpPr txBox="1"/>
          <p:nvPr/>
        </p:nvSpPr>
        <p:spPr>
          <a:xfrm>
            <a:off x="882509" y="1989444"/>
            <a:ext cx="428385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ea typeface="Arial"/>
                <a:cs typeface="Arial"/>
              </a:rPr>
              <a:t>Calculated:</a:t>
            </a:r>
          </a:p>
          <a:p>
            <a:pPr marL="228600" indent="-228600" algn="just">
              <a:buFont typeface=""/>
              <a:buChar char="•"/>
            </a:pPr>
            <a:r>
              <a:rPr lang="en-US">
                <a:latin typeface="Times New Roman"/>
                <a:ea typeface="Arial"/>
                <a:cs typeface="Arial"/>
              </a:rPr>
              <a:t>Heat exchanger area = 735.3 m²</a:t>
            </a:r>
          </a:p>
          <a:p>
            <a:pPr marL="228600" indent="-228600" algn="just">
              <a:buFont typeface=""/>
              <a:buChar char="•"/>
            </a:pPr>
            <a:r>
              <a:rPr lang="en-US">
                <a:latin typeface="Times New Roman"/>
                <a:ea typeface="Arial"/>
                <a:cs typeface="Arial"/>
              </a:rPr>
              <a:t>UA value = 625 kW/K</a:t>
            </a:r>
          </a:p>
          <a:p>
            <a:pPr marL="228600" indent="-228600" algn="just">
              <a:buFont typeface=""/>
              <a:buChar char="•"/>
            </a:pPr>
            <a:endParaRPr lang="en-US">
              <a:latin typeface="Times New Roman"/>
              <a:ea typeface="Arial"/>
              <a:cs typeface="Arial"/>
            </a:endParaRPr>
          </a:p>
          <a:p>
            <a:pPr algn="just"/>
            <a:endParaRPr lang="en-US">
              <a:latin typeface="Times New Roman"/>
              <a:ea typeface="Arial"/>
              <a:cs typeface="Arial"/>
            </a:endParaRPr>
          </a:p>
          <a:p>
            <a:pPr algn="just"/>
            <a:r>
              <a:rPr lang="en-US" b="1">
                <a:latin typeface="Times New Roman"/>
                <a:ea typeface="Arial"/>
                <a:cs typeface="Arial"/>
              </a:rPr>
              <a:t>Aspen Results:</a:t>
            </a:r>
          </a:p>
          <a:p>
            <a:pPr marL="228600" indent="-228600" algn="just">
              <a:buFont typeface=""/>
              <a:buChar char="•"/>
            </a:pPr>
            <a:r>
              <a:rPr lang="en-US">
                <a:latin typeface="Times New Roman"/>
                <a:ea typeface="Arial"/>
                <a:cs typeface="Arial"/>
              </a:rPr>
              <a:t>Heat exchanger area = 721.45 m²</a:t>
            </a:r>
          </a:p>
          <a:p>
            <a:pPr marL="228600" indent="-228600" algn="just">
              <a:buFont typeface=""/>
              <a:buChar char="•"/>
            </a:pPr>
            <a:r>
              <a:rPr lang="en-US">
                <a:latin typeface="Times New Roman"/>
                <a:ea typeface="Arial"/>
                <a:cs typeface="Arial"/>
              </a:rPr>
              <a:t>UA value = 613.24 kW/K</a:t>
            </a:r>
          </a:p>
          <a:p>
            <a:pPr algn="just"/>
            <a:endParaRPr lang="en-US">
              <a:latin typeface="Times New Roman"/>
              <a:ea typeface="Arial"/>
              <a:cs typeface="Arial"/>
            </a:endParaRPr>
          </a:p>
          <a:p>
            <a:pPr algn="just"/>
            <a:r>
              <a:rPr lang="en-US">
                <a:latin typeface="Times New Roman"/>
                <a:ea typeface="Arial"/>
                <a:cs typeface="Arial"/>
              </a:rPr>
              <a:t>The above calculated data matches with results obtained from Aspen:</a:t>
            </a:r>
            <a:endParaRPr lang="en-US">
              <a:latin typeface="Times New Roman"/>
            </a:endParaRPr>
          </a:p>
        </p:txBody>
      </p:sp>
    </p:spTree>
    <p:extLst>
      <p:ext uri="{BB962C8B-B14F-4D97-AF65-F5344CB8AC3E}">
        <p14:creationId xmlns:p14="http://schemas.microsoft.com/office/powerpoint/2010/main" val="31506104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759B47-3AD4-6CDD-2069-CE5F8DC7FCEC}"/>
              </a:ext>
            </a:extLst>
          </p:cNvPr>
          <p:cNvSpPr>
            <a:spLocks noGrp="1"/>
          </p:cNvSpPr>
          <p:nvPr>
            <p:ph type="sldNum" sz="quarter" idx="12"/>
          </p:nvPr>
        </p:nvSpPr>
        <p:spPr/>
        <p:txBody>
          <a:bodyPr/>
          <a:lstStyle/>
          <a:p>
            <a:fld id="{330EA680-D336-4FF7-8B7A-9848BB0A1C32}" type="slidenum">
              <a:rPr lang="en-US" smtClean="0"/>
              <a:t>52</a:t>
            </a:fld>
            <a:endParaRPr lang="en-US"/>
          </a:p>
        </p:txBody>
      </p:sp>
      <p:sp>
        <p:nvSpPr>
          <p:cNvPr id="4" name="Rectangle 3">
            <a:extLst>
              <a:ext uri="{FF2B5EF4-FFF2-40B4-BE49-F238E27FC236}">
                <a16:creationId xmlns:a16="http://schemas.microsoft.com/office/drawing/2014/main" id="{7B41A4C9-F25E-1E5B-0FB3-54B436936597}"/>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b="1" cap="all">
                <a:solidFill>
                  <a:schemeClr val="bg1"/>
                </a:solidFill>
                <a:latin typeface="Times New Roman"/>
                <a:cs typeface="Times New Roman"/>
              </a:rPr>
              <a:t>Exchanger Design specifications (EDR) :</a:t>
            </a:r>
            <a:r>
              <a:rPr lang="en-US" sz="2800" cap="all">
                <a:latin typeface="Times New Roman"/>
                <a:cs typeface="Times New Roman"/>
              </a:rPr>
              <a:t> </a:t>
            </a:r>
            <a:endParaRPr lang="en-US">
              <a:latin typeface="Times New Roman"/>
              <a:cs typeface="Times New Roman"/>
            </a:endParaRPr>
          </a:p>
        </p:txBody>
      </p:sp>
      <p:pic>
        <p:nvPicPr>
          <p:cNvPr id="3" name="Picture 2" descr="A screenshot of a computer&#10;&#10;AI-generated content may be incorrect.">
            <a:extLst>
              <a:ext uri="{FF2B5EF4-FFF2-40B4-BE49-F238E27FC236}">
                <a16:creationId xmlns:a16="http://schemas.microsoft.com/office/drawing/2014/main" id="{7106C5FD-6E4B-6EBD-9C5B-91D64BC8C470}"/>
              </a:ext>
            </a:extLst>
          </p:cNvPr>
          <p:cNvPicPr>
            <a:picLocks noChangeAspect="1"/>
          </p:cNvPicPr>
          <p:nvPr/>
        </p:nvPicPr>
        <p:blipFill>
          <a:blip r:embed="rId2"/>
          <a:stretch>
            <a:fillRect/>
          </a:stretch>
        </p:blipFill>
        <p:spPr>
          <a:xfrm>
            <a:off x="2548871" y="1406228"/>
            <a:ext cx="6826404" cy="4433771"/>
          </a:xfrm>
          <a:prstGeom prst="rect">
            <a:avLst/>
          </a:prstGeom>
        </p:spPr>
      </p:pic>
    </p:spTree>
    <p:extLst>
      <p:ext uri="{BB962C8B-B14F-4D97-AF65-F5344CB8AC3E}">
        <p14:creationId xmlns:p14="http://schemas.microsoft.com/office/powerpoint/2010/main" val="34841348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FA4FC6-1A6D-4C52-1C1D-C77926D839A3}"/>
              </a:ext>
            </a:extLst>
          </p:cNvPr>
          <p:cNvSpPr>
            <a:spLocks noGrp="1"/>
          </p:cNvSpPr>
          <p:nvPr>
            <p:ph type="sldNum" sz="quarter" idx="12"/>
          </p:nvPr>
        </p:nvSpPr>
        <p:spPr/>
        <p:txBody>
          <a:bodyPr/>
          <a:lstStyle/>
          <a:p>
            <a:fld id="{330EA680-D336-4FF7-8B7A-9848BB0A1C32}" type="slidenum">
              <a:rPr lang="en-US" smtClean="0"/>
              <a:t>53</a:t>
            </a:fld>
            <a:endParaRPr lang="en-US"/>
          </a:p>
        </p:txBody>
      </p:sp>
      <p:sp>
        <p:nvSpPr>
          <p:cNvPr id="4" name="Rectangle 3">
            <a:extLst>
              <a:ext uri="{FF2B5EF4-FFF2-40B4-BE49-F238E27FC236}">
                <a16:creationId xmlns:a16="http://schemas.microsoft.com/office/drawing/2014/main" id="{3E11D7B1-6C9A-FE66-3A44-F6EBCAB24CFA}"/>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800" b="1" cap="all">
                <a:solidFill>
                  <a:schemeClr val="bg1"/>
                </a:solidFill>
                <a:latin typeface="Times New Roman"/>
                <a:ea typeface="+mn-lt"/>
                <a:cs typeface="Arial"/>
              </a:rPr>
              <a:t>       Exchanger Design and Rating (EDR) :</a:t>
            </a:r>
            <a:endParaRPr lang="en-US" sz="2800">
              <a:solidFill>
                <a:schemeClr val="bg1"/>
              </a:solidFill>
              <a:latin typeface="Times New Roman"/>
            </a:endParaRPr>
          </a:p>
        </p:txBody>
      </p:sp>
      <p:sp>
        <p:nvSpPr>
          <p:cNvPr id="3" name="TextBox 2">
            <a:extLst>
              <a:ext uri="{FF2B5EF4-FFF2-40B4-BE49-F238E27FC236}">
                <a16:creationId xmlns:a16="http://schemas.microsoft.com/office/drawing/2014/main" id="{D1970A95-FBF3-11FD-86EA-7644DD493FBF}"/>
              </a:ext>
            </a:extLst>
          </p:cNvPr>
          <p:cNvSpPr txBox="1"/>
          <p:nvPr/>
        </p:nvSpPr>
        <p:spPr>
          <a:xfrm>
            <a:off x="956923" y="986519"/>
            <a:ext cx="101256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b="1">
                <a:latin typeface="Times New Roman"/>
                <a:ea typeface="Arial"/>
                <a:cs typeface="Arial"/>
              </a:rPr>
              <a:t>EDR</a:t>
            </a:r>
            <a:r>
              <a:rPr lang="en-US">
                <a:latin typeface="Times New Roman"/>
                <a:ea typeface="Arial"/>
                <a:cs typeface="Arial"/>
              </a:rPr>
              <a:t> is a feature in Aspen used for the thermal and mechanical design and analysis of heat exchangers.</a:t>
            </a:r>
            <a:endParaRPr lang="en-US">
              <a:latin typeface="Times New Roman"/>
            </a:endParaRPr>
          </a:p>
        </p:txBody>
      </p:sp>
      <p:pic>
        <p:nvPicPr>
          <p:cNvPr id="5" name="Picture 4" descr="A screenshot of a computer&#10;&#10;AI-generated content may be incorrect.">
            <a:extLst>
              <a:ext uri="{FF2B5EF4-FFF2-40B4-BE49-F238E27FC236}">
                <a16:creationId xmlns:a16="http://schemas.microsoft.com/office/drawing/2014/main" id="{CD2FE5DE-5953-A791-A8AE-A58CB2215514}"/>
              </a:ext>
            </a:extLst>
          </p:cNvPr>
          <p:cNvPicPr>
            <a:picLocks noChangeAspect="1"/>
          </p:cNvPicPr>
          <p:nvPr/>
        </p:nvPicPr>
        <p:blipFill>
          <a:blip r:embed="rId3"/>
          <a:stretch>
            <a:fillRect/>
          </a:stretch>
        </p:blipFill>
        <p:spPr>
          <a:xfrm>
            <a:off x="1330713" y="1483500"/>
            <a:ext cx="9530575" cy="230621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FCC2E582-7E02-F83B-2618-B260F2405DA4}"/>
              </a:ext>
            </a:extLst>
          </p:cNvPr>
          <p:cNvPicPr>
            <a:picLocks noChangeAspect="1"/>
          </p:cNvPicPr>
          <p:nvPr/>
        </p:nvPicPr>
        <p:blipFill>
          <a:blip r:embed="rId4"/>
          <a:stretch>
            <a:fillRect/>
          </a:stretch>
        </p:blipFill>
        <p:spPr>
          <a:xfrm>
            <a:off x="1330713" y="4030593"/>
            <a:ext cx="9530575" cy="2566638"/>
          </a:xfrm>
          <a:prstGeom prst="rect">
            <a:avLst/>
          </a:prstGeom>
        </p:spPr>
      </p:pic>
      <p:sp>
        <p:nvSpPr>
          <p:cNvPr id="8" name="TextBox 7">
            <a:extLst>
              <a:ext uri="{FF2B5EF4-FFF2-40B4-BE49-F238E27FC236}">
                <a16:creationId xmlns:a16="http://schemas.microsoft.com/office/drawing/2014/main" id="{592C69FF-C739-6C07-C8DA-31C4ABB74D1F}"/>
              </a:ext>
            </a:extLst>
          </p:cNvPr>
          <p:cNvSpPr txBox="1"/>
          <p:nvPr/>
        </p:nvSpPr>
        <p:spPr>
          <a:xfrm>
            <a:off x="5433021" y="1905177"/>
            <a:ext cx="54282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Arial"/>
                <a:cs typeface="Arial"/>
              </a:rPr>
              <a:t>Tube results (All the properties of hot fluid, </a:t>
            </a:r>
            <a:r>
              <a:rPr lang="en-US" b="1">
                <a:latin typeface="Times New Roman"/>
                <a:ea typeface="Arial"/>
                <a:cs typeface="Arial"/>
              </a:rPr>
              <a:t>methanol</a:t>
            </a:r>
            <a:r>
              <a:rPr lang="en-US">
                <a:latin typeface="Times New Roman"/>
                <a:ea typeface="Arial"/>
                <a:cs typeface="Arial"/>
              </a:rPr>
              <a:t>):</a:t>
            </a:r>
            <a:endParaRPr lang="en-US">
              <a:latin typeface="Times New Roman"/>
            </a:endParaRPr>
          </a:p>
        </p:txBody>
      </p:sp>
      <p:sp>
        <p:nvSpPr>
          <p:cNvPr id="9" name="TextBox 8">
            <a:extLst>
              <a:ext uri="{FF2B5EF4-FFF2-40B4-BE49-F238E27FC236}">
                <a16:creationId xmlns:a16="http://schemas.microsoft.com/office/drawing/2014/main" id="{703B06AD-CE33-7C39-97D2-BD1C2B595987}"/>
              </a:ext>
            </a:extLst>
          </p:cNvPr>
          <p:cNvSpPr txBox="1"/>
          <p:nvPr/>
        </p:nvSpPr>
        <p:spPr>
          <a:xfrm>
            <a:off x="5483722" y="4519033"/>
            <a:ext cx="53268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Arial"/>
                <a:cs typeface="Arial"/>
              </a:rPr>
              <a:t>Shell results</a:t>
            </a:r>
            <a:r>
              <a:rPr lang="en-US">
                <a:latin typeface="Times New Roman"/>
                <a:ea typeface="Arial"/>
                <a:cs typeface="Times New Roman"/>
              </a:rPr>
              <a:t> </a:t>
            </a:r>
            <a:r>
              <a:rPr lang="en-US">
                <a:latin typeface="Times New Roman"/>
                <a:ea typeface="Arial"/>
                <a:cs typeface="Arial"/>
              </a:rPr>
              <a:t>(All the properties of cold fluid, </a:t>
            </a:r>
            <a:r>
              <a:rPr lang="en-US" b="1">
                <a:latin typeface="Times New Roman"/>
                <a:ea typeface="Arial"/>
                <a:cs typeface="Arial"/>
              </a:rPr>
              <a:t>water</a:t>
            </a:r>
            <a:r>
              <a:rPr lang="en-US">
                <a:latin typeface="Times New Roman"/>
                <a:ea typeface="Arial"/>
                <a:cs typeface="Arial"/>
              </a:rPr>
              <a:t>):</a:t>
            </a:r>
            <a:endParaRPr lang="en-US">
              <a:latin typeface="Times New Roman"/>
              <a:cs typeface="Times New Roman"/>
            </a:endParaRPr>
          </a:p>
        </p:txBody>
      </p:sp>
    </p:spTree>
    <p:extLst>
      <p:ext uri="{BB962C8B-B14F-4D97-AF65-F5344CB8AC3E}">
        <p14:creationId xmlns:p14="http://schemas.microsoft.com/office/powerpoint/2010/main" val="3835448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CF5B2F-9EFF-0D58-7F69-0CC86975E9B0}"/>
              </a:ext>
            </a:extLst>
          </p:cNvPr>
          <p:cNvSpPr>
            <a:spLocks noGrp="1"/>
          </p:cNvSpPr>
          <p:nvPr>
            <p:ph type="sldNum" sz="quarter" idx="12"/>
          </p:nvPr>
        </p:nvSpPr>
        <p:spPr/>
        <p:txBody>
          <a:bodyPr/>
          <a:lstStyle/>
          <a:p>
            <a:fld id="{330EA680-D336-4FF7-8B7A-9848BB0A1C32}" type="slidenum">
              <a:rPr lang="en-US" smtClean="0"/>
              <a:t>54</a:t>
            </a:fld>
            <a:endParaRPr lang="en-US"/>
          </a:p>
        </p:txBody>
      </p:sp>
      <p:sp>
        <p:nvSpPr>
          <p:cNvPr id="4" name="Rectangle 3">
            <a:extLst>
              <a:ext uri="{FF2B5EF4-FFF2-40B4-BE49-F238E27FC236}">
                <a16:creationId xmlns:a16="http://schemas.microsoft.com/office/drawing/2014/main" id="{88A95661-F4F7-268D-BB41-DDBAC1323C08}"/>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2800" cap="all">
                <a:solidFill>
                  <a:schemeClr val="bg1"/>
                </a:solidFill>
                <a:latin typeface="Times New Roman"/>
                <a:cs typeface="Arial"/>
              </a:rPr>
              <a:t>Tube material used:</a:t>
            </a:r>
          </a:p>
        </p:txBody>
      </p:sp>
      <p:pic>
        <p:nvPicPr>
          <p:cNvPr id="3" name="Picture 2" descr="A screenshot of a computer&#10;&#10;AI-generated content may be incorrect.">
            <a:extLst>
              <a:ext uri="{FF2B5EF4-FFF2-40B4-BE49-F238E27FC236}">
                <a16:creationId xmlns:a16="http://schemas.microsoft.com/office/drawing/2014/main" id="{2CF42E86-04E5-82F0-7C94-5BDD4CC547D5}"/>
              </a:ext>
            </a:extLst>
          </p:cNvPr>
          <p:cNvPicPr>
            <a:picLocks noChangeAspect="1"/>
          </p:cNvPicPr>
          <p:nvPr/>
        </p:nvPicPr>
        <p:blipFill>
          <a:blip r:embed="rId3"/>
          <a:stretch>
            <a:fillRect/>
          </a:stretch>
        </p:blipFill>
        <p:spPr>
          <a:xfrm>
            <a:off x="503663" y="2203883"/>
            <a:ext cx="6324600" cy="271044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BA54C44-01EE-B726-16D9-675AE6B2F7E8}"/>
              </a:ext>
            </a:extLst>
          </p:cNvPr>
          <p:cNvPicPr>
            <a:picLocks noChangeAspect="1"/>
          </p:cNvPicPr>
          <p:nvPr/>
        </p:nvPicPr>
        <p:blipFill>
          <a:blip r:embed="rId4"/>
          <a:stretch>
            <a:fillRect/>
          </a:stretch>
        </p:blipFill>
        <p:spPr>
          <a:xfrm>
            <a:off x="6828263" y="1448969"/>
            <a:ext cx="4997372" cy="4220272"/>
          </a:xfrm>
          <a:prstGeom prst="rect">
            <a:avLst/>
          </a:prstGeom>
        </p:spPr>
      </p:pic>
    </p:spTree>
    <p:extLst>
      <p:ext uri="{BB962C8B-B14F-4D97-AF65-F5344CB8AC3E}">
        <p14:creationId xmlns:p14="http://schemas.microsoft.com/office/powerpoint/2010/main" val="2551713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2189-3CAC-C1A9-3CB3-C3EEBD435B6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A3FD18-C05D-7505-C019-9EA3CC62C71D}"/>
              </a:ext>
            </a:extLst>
          </p:cNvPr>
          <p:cNvSpPr>
            <a:spLocks noGrp="1"/>
          </p:cNvSpPr>
          <p:nvPr>
            <p:ph type="sldNum" sz="quarter" idx="12"/>
          </p:nvPr>
        </p:nvSpPr>
        <p:spPr/>
        <p:txBody>
          <a:bodyPr/>
          <a:lstStyle/>
          <a:p>
            <a:fld id="{330EA680-D336-4FF7-8B7A-9848BB0A1C32}" type="slidenum">
              <a:rPr lang="en-US" smtClean="0"/>
              <a:t>55</a:t>
            </a:fld>
            <a:endParaRPr lang="en-US"/>
          </a:p>
        </p:txBody>
      </p:sp>
      <p:sp>
        <p:nvSpPr>
          <p:cNvPr id="4" name="Rectangle 3">
            <a:extLst>
              <a:ext uri="{FF2B5EF4-FFF2-40B4-BE49-F238E27FC236}">
                <a16:creationId xmlns:a16="http://schemas.microsoft.com/office/drawing/2014/main" id="{A5B52E03-F466-2477-BC29-FA83450D086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PINCH TECHNOLOGY</a:t>
            </a:r>
            <a:endParaRPr lang="en-US"/>
          </a:p>
        </p:txBody>
      </p:sp>
    </p:spTree>
    <p:extLst>
      <p:ext uri="{BB962C8B-B14F-4D97-AF65-F5344CB8AC3E}">
        <p14:creationId xmlns:p14="http://schemas.microsoft.com/office/powerpoint/2010/main" val="2327431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7FA88-640A-D688-EEC3-1053A6424B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DC4334-2090-1979-8458-2A5F7FB29910}"/>
              </a:ext>
            </a:extLst>
          </p:cNvPr>
          <p:cNvSpPr>
            <a:spLocks noGrp="1"/>
          </p:cNvSpPr>
          <p:nvPr>
            <p:ph type="sldNum" sz="quarter" idx="12"/>
          </p:nvPr>
        </p:nvSpPr>
        <p:spPr/>
        <p:txBody>
          <a:bodyPr/>
          <a:lstStyle/>
          <a:p>
            <a:fld id="{330EA680-D336-4FF7-8B7A-9848BB0A1C32}" type="slidenum">
              <a:rPr lang="en-US" smtClean="0"/>
              <a:t>56</a:t>
            </a:fld>
            <a:endParaRPr lang="en-US"/>
          </a:p>
        </p:txBody>
      </p:sp>
      <p:sp>
        <p:nvSpPr>
          <p:cNvPr id="4" name="Rectangle 3">
            <a:extLst>
              <a:ext uri="{FF2B5EF4-FFF2-40B4-BE49-F238E27FC236}">
                <a16:creationId xmlns:a16="http://schemas.microsoft.com/office/drawing/2014/main" id="{891D7952-90AB-28F4-B2A4-A2D8274194D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PINCH TECHNOLOGY</a:t>
            </a:r>
          </a:p>
        </p:txBody>
      </p:sp>
      <p:graphicFrame>
        <p:nvGraphicFramePr>
          <p:cNvPr id="7" name="Table 6">
            <a:extLst>
              <a:ext uri="{FF2B5EF4-FFF2-40B4-BE49-F238E27FC236}">
                <a16:creationId xmlns:a16="http://schemas.microsoft.com/office/drawing/2014/main" id="{7622DFF6-6FA8-63C9-A7FD-D4446E8209FE}"/>
              </a:ext>
            </a:extLst>
          </p:cNvPr>
          <p:cNvGraphicFramePr>
            <a:graphicFrameLocks noGrp="1"/>
          </p:cNvGraphicFramePr>
          <p:nvPr>
            <p:extLst>
              <p:ext uri="{D42A27DB-BD31-4B8C-83A1-F6EECF244321}">
                <p14:modId xmlns:p14="http://schemas.microsoft.com/office/powerpoint/2010/main" val="2300555885"/>
              </p:ext>
            </p:extLst>
          </p:nvPr>
        </p:nvGraphicFramePr>
        <p:xfrm>
          <a:off x="2731197" y="2245195"/>
          <a:ext cx="6729606" cy="2367609"/>
        </p:xfrm>
        <a:graphic>
          <a:graphicData uri="http://schemas.openxmlformats.org/drawingml/2006/table">
            <a:tbl>
              <a:tblPr firstRow="1" bandRow="1">
                <a:tableStyleId>{5C22544A-7EE6-4342-B048-85BDC9FD1C3A}</a:tableStyleId>
              </a:tblPr>
              <a:tblGrid>
                <a:gridCol w="1147194">
                  <a:extLst>
                    <a:ext uri="{9D8B030D-6E8A-4147-A177-3AD203B41FA5}">
                      <a16:colId xmlns:a16="http://schemas.microsoft.com/office/drawing/2014/main" val="392239430"/>
                    </a:ext>
                  </a:extLst>
                </a:gridCol>
                <a:gridCol w="1106637">
                  <a:extLst>
                    <a:ext uri="{9D8B030D-6E8A-4147-A177-3AD203B41FA5}">
                      <a16:colId xmlns:a16="http://schemas.microsoft.com/office/drawing/2014/main" val="1332193357"/>
                    </a:ext>
                  </a:extLst>
                </a:gridCol>
                <a:gridCol w="895155">
                  <a:extLst>
                    <a:ext uri="{9D8B030D-6E8A-4147-A177-3AD203B41FA5}">
                      <a16:colId xmlns:a16="http://schemas.microsoft.com/office/drawing/2014/main" val="212439466"/>
                    </a:ext>
                  </a:extLst>
                </a:gridCol>
                <a:gridCol w="895155">
                  <a:extLst>
                    <a:ext uri="{9D8B030D-6E8A-4147-A177-3AD203B41FA5}">
                      <a16:colId xmlns:a16="http://schemas.microsoft.com/office/drawing/2014/main" val="1337559"/>
                    </a:ext>
                  </a:extLst>
                </a:gridCol>
                <a:gridCol w="895155">
                  <a:extLst>
                    <a:ext uri="{9D8B030D-6E8A-4147-A177-3AD203B41FA5}">
                      <a16:colId xmlns:a16="http://schemas.microsoft.com/office/drawing/2014/main" val="873854240"/>
                    </a:ext>
                  </a:extLst>
                </a:gridCol>
                <a:gridCol w="895155">
                  <a:extLst>
                    <a:ext uri="{9D8B030D-6E8A-4147-A177-3AD203B41FA5}">
                      <a16:colId xmlns:a16="http://schemas.microsoft.com/office/drawing/2014/main" val="579343598"/>
                    </a:ext>
                  </a:extLst>
                </a:gridCol>
                <a:gridCol w="895155">
                  <a:extLst>
                    <a:ext uri="{9D8B030D-6E8A-4147-A177-3AD203B41FA5}">
                      <a16:colId xmlns:a16="http://schemas.microsoft.com/office/drawing/2014/main" val="2239529797"/>
                    </a:ext>
                  </a:extLst>
                </a:gridCol>
              </a:tblGrid>
              <a:tr h="613824">
                <a:tc>
                  <a:txBody>
                    <a:bodyPr/>
                    <a:lstStyle/>
                    <a:p>
                      <a:pPr algn="ctr"/>
                      <a:r>
                        <a:rPr lang="en-US" sz="1400"/>
                        <a:t>Stream</a:t>
                      </a:r>
                      <a:endParaRPr lang="en-IN" sz="1400"/>
                    </a:p>
                  </a:txBody>
                  <a:tcPr anchor="ctr">
                    <a:solidFill>
                      <a:srgbClr val="002060"/>
                    </a:solidFill>
                  </a:tcPr>
                </a:tc>
                <a:tc>
                  <a:txBody>
                    <a:bodyPr/>
                    <a:lstStyle/>
                    <a:p>
                      <a:pPr algn="ctr"/>
                      <a:r>
                        <a:rPr lang="en-US" sz="1400"/>
                        <a:t>Condition</a:t>
                      </a:r>
                      <a:endParaRPr lang="en-IN" sz="1400"/>
                    </a:p>
                  </a:txBody>
                  <a:tcPr anchor="ctr">
                    <a:solidFill>
                      <a:srgbClr val="002060"/>
                    </a:solidFill>
                  </a:tcPr>
                </a:tc>
                <a:tc>
                  <a:txBody>
                    <a:bodyPr/>
                    <a:lstStyle/>
                    <a:p>
                      <a:pPr algn="ctr"/>
                      <a:r>
                        <a:rPr lang="en-US" sz="1400"/>
                        <a:t>Flowrate (kg/s)</a:t>
                      </a:r>
                      <a:endParaRPr lang="en-IN" sz="1400"/>
                    </a:p>
                  </a:txBody>
                  <a:tcPr anchor="ctr">
                    <a:solidFill>
                      <a:srgbClr val="002060"/>
                    </a:solidFill>
                  </a:tcPr>
                </a:tc>
                <a:tc>
                  <a:txBody>
                    <a:bodyPr/>
                    <a:lstStyle/>
                    <a:p>
                      <a:pPr algn="ctr"/>
                      <a:r>
                        <a:rPr lang="en-US" sz="1400" err="1"/>
                        <a:t>mCp</a:t>
                      </a:r>
                      <a:r>
                        <a:rPr lang="en-US" sz="1400"/>
                        <a:t> (kW/C)</a:t>
                      </a:r>
                      <a:endParaRPr lang="en-IN" sz="1400"/>
                    </a:p>
                  </a:txBody>
                  <a:tcPr anchor="ctr">
                    <a:solidFill>
                      <a:srgbClr val="002060"/>
                    </a:solidFill>
                  </a:tcPr>
                </a:tc>
                <a:tc>
                  <a:txBody>
                    <a:bodyPr/>
                    <a:lstStyle/>
                    <a:p>
                      <a:pPr algn="ctr"/>
                      <a:r>
                        <a:rPr lang="en-US" sz="1400"/>
                        <a:t>Tin</a:t>
                      </a:r>
                      <a:endParaRPr lang="en-IN" sz="1400"/>
                    </a:p>
                  </a:txBody>
                  <a:tcPr anchor="ctr">
                    <a:solidFill>
                      <a:srgbClr val="002060"/>
                    </a:solidFill>
                  </a:tcPr>
                </a:tc>
                <a:tc>
                  <a:txBody>
                    <a:bodyPr/>
                    <a:lstStyle/>
                    <a:p>
                      <a:pPr algn="ctr"/>
                      <a:r>
                        <a:rPr lang="en-US" sz="1400"/>
                        <a:t>Tout</a:t>
                      </a:r>
                      <a:endParaRPr lang="en-IN" sz="1400"/>
                    </a:p>
                  </a:txBody>
                  <a:tcPr anchor="ctr">
                    <a:solidFill>
                      <a:srgbClr val="002060"/>
                    </a:solidFill>
                  </a:tcPr>
                </a:tc>
                <a:tc>
                  <a:txBody>
                    <a:bodyPr/>
                    <a:lstStyle/>
                    <a:p>
                      <a:pPr algn="ctr"/>
                      <a:r>
                        <a:rPr lang="en-US" sz="1400" err="1"/>
                        <a:t>Qav</a:t>
                      </a:r>
                      <a:r>
                        <a:rPr lang="en-US" sz="1400"/>
                        <a:t> (Kw)</a:t>
                      </a:r>
                      <a:endParaRPr lang="en-IN" sz="1400"/>
                    </a:p>
                  </a:txBody>
                  <a:tcPr anchor="ctr">
                    <a:solidFill>
                      <a:srgbClr val="002060"/>
                    </a:solidFill>
                  </a:tcPr>
                </a:tc>
                <a:extLst>
                  <a:ext uri="{0D108BD9-81ED-4DB2-BD59-A6C34878D82A}">
                    <a16:rowId xmlns:a16="http://schemas.microsoft.com/office/drawing/2014/main" val="2947737748"/>
                  </a:ext>
                </a:extLst>
              </a:tr>
              <a:tr h="350757">
                <a:tc>
                  <a:txBody>
                    <a:bodyPr/>
                    <a:lstStyle/>
                    <a:p>
                      <a:pPr algn="ctr"/>
                      <a:r>
                        <a:rPr lang="en-US" sz="1400"/>
                        <a:t>1 (D2)</a:t>
                      </a:r>
                      <a:endParaRPr lang="en-IN" sz="1400"/>
                    </a:p>
                  </a:txBody>
                  <a:tcPr anchor="ctr"/>
                </a:tc>
                <a:tc>
                  <a:txBody>
                    <a:bodyPr/>
                    <a:lstStyle/>
                    <a:p>
                      <a:pPr algn="ctr"/>
                      <a:r>
                        <a:rPr lang="en-US" sz="1400"/>
                        <a:t>Hot</a:t>
                      </a:r>
                      <a:endParaRPr lang="en-IN" sz="1400"/>
                    </a:p>
                  </a:txBody>
                  <a:tcPr anchor="ctr"/>
                </a:tc>
                <a:tc>
                  <a:txBody>
                    <a:bodyPr/>
                    <a:lstStyle/>
                    <a:p>
                      <a:pPr algn="ctr"/>
                      <a:r>
                        <a:rPr lang="en-US" sz="1400"/>
                        <a:t>106.15</a:t>
                      </a:r>
                      <a:endParaRPr lang="en-IN" sz="1400"/>
                    </a:p>
                  </a:txBody>
                  <a:tcPr anchor="ctr"/>
                </a:tc>
                <a:tc>
                  <a:txBody>
                    <a:bodyPr/>
                    <a:lstStyle/>
                    <a:p>
                      <a:pPr algn="ctr"/>
                      <a:r>
                        <a:rPr lang="en-US" sz="1400"/>
                        <a:t>341.89</a:t>
                      </a:r>
                      <a:endParaRPr lang="en-IN" sz="1400"/>
                    </a:p>
                  </a:txBody>
                  <a:tcPr anchor="ctr"/>
                </a:tc>
                <a:tc>
                  <a:txBody>
                    <a:bodyPr/>
                    <a:lstStyle/>
                    <a:p>
                      <a:pPr algn="ctr"/>
                      <a:r>
                        <a:rPr lang="en-US" sz="1400"/>
                        <a:t>64</a:t>
                      </a:r>
                      <a:endParaRPr lang="en-IN" sz="1400"/>
                    </a:p>
                  </a:txBody>
                  <a:tcPr anchor="ctr"/>
                </a:tc>
                <a:tc>
                  <a:txBody>
                    <a:bodyPr/>
                    <a:lstStyle/>
                    <a:p>
                      <a:pPr algn="ctr"/>
                      <a:r>
                        <a:rPr lang="en-US" sz="1400"/>
                        <a:t>35</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9914.81</a:t>
                      </a:r>
                    </a:p>
                  </a:txBody>
                  <a:tcPr marL="9525" marR="9525" marT="9525" marB="0" anchor="ctr"/>
                </a:tc>
                <a:extLst>
                  <a:ext uri="{0D108BD9-81ED-4DB2-BD59-A6C34878D82A}">
                    <a16:rowId xmlns:a16="http://schemas.microsoft.com/office/drawing/2014/main" val="232348083"/>
                  </a:ext>
                </a:extLst>
              </a:tr>
              <a:tr h="350757">
                <a:tc>
                  <a:txBody>
                    <a:bodyPr/>
                    <a:lstStyle/>
                    <a:p>
                      <a:pPr algn="ctr"/>
                      <a:r>
                        <a:rPr lang="en-US" sz="1400"/>
                        <a:t>2 (D3)</a:t>
                      </a:r>
                      <a:endParaRPr lang="en-IN" sz="1400"/>
                    </a:p>
                  </a:txBody>
                  <a:tcPr anchor="ctr"/>
                </a:tc>
                <a:tc>
                  <a:txBody>
                    <a:bodyPr/>
                    <a:lstStyle/>
                    <a:p>
                      <a:pPr algn="ctr"/>
                      <a:r>
                        <a:rPr lang="en-US" sz="1400"/>
                        <a:t>Hot</a:t>
                      </a:r>
                      <a:endParaRPr lang="en-IN" sz="1400"/>
                    </a:p>
                  </a:txBody>
                  <a:tcPr anchor="ctr"/>
                </a:tc>
                <a:tc>
                  <a:txBody>
                    <a:bodyPr/>
                    <a:lstStyle/>
                    <a:p>
                      <a:pPr algn="ctr"/>
                      <a:r>
                        <a:rPr lang="en-US" sz="1400"/>
                        <a:t>2.72</a:t>
                      </a:r>
                    </a:p>
                  </a:txBody>
                  <a:tcPr anchor="ctr"/>
                </a:tc>
                <a:tc>
                  <a:txBody>
                    <a:bodyPr/>
                    <a:lstStyle/>
                    <a:p>
                      <a:pPr algn="ctr"/>
                      <a:r>
                        <a:rPr lang="en-US" sz="1400"/>
                        <a:t>4.67</a:t>
                      </a:r>
                      <a:endParaRPr lang="en-IN" sz="1400"/>
                    </a:p>
                  </a:txBody>
                  <a:tcPr anchor="ctr"/>
                </a:tc>
                <a:tc>
                  <a:txBody>
                    <a:bodyPr/>
                    <a:lstStyle/>
                    <a:p>
                      <a:pPr algn="ctr"/>
                      <a:r>
                        <a:rPr lang="en-US" sz="1400"/>
                        <a:t>191</a:t>
                      </a:r>
                      <a:endParaRPr lang="en-IN" sz="1400"/>
                    </a:p>
                  </a:txBody>
                  <a:tcPr anchor="ctr"/>
                </a:tc>
                <a:tc>
                  <a:txBody>
                    <a:bodyPr/>
                    <a:lstStyle/>
                    <a:p>
                      <a:pPr algn="ctr"/>
                      <a:r>
                        <a:rPr lang="en-US" sz="1400"/>
                        <a:t>35</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728.21</a:t>
                      </a:r>
                    </a:p>
                  </a:txBody>
                  <a:tcPr marL="9525" marR="9525" marT="9525" marB="0" anchor="ctr"/>
                </a:tc>
                <a:extLst>
                  <a:ext uri="{0D108BD9-81ED-4DB2-BD59-A6C34878D82A}">
                    <a16:rowId xmlns:a16="http://schemas.microsoft.com/office/drawing/2014/main" val="1810692904"/>
                  </a:ext>
                </a:extLst>
              </a:tr>
              <a:tr h="350757">
                <a:tc>
                  <a:txBody>
                    <a:bodyPr/>
                    <a:lstStyle/>
                    <a:p>
                      <a:pPr algn="ctr"/>
                      <a:r>
                        <a:rPr lang="en-US" sz="1400"/>
                        <a:t>3 (D4)</a:t>
                      </a:r>
                      <a:endParaRPr lang="en-IN" sz="1400"/>
                    </a:p>
                  </a:txBody>
                  <a:tcPr anchor="ctr"/>
                </a:tc>
                <a:tc>
                  <a:txBody>
                    <a:bodyPr/>
                    <a:lstStyle/>
                    <a:p>
                      <a:pPr algn="ctr"/>
                      <a:r>
                        <a:rPr lang="en-US" sz="1400"/>
                        <a:t>Hot</a:t>
                      </a:r>
                      <a:endParaRPr lang="en-IN" sz="1400"/>
                    </a:p>
                  </a:txBody>
                  <a:tcPr anchor="ctr"/>
                </a:tc>
                <a:tc>
                  <a:txBody>
                    <a:bodyPr/>
                    <a:lstStyle/>
                    <a:p>
                      <a:pPr algn="ctr"/>
                      <a:r>
                        <a:rPr lang="en-US" sz="1400"/>
                        <a:t>0.95</a:t>
                      </a:r>
                      <a:endParaRPr lang="en-IN" sz="1400"/>
                    </a:p>
                  </a:txBody>
                  <a:tcPr anchor="ctr"/>
                </a:tc>
                <a:tc>
                  <a:txBody>
                    <a:bodyPr/>
                    <a:lstStyle/>
                    <a:p>
                      <a:pPr algn="ctr"/>
                      <a:r>
                        <a:rPr lang="en-US" sz="1400"/>
                        <a:t>1.73</a:t>
                      </a:r>
                      <a:endParaRPr lang="en-IN" sz="1400"/>
                    </a:p>
                  </a:txBody>
                  <a:tcPr anchor="ctr"/>
                </a:tc>
                <a:tc>
                  <a:txBody>
                    <a:bodyPr/>
                    <a:lstStyle/>
                    <a:p>
                      <a:pPr algn="ctr"/>
                      <a:r>
                        <a:rPr lang="en-US" sz="1400"/>
                        <a:t>248</a:t>
                      </a:r>
                      <a:endParaRPr lang="en-IN" sz="1400"/>
                    </a:p>
                  </a:txBody>
                  <a:tcPr anchor="ctr"/>
                </a:tc>
                <a:tc>
                  <a:txBody>
                    <a:bodyPr/>
                    <a:lstStyle/>
                    <a:p>
                      <a:pPr algn="ctr"/>
                      <a:r>
                        <a:rPr lang="en-US" sz="1400"/>
                        <a:t>35</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369.09</a:t>
                      </a:r>
                    </a:p>
                  </a:txBody>
                  <a:tcPr marL="9525" marR="9525" marT="9525" marB="0" anchor="ctr"/>
                </a:tc>
                <a:extLst>
                  <a:ext uri="{0D108BD9-81ED-4DB2-BD59-A6C34878D82A}">
                    <a16:rowId xmlns:a16="http://schemas.microsoft.com/office/drawing/2014/main" val="3690338258"/>
                  </a:ext>
                </a:extLst>
              </a:tr>
              <a:tr h="350757">
                <a:tc>
                  <a:txBody>
                    <a:bodyPr/>
                    <a:lstStyle/>
                    <a:p>
                      <a:pPr algn="ctr"/>
                      <a:r>
                        <a:rPr lang="en-US" sz="1400"/>
                        <a:t>4 (LIQOUT)</a:t>
                      </a:r>
                      <a:endParaRPr lang="en-IN" sz="1400"/>
                    </a:p>
                  </a:txBody>
                  <a:tcPr anchor="ctr"/>
                </a:tc>
                <a:tc>
                  <a:txBody>
                    <a:bodyPr/>
                    <a:lstStyle/>
                    <a:p>
                      <a:pPr algn="ctr"/>
                      <a:r>
                        <a:rPr lang="en-US" sz="1400"/>
                        <a:t>Cold</a:t>
                      </a:r>
                      <a:endParaRPr lang="en-IN" sz="1400"/>
                    </a:p>
                  </a:txBody>
                  <a:tcPr anchor="ctr"/>
                </a:tc>
                <a:tc>
                  <a:txBody>
                    <a:bodyPr/>
                    <a:lstStyle/>
                    <a:p>
                      <a:pPr algn="ctr"/>
                      <a:r>
                        <a:rPr lang="en-US" sz="1400"/>
                        <a:t>110.20</a:t>
                      </a:r>
                      <a:endParaRPr lang="en-IN" sz="1400"/>
                    </a:p>
                  </a:txBody>
                  <a:tcPr anchor="ctr"/>
                </a:tc>
                <a:tc>
                  <a:txBody>
                    <a:bodyPr/>
                    <a:lstStyle/>
                    <a:p>
                      <a:pPr algn="ctr"/>
                      <a:r>
                        <a:rPr lang="en-US" sz="1400"/>
                        <a:t>374.54</a:t>
                      </a:r>
                      <a:endParaRPr lang="en-IN" sz="1400"/>
                    </a:p>
                  </a:txBody>
                  <a:tcPr anchor="ctr"/>
                </a:tc>
                <a:tc>
                  <a:txBody>
                    <a:bodyPr/>
                    <a:lstStyle/>
                    <a:p>
                      <a:pPr algn="ctr"/>
                      <a:r>
                        <a:rPr lang="en-US" sz="1400"/>
                        <a:t>50</a:t>
                      </a:r>
                      <a:endParaRPr lang="en-IN" sz="1400"/>
                    </a:p>
                  </a:txBody>
                  <a:tcPr anchor="ctr"/>
                </a:tc>
                <a:tc>
                  <a:txBody>
                    <a:bodyPr/>
                    <a:lstStyle/>
                    <a:p>
                      <a:pPr algn="ctr"/>
                      <a:r>
                        <a:rPr lang="en-US" sz="1400"/>
                        <a:t>54</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1498.16</a:t>
                      </a:r>
                    </a:p>
                  </a:txBody>
                  <a:tcPr marL="9525" marR="9525" marT="9525" marB="0" anchor="ctr"/>
                </a:tc>
                <a:extLst>
                  <a:ext uri="{0D108BD9-81ED-4DB2-BD59-A6C34878D82A}">
                    <a16:rowId xmlns:a16="http://schemas.microsoft.com/office/drawing/2014/main" val="1096435535"/>
                  </a:ext>
                </a:extLst>
              </a:tr>
              <a:tr h="350757">
                <a:tc>
                  <a:txBody>
                    <a:bodyPr/>
                    <a:lstStyle/>
                    <a:p>
                      <a:pPr algn="ctr"/>
                      <a:r>
                        <a:rPr lang="en-US" sz="1400"/>
                        <a:t>5 (MIXOUT)</a:t>
                      </a:r>
                      <a:endParaRPr lang="en-IN" sz="1400"/>
                    </a:p>
                  </a:txBody>
                  <a:tcPr anchor="ctr"/>
                </a:tc>
                <a:tc>
                  <a:txBody>
                    <a:bodyPr/>
                    <a:lstStyle/>
                    <a:p>
                      <a:pPr algn="ctr"/>
                      <a:r>
                        <a:rPr lang="en-US" sz="1400"/>
                        <a:t>Cold</a:t>
                      </a:r>
                      <a:endParaRPr lang="en-IN" sz="1400"/>
                    </a:p>
                  </a:txBody>
                  <a:tcPr anchor="ctr"/>
                </a:tc>
                <a:tc>
                  <a:txBody>
                    <a:bodyPr/>
                    <a:lstStyle/>
                    <a:p>
                      <a:pPr algn="ctr"/>
                      <a:r>
                        <a:rPr lang="en-US" sz="1400"/>
                        <a:t>110.20</a:t>
                      </a:r>
                      <a:endParaRPr lang="en-IN" sz="1400"/>
                    </a:p>
                  </a:txBody>
                  <a:tcPr anchor="ctr"/>
                </a:tc>
                <a:tc>
                  <a:txBody>
                    <a:bodyPr/>
                    <a:lstStyle/>
                    <a:p>
                      <a:pPr algn="ctr"/>
                      <a:r>
                        <a:rPr lang="en-US" sz="1400"/>
                        <a:t>348.69</a:t>
                      </a:r>
                      <a:endParaRPr lang="en-IN" sz="1400"/>
                    </a:p>
                  </a:txBody>
                  <a:tcPr anchor="ctr"/>
                </a:tc>
                <a:tc>
                  <a:txBody>
                    <a:bodyPr/>
                    <a:lstStyle/>
                    <a:p>
                      <a:pPr algn="ctr"/>
                      <a:r>
                        <a:rPr lang="en-US" sz="1400"/>
                        <a:t>25</a:t>
                      </a:r>
                      <a:endParaRPr lang="en-IN" sz="1400"/>
                    </a:p>
                  </a:txBody>
                  <a:tcPr anchor="ctr"/>
                </a:tc>
                <a:tc>
                  <a:txBody>
                    <a:bodyPr/>
                    <a:lstStyle/>
                    <a:p>
                      <a:pPr algn="ctr"/>
                      <a:r>
                        <a:rPr lang="en-US" sz="1400"/>
                        <a:t>50</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8717.15</a:t>
                      </a:r>
                    </a:p>
                  </a:txBody>
                  <a:tcPr marL="9525" marR="9525" marT="9525" marB="0" anchor="ctr"/>
                </a:tc>
                <a:extLst>
                  <a:ext uri="{0D108BD9-81ED-4DB2-BD59-A6C34878D82A}">
                    <a16:rowId xmlns:a16="http://schemas.microsoft.com/office/drawing/2014/main" val="1890920312"/>
                  </a:ext>
                </a:extLst>
              </a:tr>
            </a:tbl>
          </a:graphicData>
        </a:graphic>
      </p:graphicFrame>
      <p:grpSp>
        <p:nvGrpSpPr>
          <p:cNvPr id="3" name="Group 2">
            <a:extLst>
              <a:ext uri="{FF2B5EF4-FFF2-40B4-BE49-F238E27FC236}">
                <a16:creationId xmlns:a16="http://schemas.microsoft.com/office/drawing/2014/main" id="{F7F390CE-47DA-932F-655A-4B8AACA84D96}"/>
              </a:ext>
            </a:extLst>
          </p:cNvPr>
          <p:cNvGrpSpPr/>
          <p:nvPr/>
        </p:nvGrpSpPr>
        <p:grpSpPr>
          <a:xfrm>
            <a:off x="467127" y="1904520"/>
            <a:ext cx="2831145" cy="4204668"/>
            <a:chOff x="386736" y="2169291"/>
            <a:chExt cx="2831145" cy="4204668"/>
          </a:xfrm>
        </p:grpSpPr>
        <p:grpSp>
          <p:nvGrpSpPr>
            <p:cNvPr id="6" name="Group 5">
              <a:extLst>
                <a:ext uri="{FF2B5EF4-FFF2-40B4-BE49-F238E27FC236}">
                  <a16:creationId xmlns:a16="http://schemas.microsoft.com/office/drawing/2014/main" id="{C6284545-7FDF-7D52-C51C-6805C7B85CC9}"/>
                </a:ext>
              </a:extLst>
            </p:cNvPr>
            <p:cNvGrpSpPr/>
            <p:nvPr/>
          </p:nvGrpSpPr>
          <p:grpSpPr>
            <a:xfrm>
              <a:off x="386736" y="2169291"/>
              <a:ext cx="2831145" cy="4204668"/>
              <a:chOff x="386736" y="2169291"/>
              <a:chExt cx="2831145" cy="4204668"/>
            </a:xfrm>
          </p:grpSpPr>
          <p:grpSp>
            <p:nvGrpSpPr>
              <p:cNvPr id="9" name="Group 8">
                <a:extLst>
                  <a:ext uri="{FF2B5EF4-FFF2-40B4-BE49-F238E27FC236}">
                    <a16:creationId xmlns:a16="http://schemas.microsoft.com/office/drawing/2014/main" id="{E3A6A88B-4B9D-4320-DA07-BAE2A5463438}"/>
                  </a:ext>
                </a:extLst>
              </p:cNvPr>
              <p:cNvGrpSpPr/>
              <p:nvPr/>
            </p:nvGrpSpPr>
            <p:grpSpPr>
              <a:xfrm>
                <a:off x="1374473" y="2623056"/>
                <a:ext cx="855675" cy="2973056"/>
                <a:chOff x="1979590" y="2623056"/>
                <a:chExt cx="855675" cy="2973056"/>
              </a:xfrm>
            </p:grpSpPr>
            <p:sp>
              <p:nvSpPr>
                <p:cNvPr id="12" name="Rectangle 11">
                  <a:extLst>
                    <a:ext uri="{FF2B5EF4-FFF2-40B4-BE49-F238E27FC236}">
                      <a16:creationId xmlns:a16="http://schemas.microsoft.com/office/drawing/2014/main" id="{52D3CDAC-DB59-4DA2-7C9F-1340EDD15631}"/>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3" name="Arrow: Up 12">
                  <a:extLst>
                    <a:ext uri="{FF2B5EF4-FFF2-40B4-BE49-F238E27FC236}">
                      <a16:creationId xmlns:a16="http://schemas.microsoft.com/office/drawing/2014/main" id="{C876C899-3F8D-CC04-E1B7-C62242B97C0D}"/>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4" name="Arrow: Up 13">
                  <a:extLst>
                    <a:ext uri="{FF2B5EF4-FFF2-40B4-BE49-F238E27FC236}">
                      <a16:creationId xmlns:a16="http://schemas.microsoft.com/office/drawing/2014/main" id="{EBFB263F-5FB0-7051-D755-7FBAAB300EDF}"/>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197A0345-01FD-435D-5FD4-CE5475671511}"/>
                  </a:ext>
                </a:extLst>
              </p:cNvPr>
              <p:cNvSpPr txBox="1"/>
              <p:nvPr/>
            </p:nvSpPr>
            <p:spPr>
              <a:xfrm>
                <a:off x="878159"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panose="02020603050405020304" pitchFamily="18" charset="0"/>
                    <a:cs typeface="Times New Roman" panose="02020603050405020304" pitchFamily="18" charset="0"/>
                  </a:rPr>
                  <a:t>Methanol + Water</a:t>
                </a:r>
              </a:p>
            </p:txBody>
          </p:sp>
          <p:sp>
            <p:nvSpPr>
              <p:cNvPr id="11" name="TextBox 10">
                <a:extLst>
                  <a:ext uri="{FF2B5EF4-FFF2-40B4-BE49-F238E27FC236}">
                    <a16:creationId xmlns:a16="http://schemas.microsoft.com/office/drawing/2014/main" id="{D0B49BBD-CD3B-D794-3BB7-DF643C62E3AE}"/>
                  </a:ext>
                </a:extLst>
              </p:cNvPr>
              <p:cNvSpPr txBox="1"/>
              <p:nvPr/>
            </p:nvSpPr>
            <p:spPr>
              <a:xfrm>
                <a:off x="386736" y="5727628"/>
                <a:ext cx="28311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Methyl Benzoate + Benzoic Acid + Phthalic Acid</a:t>
                </a:r>
              </a:p>
            </p:txBody>
          </p:sp>
        </p:grpSp>
        <p:sp>
          <p:nvSpPr>
            <p:cNvPr id="8" name="TextBox 7">
              <a:extLst>
                <a:ext uri="{FF2B5EF4-FFF2-40B4-BE49-F238E27FC236}">
                  <a16:creationId xmlns:a16="http://schemas.microsoft.com/office/drawing/2014/main" id="{2D82A540-D6B5-ABA9-600C-CD9B332878DB}"/>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C1</a:t>
              </a:r>
            </a:p>
          </p:txBody>
        </p:sp>
      </p:grpSp>
      <p:sp>
        <p:nvSpPr>
          <p:cNvPr id="15" name="TextBox 14">
            <a:extLst>
              <a:ext uri="{FF2B5EF4-FFF2-40B4-BE49-F238E27FC236}">
                <a16:creationId xmlns:a16="http://schemas.microsoft.com/office/drawing/2014/main" id="{1C7288CC-36CC-CC22-52E7-FEF9D4872C8F}"/>
              </a:ext>
            </a:extLst>
          </p:cNvPr>
          <p:cNvSpPr txBox="1"/>
          <p:nvPr/>
        </p:nvSpPr>
        <p:spPr>
          <a:xfrm>
            <a:off x="467127" y="1142547"/>
            <a:ext cx="3764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panose="02020603050405020304" pitchFamily="18" charset="0"/>
                <a:cs typeface="Times New Roman" panose="02020603050405020304" pitchFamily="18" charset="0"/>
              </a:rPr>
              <a:t>Distillation Column Sequencing:</a:t>
            </a:r>
          </a:p>
        </p:txBody>
      </p:sp>
      <p:grpSp>
        <p:nvGrpSpPr>
          <p:cNvPr id="16" name="Group 15">
            <a:extLst>
              <a:ext uri="{FF2B5EF4-FFF2-40B4-BE49-F238E27FC236}">
                <a16:creationId xmlns:a16="http://schemas.microsoft.com/office/drawing/2014/main" id="{ED1430A5-14E5-7553-6A0D-18AB78BA79F3}"/>
              </a:ext>
            </a:extLst>
          </p:cNvPr>
          <p:cNvGrpSpPr/>
          <p:nvPr/>
        </p:nvGrpSpPr>
        <p:grpSpPr>
          <a:xfrm>
            <a:off x="3300856" y="1904520"/>
            <a:ext cx="2831145" cy="3927669"/>
            <a:chOff x="386736" y="2169291"/>
            <a:chExt cx="2831145" cy="3927669"/>
          </a:xfrm>
        </p:grpSpPr>
        <p:grpSp>
          <p:nvGrpSpPr>
            <p:cNvPr id="17" name="Group 16">
              <a:extLst>
                <a:ext uri="{FF2B5EF4-FFF2-40B4-BE49-F238E27FC236}">
                  <a16:creationId xmlns:a16="http://schemas.microsoft.com/office/drawing/2014/main" id="{F57D185D-9833-76FF-BCDA-C1F894F8E0AF}"/>
                </a:ext>
              </a:extLst>
            </p:cNvPr>
            <p:cNvGrpSpPr/>
            <p:nvPr/>
          </p:nvGrpSpPr>
          <p:grpSpPr>
            <a:xfrm>
              <a:off x="386736" y="2169291"/>
              <a:ext cx="2831145" cy="3927669"/>
              <a:chOff x="386736" y="2169291"/>
              <a:chExt cx="2831145" cy="3927669"/>
            </a:xfrm>
          </p:grpSpPr>
          <p:grpSp>
            <p:nvGrpSpPr>
              <p:cNvPr id="19" name="Group 18">
                <a:extLst>
                  <a:ext uri="{FF2B5EF4-FFF2-40B4-BE49-F238E27FC236}">
                    <a16:creationId xmlns:a16="http://schemas.microsoft.com/office/drawing/2014/main" id="{F934547F-988E-7638-933D-6B86594D30E1}"/>
                  </a:ext>
                </a:extLst>
              </p:cNvPr>
              <p:cNvGrpSpPr/>
              <p:nvPr/>
            </p:nvGrpSpPr>
            <p:grpSpPr>
              <a:xfrm>
                <a:off x="1374473" y="2623056"/>
                <a:ext cx="855675" cy="2973056"/>
                <a:chOff x="1979590" y="2623056"/>
                <a:chExt cx="855675" cy="2973056"/>
              </a:xfrm>
            </p:grpSpPr>
            <p:sp>
              <p:nvSpPr>
                <p:cNvPr id="22" name="Rectangle 21">
                  <a:extLst>
                    <a:ext uri="{FF2B5EF4-FFF2-40B4-BE49-F238E27FC236}">
                      <a16:creationId xmlns:a16="http://schemas.microsoft.com/office/drawing/2014/main" id="{EA6D9240-51EB-EFFB-554D-74844654D328}"/>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Arrow: Up 22">
                  <a:extLst>
                    <a:ext uri="{FF2B5EF4-FFF2-40B4-BE49-F238E27FC236}">
                      <a16:creationId xmlns:a16="http://schemas.microsoft.com/office/drawing/2014/main" id="{1EEE9908-AB6F-D7DB-7610-03EBB145C8C6}"/>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4" name="Arrow: Up 23">
                  <a:extLst>
                    <a:ext uri="{FF2B5EF4-FFF2-40B4-BE49-F238E27FC236}">
                      <a16:creationId xmlns:a16="http://schemas.microsoft.com/office/drawing/2014/main" id="{9002BC64-C11C-E82A-E7A9-4C1525D909D8}"/>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20" name="TextBox 19">
                <a:extLst>
                  <a:ext uri="{FF2B5EF4-FFF2-40B4-BE49-F238E27FC236}">
                    <a16:creationId xmlns:a16="http://schemas.microsoft.com/office/drawing/2014/main" id="{44803391-F728-5CCB-5450-E45BAC5E7AEA}"/>
                  </a:ext>
                </a:extLst>
              </p:cNvPr>
              <p:cNvSpPr txBox="1"/>
              <p:nvPr/>
            </p:nvSpPr>
            <p:spPr>
              <a:xfrm>
                <a:off x="878156"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Methanol</a:t>
                </a:r>
              </a:p>
            </p:txBody>
          </p:sp>
          <p:sp>
            <p:nvSpPr>
              <p:cNvPr id="21" name="TextBox 20">
                <a:extLst>
                  <a:ext uri="{FF2B5EF4-FFF2-40B4-BE49-F238E27FC236}">
                    <a16:creationId xmlns:a16="http://schemas.microsoft.com/office/drawing/2014/main" id="{F941285D-83C3-8A43-505C-C5038C5B735A}"/>
                  </a:ext>
                </a:extLst>
              </p:cNvPr>
              <p:cNvSpPr txBox="1"/>
              <p:nvPr/>
            </p:nvSpPr>
            <p:spPr>
              <a:xfrm>
                <a:off x="386736" y="5727628"/>
                <a:ext cx="28311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Water</a:t>
                </a:r>
              </a:p>
            </p:txBody>
          </p:sp>
        </p:grpSp>
        <p:sp>
          <p:nvSpPr>
            <p:cNvPr id="18" name="TextBox 17">
              <a:extLst>
                <a:ext uri="{FF2B5EF4-FFF2-40B4-BE49-F238E27FC236}">
                  <a16:creationId xmlns:a16="http://schemas.microsoft.com/office/drawing/2014/main" id="{8211FB02-C312-D5FB-09B9-3162BAD9D26D}"/>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C2</a:t>
              </a:r>
            </a:p>
          </p:txBody>
        </p:sp>
      </p:grpSp>
      <p:grpSp>
        <p:nvGrpSpPr>
          <p:cNvPr id="25" name="Group 24">
            <a:extLst>
              <a:ext uri="{FF2B5EF4-FFF2-40B4-BE49-F238E27FC236}">
                <a16:creationId xmlns:a16="http://schemas.microsoft.com/office/drawing/2014/main" id="{122CB9D5-0D7C-BBC2-8E94-52222A464EED}"/>
              </a:ext>
            </a:extLst>
          </p:cNvPr>
          <p:cNvGrpSpPr/>
          <p:nvPr/>
        </p:nvGrpSpPr>
        <p:grpSpPr>
          <a:xfrm>
            <a:off x="6134585" y="1904520"/>
            <a:ext cx="2831145" cy="4204668"/>
            <a:chOff x="386736" y="2169291"/>
            <a:chExt cx="2831145" cy="4204668"/>
          </a:xfrm>
        </p:grpSpPr>
        <p:grpSp>
          <p:nvGrpSpPr>
            <p:cNvPr id="43" name="Group 42">
              <a:extLst>
                <a:ext uri="{FF2B5EF4-FFF2-40B4-BE49-F238E27FC236}">
                  <a16:creationId xmlns:a16="http://schemas.microsoft.com/office/drawing/2014/main" id="{B3B9C448-C395-E3E8-14E2-CE3227B4FE3F}"/>
                </a:ext>
              </a:extLst>
            </p:cNvPr>
            <p:cNvGrpSpPr/>
            <p:nvPr/>
          </p:nvGrpSpPr>
          <p:grpSpPr>
            <a:xfrm>
              <a:off x="386736" y="2169291"/>
              <a:ext cx="2831145" cy="4204668"/>
              <a:chOff x="386736" y="2169291"/>
              <a:chExt cx="2831145" cy="4204668"/>
            </a:xfrm>
          </p:grpSpPr>
          <p:grpSp>
            <p:nvGrpSpPr>
              <p:cNvPr id="45" name="Group 44">
                <a:extLst>
                  <a:ext uri="{FF2B5EF4-FFF2-40B4-BE49-F238E27FC236}">
                    <a16:creationId xmlns:a16="http://schemas.microsoft.com/office/drawing/2014/main" id="{805E59E9-91CC-49AB-CD38-9A87F90BEA46}"/>
                  </a:ext>
                </a:extLst>
              </p:cNvPr>
              <p:cNvGrpSpPr/>
              <p:nvPr/>
            </p:nvGrpSpPr>
            <p:grpSpPr>
              <a:xfrm>
                <a:off x="1374473" y="2623056"/>
                <a:ext cx="855675" cy="2973056"/>
                <a:chOff x="1979590" y="2623056"/>
                <a:chExt cx="855675" cy="2973056"/>
              </a:xfrm>
            </p:grpSpPr>
            <p:sp>
              <p:nvSpPr>
                <p:cNvPr id="48" name="Rectangle 47">
                  <a:extLst>
                    <a:ext uri="{FF2B5EF4-FFF2-40B4-BE49-F238E27FC236}">
                      <a16:creationId xmlns:a16="http://schemas.microsoft.com/office/drawing/2014/main" id="{4AB80BD9-2AE6-AAF1-8644-29A476EFC991}"/>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Arrow: Up 48">
                  <a:extLst>
                    <a:ext uri="{FF2B5EF4-FFF2-40B4-BE49-F238E27FC236}">
                      <a16:creationId xmlns:a16="http://schemas.microsoft.com/office/drawing/2014/main" id="{E61F542A-F7A7-6232-98F1-FA4FCB37FCF5}"/>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0" name="Arrow: Up 49">
                  <a:extLst>
                    <a:ext uri="{FF2B5EF4-FFF2-40B4-BE49-F238E27FC236}">
                      <a16:creationId xmlns:a16="http://schemas.microsoft.com/office/drawing/2014/main" id="{A716A011-4FD9-0A29-64E5-C6D5FFF7D53C}"/>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46" name="TextBox 45">
                <a:extLst>
                  <a:ext uri="{FF2B5EF4-FFF2-40B4-BE49-F238E27FC236}">
                    <a16:creationId xmlns:a16="http://schemas.microsoft.com/office/drawing/2014/main" id="{D6B21969-75D4-E068-818B-2AA777876E1B}"/>
                  </a:ext>
                </a:extLst>
              </p:cNvPr>
              <p:cNvSpPr txBox="1"/>
              <p:nvPr/>
            </p:nvSpPr>
            <p:spPr>
              <a:xfrm>
                <a:off x="878157"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Methyl Benzoate</a:t>
                </a:r>
              </a:p>
            </p:txBody>
          </p:sp>
          <p:sp>
            <p:nvSpPr>
              <p:cNvPr id="47" name="TextBox 46">
                <a:extLst>
                  <a:ext uri="{FF2B5EF4-FFF2-40B4-BE49-F238E27FC236}">
                    <a16:creationId xmlns:a16="http://schemas.microsoft.com/office/drawing/2014/main" id="{B8C22E27-FEC3-C256-9C69-A91E931BAE91}"/>
                  </a:ext>
                </a:extLst>
              </p:cNvPr>
              <p:cNvSpPr txBox="1"/>
              <p:nvPr/>
            </p:nvSpPr>
            <p:spPr>
              <a:xfrm>
                <a:off x="386736" y="5727628"/>
                <a:ext cx="28311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Benzoic Acid + Phthalic Acid</a:t>
                </a:r>
              </a:p>
            </p:txBody>
          </p:sp>
        </p:grpSp>
        <p:sp>
          <p:nvSpPr>
            <p:cNvPr id="44" name="TextBox 43">
              <a:extLst>
                <a:ext uri="{FF2B5EF4-FFF2-40B4-BE49-F238E27FC236}">
                  <a16:creationId xmlns:a16="http://schemas.microsoft.com/office/drawing/2014/main" id="{1338E87F-B042-E7E0-2BA2-D1E25B6C01C9}"/>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C3</a:t>
              </a:r>
            </a:p>
          </p:txBody>
        </p:sp>
      </p:grpSp>
      <p:grpSp>
        <p:nvGrpSpPr>
          <p:cNvPr id="51" name="Group 50">
            <a:extLst>
              <a:ext uri="{FF2B5EF4-FFF2-40B4-BE49-F238E27FC236}">
                <a16:creationId xmlns:a16="http://schemas.microsoft.com/office/drawing/2014/main" id="{301AA07F-F8DF-15BF-3072-ADA6728D80B2}"/>
              </a:ext>
            </a:extLst>
          </p:cNvPr>
          <p:cNvGrpSpPr/>
          <p:nvPr/>
        </p:nvGrpSpPr>
        <p:grpSpPr>
          <a:xfrm>
            <a:off x="8968313" y="1904520"/>
            <a:ext cx="2831145" cy="3927669"/>
            <a:chOff x="386736" y="2169291"/>
            <a:chExt cx="2831145" cy="3927669"/>
          </a:xfrm>
        </p:grpSpPr>
        <p:grpSp>
          <p:nvGrpSpPr>
            <p:cNvPr id="52" name="Group 51">
              <a:extLst>
                <a:ext uri="{FF2B5EF4-FFF2-40B4-BE49-F238E27FC236}">
                  <a16:creationId xmlns:a16="http://schemas.microsoft.com/office/drawing/2014/main" id="{211D2D59-6500-8E6F-A6DD-7B3E77E0802C}"/>
                </a:ext>
              </a:extLst>
            </p:cNvPr>
            <p:cNvGrpSpPr/>
            <p:nvPr/>
          </p:nvGrpSpPr>
          <p:grpSpPr>
            <a:xfrm>
              <a:off x="386736" y="2169291"/>
              <a:ext cx="2831145" cy="3927669"/>
              <a:chOff x="386736" y="2169291"/>
              <a:chExt cx="2831145" cy="3927669"/>
            </a:xfrm>
          </p:grpSpPr>
          <p:grpSp>
            <p:nvGrpSpPr>
              <p:cNvPr id="54" name="Group 53">
                <a:extLst>
                  <a:ext uri="{FF2B5EF4-FFF2-40B4-BE49-F238E27FC236}">
                    <a16:creationId xmlns:a16="http://schemas.microsoft.com/office/drawing/2014/main" id="{7A61F443-7970-92F0-3DC3-482AC0B6B3AC}"/>
                  </a:ext>
                </a:extLst>
              </p:cNvPr>
              <p:cNvGrpSpPr/>
              <p:nvPr/>
            </p:nvGrpSpPr>
            <p:grpSpPr>
              <a:xfrm>
                <a:off x="1374473" y="2623056"/>
                <a:ext cx="855675" cy="2973056"/>
                <a:chOff x="1979590" y="2623056"/>
                <a:chExt cx="855675" cy="2973056"/>
              </a:xfrm>
            </p:grpSpPr>
            <p:sp>
              <p:nvSpPr>
                <p:cNvPr id="57" name="Rectangle 56">
                  <a:extLst>
                    <a:ext uri="{FF2B5EF4-FFF2-40B4-BE49-F238E27FC236}">
                      <a16:creationId xmlns:a16="http://schemas.microsoft.com/office/drawing/2014/main" id="{AC33A0A5-82CB-90B5-3BC8-786E10663A15}"/>
                    </a:ext>
                  </a:extLst>
                </p:cNvPr>
                <p:cNvSpPr/>
                <p:nvPr/>
              </p:nvSpPr>
              <p:spPr>
                <a:xfrm>
                  <a:off x="1979590" y="3102557"/>
                  <a:ext cx="855675" cy="20011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8" name="Arrow: Up 57">
                  <a:extLst>
                    <a:ext uri="{FF2B5EF4-FFF2-40B4-BE49-F238E27FC236}">
                      <a16:creationId xmlns:a16="http://schemas.microsoft.com/office/drawing/2014/main" id="{EA3929E6-B354-18B0-A092-8F904EDFFBF8}"/>
                    </a:ext>
                  </a:extLst>
                </p:cNvPr>
                <p:cNvSpPr/>
                <p:nvPr/>
              </p:nvSpPr>
              <p:spPr>
                <a:xfrm>
                  <a:off x="2191919" y="2623056"/>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9" name="Arrow: Up 58">
                  <a:extLst>
                    <a:ext uri="{FF2B5EF4-FFF2-40B4-BE49-F238E27FC236}">
                      <a16:creationId xmlns:a16="http://schemas.microsoft.com/office/drawing/2014/main" id="{22463140-668B-A168-1990-284201E8476B}"/>
                    </a:ext>
                  </a:extLst>
                </p:cNvPr>
                <p:cNvSpPr/>
                <p:nvPr/>
              </p:nvSpPr>
              <p:spPr>
                <a:xfrm rot="10800000">
                  <a:off x="2191919" y="5121968"/>
                  <a:ext cx="439810" cy="474144"/>
                </a:xfrm>
                <a:prstGeom prst="up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55" name="TextBox 54">
                <a:extLst>
                  <a:ext uri="{FF2B5EF4-FFF2-40B4-BE49-F238E27FC236}">
                    <a16:creationId xmlns:a16="http://schemas.microsoft.com/office/drawing/2014/main" id="{3CB61D2F-88BF-339E-4275-883F621AB888}"/>
                  </a:ext>
                </a:extLst>
              </p:cNvPr>
              <p:cNvSpPr txBox="1"/>
              <p:nvPr/>
            </p:nvSpPr>
            <p:spPr>
              <a:xfrm>
                <a:off x="878159" y="2169291"/>
                <a:ext cx="18483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Benzoic Acid</a:t>
                </a:r>
              </a:p>
            </p:txBody>
          </p:sp>
          <p:sp>
            <p:nvSpPr>
              <p:cNvPr id="56" name="TextBox 55">
                <a:extLst>
                  <a:ext uri="{FF2B5EF4-FFF2-40B4-BE49-F238E27FC236}">
                    <a16:creationId xmlns:a16="http://schemas.microsoft.com/office/drawing/2014/main" id="{68F63A55-3CC6-2D38-F46C-B75DBFFA356C}"/>
                  </a:ext>
                </a:extLst>
              </p:cNvPr>
              <p:cNvSpPr txBox="1"/>
              <p:nvPr/>
            </p:nvSpPr>
            <p:spPr>
              <a:xfrm>
                <a:off x="386736" y="5727628"/>
                <a:ext cx="28311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panose="02020603050405020304" pitchFamily="18" charset="0"/>
                    <a:cs typeface="Times New Roman" panose="02020603050405020304" pitchFamily="18" charset="0"/>
                  </a:rPr>
                  <a:t>Phthalic Acid</a:t>
                </a:r>
              </a:p>
            </p:txBody>
          </p:sp>
        </p:grpSp>
        <p:sp>
          <p:nvSpPr>
            <p:cNvPr id="53" name="TextBox 52">
              <a:extLst>
                <a:ext uri="{FF2B5EF4-FFF2-40B4-BE49-F238E27FC236}">
                  <a16:creationId xmlns:a16="http://schemas.microsoft.com/office/drawing/2014/main" id="{BA1CD57E-0A3A-EE94-0519-0CB4C39A2A10}"/>
                </a:ext>
              </a:extLst>
            </p:cNvPr>
            <p:cNvSpPr txBox="1"/>
            <p:nvPr/>
          </p:nvSpPr>
          <p:spPr>
            <a:xfrm>
              <a:off x="1563149" y="3948459"/>
              <a:ext cx="497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Times New Roman" panose="02020603050405020304" pitchFamily="18" charset="0"/>
                  <a:cs typeface="Times New Roman" panose="02020603050405020304" pitchFamily="18" charset="0"/>
                </a:rPr>
                <a:t>C4</a:t>
              </a:r>
            </a:p>
          </p:txBody>
        </p:sp>
      </p:grpSp>
    </p:spTree>
    <p:extLst>
      <p:ext uri="{BB962C8B-B14F-4D97-AF65-F5344CB8AC3E}">
        <p14:creationId xmlns:p14="http://schemas.microsoft.com/office/powerpoint/2010/main" val="7486784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5"/>
                                        </p:tgtEl>
                                      </p:cBhvr>
                                    </p:animEffect>
                                    <p:set>
                                      <p:cBhvr>
                                        <p:cTn id="16" dur="1" fill="hold">
                                          <p:stCondLst>
                                            <p:cond delay="499"/>
                                          </p:stCondLst>
                                        </p:cTn>
                                        <p:tgtEl>
                                          <p:spTgt spid="25"/>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51"/>
                                        </p:tgtEl>
                                      </p:cBhvr>
                                    </p:animEffect>
                                    <p:set>
                                      <p:cBhvr>
                                        <p:cTn id="19" dur="1" fill="hold">
                                          <p:stCondLst>
                                            <p:cond delay="499"/>
                                          </p:stCondLst>
                                        </p:cTn>
                                        <p:tgtEl>
                                          <p:spTgt spid="51"/>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7F950-7063-78A9-A523-FE8E29D33C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6A329-F888-57E4-F9D8-D6C136341011}"/>
              </a:ext>
            </a:extLst>
          </p:cNvPr>
          <p:cNvSpPr>
            <a:spLocks noGrp="1"/>
          </p:cNvSpPr>
          <p:nvPr>
            <p:ph type="sldNum" sz="quarter" idx="12"/>
          </p:nvPr>
        </p:nvSpPr>
        <p:spPr/>
        <p:txBody>
          <a:bodyPr/>
          <a:lstStyle/>
          <a:p>
            <a:fld id="{330EA680-D336-4FF7-8B7A-9848BB0A1C32}" type="slidenum">
              <a:rPr lang="en-US" smtClean="0"/>
              <a:t>57</a:t>
            </a:fld>
            <a:endParaRPr lang="en-US"/>
          </a:p>
        </p:txBody>
      </p:sp>
      <p:sp>
        <p:nvSpPr>
          <p:cNvPr id="4" name="Rectangle 3">
            <a:extLst>
              <a:ext uri="{FF2B5EF4-FFF2-40B4-BE49-F238E27FC236}">
                <a16:creationId xmlns:a16="http://schemas.microsoft.com/office/drawing/2014/main" id="{235CDD38-DB5A-34EC-0140-BA735D72B407}"/>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PINCH TECHNOLOGY</a:t>
            </a:r>
          </a:p>
        </p:txBody>
      </p:sp>
      <p:graphicFrame>
        <p:nvGraphicFramePr>
          <p:cNvPr id="7" name="Table 6">
            <a:extLst>
              <a:ext uri="{FF2B5EF4-FFF2-40B4-BE49-F238E27FC236}">
                <a16:creationId xmlns:a16="http://schemas.microsoft.com/office/drawing/2014/main" id="{15C5CC43-FBAF-45B2-259C-638311842C9B}"/>
              </a:ext>
            </a:extLst>
          </p:cNvPr>
          <p:cNvGraphicFramePr>
            <a:graphicFrameLocks noGrp="1"/>
          </p:cNvGraphicFramePr>
          <p:nvPr/>
        </p:nvGraphicFramePr>
        <p:xfrm>
          <a:off x="211968" y="945865"/>
          <a:ext cx="6729606" cy="2367609"/>
        </p:xfrm>
        <a:graphic>
          <a:graphicData uri="http://schemas.openxmlformats.org/drawingml/2006/table">
            <a:tbl>
              <a:tblPr firstRow="1" bandRow="1">
                <a:tableStyleId>{5C22544A-7EE6-4342-B048-85BDC9FD1C3A}</a:tableStyleId>
              </a:tblPr>
              <a:tblGrid>
                <a:gridCol w="1147194">
                  <a:extLst>
                    <a:ext uri="{9D8B030D-6E8A-4147-A177-3AD203B41FA5}">
                      <a16:colId xmlns:a16="http://schemas.microsoft.com/office/drawing/2014/main" val="392239430"/>
                    </a:ext>
                  </a:extLst>
                </a:gridCol>
                <a:gridCol w="1106637">
                  <a:extLst>
                    <a:ext uri="{9D8B030D-6E8A-4147-A177-3AD203B41FA5}">
                      <a16:colId xmlns:a16="http://schemas.microsoft.com/office/drawing/2014/main" val="1332193357"/>
                    </a:ext>
                  </a:extLst>
                </a:gridCol>
                <a:gridCol w="895155">
                  <a:extLst>
                    <a:ext uri="{9D8B030D-6E8A-4147-A177-3AD203B41FA5}">
                      <a16:colId xmlns:a16="http://schemas.microsoft.com/office/drawing/2014/main" val="212439466"/>
                    </a:ext>
                  </a:extLst>
                </a:gridCol>
                <a:gridCol w="895155">
                  <a:extLst>
                    <a:ext uri="{9D8B030D-6E8A-4147-A177-3AD203B41FA5}">
                      <a16:colId xmlns:a16="http://schemas.microsoft.com/office/drawing/2014/main" val="1337559"/>
                    </a:ext>
                  </a:extLst>
                </a:gridCol>
                <a:gridCol w="895155">
                  <a:extLst>
                    <a:ext uri="{9D8B030D-6E8A-4147-A177-3AD203B41FA5}">
                      <a16:colId xmlns:a16="http://schemas.microsoft.com/office/drawing/2014/main" val="873854240"/>
                    </a:ext>
                  </a:extLst>
                </a:gridCol>
                <a:gridCol w="895155">
                  <a:extLst>
                    <a:ext uri="{9D8B030D-6E8A-4147-A177-3AD203B41FA5}">
                      <a16:colId xmlns:a16="http://schemas.microsoft.com/office/drawing/2014/main" val="579343598"/>
                    </a:ext>
                  </a:extLst>
                </a:gridCol>
                <a:gridCol w="895155">
                  <a:extLst>
                    <a:ext uri="{9D8B030D-6E8A-4147-A177-3AD203B41FA5}">
                      <a16:colId xmlns:a16="http://schemas.microsoft.com/office/drawing/2014/main" val="2239529797"/>
                    </a:ext>
                  </a:extLst>
                </a:gridCol>
              </a:tblGrid>
              <a:tr h="613824">
                <a:tc>
                  <a:txBody>
                    <a:bodyPr/>
                    <a:lstStyle/>
                    <a:p>
                      <a:pPr algn="ctr"/>
                      <a:r>
                        <a:rPr lang="en-US" sz="1400"/>
                        <a:t>Stream</a:t>
                      </a:r>
                      <a:endParaRPr lang="en-IN" sz="1400"/>
                    </a:p>
                  </a:txBody>
                  <a:tcPr anchor="ctr">
                    <a:solidFill>
                      <a:srgbClr val="002060"/>
                    </a:solidFill>
                  </a:tcPr>
                </a:tc>
                <a:tc>
                  <a:txBody>
                    <a:bodyPr/>
                    <a:lstStyle/>
                    <a:p>
                      <a:pPr algn="ctr"/>
                      <a:r>
                        <a:rPr lang="en-US" sz="1400"/>
                        <a:t>Condition</a:t>
                      </a:r>
                      <a:endParaRPr lang="en-IN" sz="1400"/>
                    </a:p>
                  </a:txBody>
                  <a:tcPr anchor="ctr">
                    <a:solidFill>
                      <a:srgbClr val="002060"/>
                    </a:solidFill>
                  </a:tcPr>
                </a:tc>
                <a:tc>
                  <a:txBody>
                    <a:bodyPr/>
                    <a:lstStyle/>
                    <a:p>
                      <a:pPr algn="ctr"/>
                      <a:r>
                        <a:rPr lang="en-US" sz="1400"/>
                        <a:t>Flowrate (kg/s)</a:t>
                      </a:r>
                      <a:endParaRPr lang="en-IN" sz="1400"/>
                    </a:p>
                  </a:txBody>
                  <a:tcPr anchor="ctr">
                    <a:solidFill>
                      <a:srgbClr val="002060"/>
                    </a:solidFill>
                  </a:tcPr>
                </a:tc>
                <a:tc>
                  <a:txBody>
                    <a:bodyPr/>
                    <a:lstStyle/>
                    <a:p>
                      <a:pPr algn="ctr"/>
                      <a:r>
                        <a:rPr lang="en-US" sz="1400" err="1"/>
                        <a:t>mCp</a:t>
                      </a:r>
                      <a:r>
                        <a:rPr lang="en-US" sz="1400"/>
                        <a:t> (kW/C)</a:t>
                      </a:r>
                      <a:endParaRPr lang="en-IN" sz="1400"/>
                    </a:p>
                  </a:txBody>
                  <a:tcPr anchor="ctr">
                    <a:solidFill>
                      <a:srgbClr val="002060"/>
                    </a:solidFill>
                  </a:tcPr>
                </a:tc>
                <a:tc>
                  <a:txBody>
                    <a:bodyPr/>
                    <a:lstStyle/>
                    <a:p>
                      <a:pPr algn="ctr"/>
                      <a:r>
                        <a:rPr lang="en-US" sz="1400"/>
                        <a:t>Tin</a:t>
                      </a:r>
                      <a:endParaRPr lang="en-IN" sz="1400"/>
                    </a:p>
                  </a:txBody>
                  <a:tcPr anchor="ctr">
                    <a:solidFill>
                      <a:srgbClr val="002060"/>
                    </a:solidFill>
                  </a:tcPr>
                </a:tc>
                <a:tc>
                  <a:txBody>
                    <a:bodyPr/>
                    <a:lstStyle/>
                    <a:p>
                      <a:pPr algn="ctr"/>
                      <a:r>
                        <a:rPr lang="en-US" sz="1400"/>
                        <a:t>Tout</a:t>
                      </a:r>
                      <a:endParaRPr lang="en-IN" sz="1400"/>
                    </a:p>
                  </a:txBody>
                  <a:tcPr anchor="ctr">
                    <a:solidFill>
                      <a:srgbClr val="002060"/>
                    </a:solidFill>
                  </a:tcPr>
                </a:tc>
                <a:tc>
                  <a:txBody>
                    <a:bodyPr/>
                    <a:lstStyle/>
                    <a:p>
                      <a:pPr algn="ctr"/>
                      <a:r>
                        <a:rPr lang="en-US" sz="1400" err="1"/>
                        <a:t>Qav</a:t>
                      </a:r>
                      <a:r>
                        <a:rPr lang="en-US" sz="1400"/>
                        <a:t> (Kw)</a:t>
                      </a:r>
                      <a:endParaRPr lang="en-IN" sz="1400"/>
                    </a:p>
                  </a:txBody>
                  <a:tcPr anchor="ctr">
                    <a:solidFill>
                      <a:srgbClr val="002060"/>
                    </a:solidFill>
                  </a:tcPr>
                </a:tc>
                <a:extLst>
                  <a:ext uri="{0D108BD9-81ED-4DB2-BD59-A6C34878D82A}">
                    <a16:rowId xmlns:a16="http://schemas.microsoft.com/office/drawing/2014/main" val="2947737748"/>
                  </a:ext>
                </a:extLst>
              </a:tr>
              <a:tr h="350757">
                <a:tc>
                  <a:txBody>
                    <a:bodyPr/>
                    <a:lstStyle/>
                    <a:p>
                      <a:pPr algn="ctr"/>
                      <a:r>
                        <a:rPr lang="en-US" sz="1400"/>
                        <a:t>1 (D2)</a:t>
                      </a:r>
                      <a:endParaRPr lang="en-IN" sz="1400"/>
                    </a:p>
                  </a:txBody>
                  <a:tcPr anchor="ctr"/>
                </a:tc>
                <a:tc>
                  <a:txBody>
                    <a:bodyPr/>
                    <a:lstStyle/>
                    <a:p>
                      <a:pPr algn="ctr"/>
                      <a:r>
                        <a:rPr lang="en-US" sz="1400"/>
                        <a:t>Hot</a:t>
                      </a:r>
                      <a:endParaRPr lang="en-IN" sz="1400"/>
                    </a:p>
                  </a:txBody>
                  <a:tcPr anchor="ctr"/>
                </a:tc>
                <a:tc>
                  <a:txBody>
                    <a:bodyPr/>
                    <a:lstStyle/>
                    <a:p>
                      <a:pPr algn="ctr"/>
                      <a:r>
                        <a:rPr lang="en-US" sz="1400"/>
                        <a:t>106.15</a:t>
                      </a:r>
                      <a:endParaRPr lang="en-IN" sz="1400"/>
                    </a:p>
                  </a:txBody>
                  <a:tcPr anchor="ctr"/>
                </a:tc>
                <a:tc>
                  <a:txBody>
                    <a:bodyPr/>
                    <a:lstStyle/>
                    <a:p>
                      <a:pPr algn="ctr"/>
                      <a:r>
                        <a:rPr lang="en-US" sz="1400"/>
                        <a:t>341.89</a:t>
                      </a:r>
                      <a:endParaRPr lang="en-IN" sz="1400"/>
                    </a:p>
                  </a:txBody>
                  <a:tcPr anchor="ctr"/>
                </a:tc>
                <a:tc>
                  <a:txBody>
                    <a:bodyPr/>
                    <a:lstStyle/>
                    <a:p>
                      <a:pPr algn="ctr"/>
                      <a:r>
                        <a:rPr lang="en-US" sz="1400"/>
                        <a:t>64</a:t>
                      </a:r>
                      <a:endParaRPr lang="en-IN" sz="1400"/>
                    </a:p>
                  </a:txBody>
                  <a:tcPr anchor="ctr"/>
                </a:tc>
                <a:tc>
                  <a:txBody>
                    <a:bodyPr/>
                    <a:lstStyle/>
                    <a:p>
                      <a:pPr algn="ctr"/>
                      <a:r>
                        <a:rPr lang="en-US" sz="1400"/>
                        <a:t>35</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9914.81</a:t>
                      </a:r>
                    </a:p>
                  </a:txBody>
                  <a:tcPr marL="9525" marR="9525" marT="9525" marB="0" anchor="ctr"/>
                </a:tc>
                <a:extLst>
                  <a:ext uri="{0D108BD9-81ED-4DB2-BD59-A6C34878D82A}">
                    <a16:rowId xmlns:a16="http://schemas.microsoft.com/office/drawing/2014/main" val="232348083"/>
                  </a:ext>
                </a:extLst>
              </a:tr>
              <a:tr h="350757">
                <a:tc>
                  <a:txBody>
                    <a:bodyPr/>
                    <a:lstStyle/>
                    <a:p>
                      <a:pPr algn="ctr"/>
                      <a:r>
                        <a:rPr lang="en-US" sz="1400"/>
                        <a:t>2 (D3)</a:t>
                      </a:r>
                      <a:endParaRPr lang="en-IN" sz="1400"/>
                    </a:p>
                  </a:txBody>
                  <a:tcPr anchor="ctr"/>
                </a:tc>
                <a:tc>
                  <a:txBody>
                    <a:bodyPr/>
                    <a:lstStyle/>
                    <a:p>
                      <a:pPr algn="ctr"/>
                      <a:r>
                        <a:rPr lang="en-US" sz="1400"/>
                        <a:t>Hot</a:t>
                      </a:r>
                      <a:endParaRPr lang="en-IN" sz="1400"/>
                    </a:p>
                  </a:txBody>
                  <a:tcPr anchor="ctr"/>
                </a:tc>
                <a:tc>
                  <a:txBody>
                    <a:bodyPr/>
                    <a:lstStyle/>
                    <a:p>
                      <a:pPr algn="ctr"/>
                      <a:r>
                        <a:rPr lang="en-US" sz="1400"/>
                        <a:t>2.72</a:t>
                      </a:r>
                    </a:p>
                  </a:txBody>
                  <a:tcPr anchor="ctr"/>
                </a:tc>
                <a:tc>
                  <a:txBody>
                    <a:bodyPr/>
                    <a:lstStyle/>
                    <a:p>
                      <a:pPr algn="ctr"/>
                      <a:r>
                        <a:rPr lang="en-US" sz="1400"/>
                        <a:t>4.67</a:t>
                      </a:r>
                      <a:endParaRPr lang="en-IN" sz="1400"/>
                    </a:p>
                  </a:txBody>
                  <a:tcPr anchor="ctr"/>
                </a:tc>
                <a:tc>
                  <a:txBody>
                    <a:bodyPr/>
                    <a:lstStyle/>
                    <a:p>
                      <a:pPr algn="ctr"/>
                      <a:r>
                        <a:rPr lang="en-US" sz="1400"/>
                        <a:t>191</a:t>
                      </a:r>
                      <a:endParaRPr lang="en-IN" sz="1400"/>
                    </a:p>
                  </a:txBody>
                  <a:tcPr anchor="ctr"/>
                </a:tc>
                <a:tc>
                  <a:txBody>
                    <a:bodyPr/>
                    <a:lstStyle/>
                    <a:p>
                      <a:pPr algn="ctr"/>
                      <a:r>
                        <a:rPr lang="en-US" sz="1400"/>
                        <a:t>35</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728.21</a:t>
                      </a:r>
                    </a:p>
                  </a:txBody>
                  <a:tcPr marL="9525" marR="9525" marT="9525" marB="0" anchor="ctr"/>
                </a:tc>
                <a:extLst>
                  <a:ext uri="{0D108BD9-81ED-4DB2-BD59-A6C34878D82A}">
                    <a16:rowId xmlns:a16="http://schemas.microsoft.com/office/drawing/2014/main" val="1810692904"/>
                  </a:ext>
                </a:extLst>
              </a:tr>
              <a:tr h="350757">
                <a:tc>
                  <a:txBody>
                    <a:bodyPr/>
                    <a:lstStyle/>
                    <a:p>
                      <a:pPr algn="ctr"/>
                      <a:r>
                        <a:rPr lang="en-US" sz="1400"/>
                        <a:t>3 (D4)</a:t>
                      </a:r>
                      <a:endParaRPr lang="en-IN" sz="1400"/>
                    </a:p>
                  </a:txBody>
                  <a:tcPr anchor="ctr"/>
                </a:tc>
                <a:tc>
                  <a:txBody>
                    <a:bodyPr/>
                    <a:lstStyle/>
                    <a:p>
                      <a:pPr algn="ctr"/>
                      <a:r>
                        <a:rPr lang="en-US" sz="1400"/>
                        <a:t>Hot</a:t>
                      </a:r>
                      <a:endParaRPr lang="en-IN" sz="1400"/>
                    </a:p>
                  </a:txBody>
                  <a:tcPr anchor="ctr"/>
                </a:tc>
                <a:tc>
                  <a:txBody>
                    <a:bodyPr/>
                    <a:lstStyle/>
                    <a:p>
                      <a:pPr algn="ctr"/>
                      <a:r>
                        <a:rPr lang="en-US" sz="1400"/>
                        <a:t>0.95</a:t>
                      </a:r>
                      <a:endParaRPr lang="en-IN" sz="1400"/>
                    </a:p>
                  </a:txBody>
                  <a:tcPr anchor="ctr"/>
                </a:tc>
                <a:tc>
                  <a:txBody>
                    <a:bodyPr/>
                    <a:lstStyle/>
                    <a:p>
                      <a:pPr algn="ctr"/>
                      <a:r>
                        <a:rPr lang="en-US" sz="1400"/>
                        <a:t>1.73</a:t>
                      </a:r>
                      <a:endParaRPr lang="en-IN" sz="1400"/>
                    </a:p>
                  </a:txBody>
                  <a:tcPr anchor="ctr"/>
                </a:tc>
                <a:tc>
                  <a:txBody>
                    <a:bodyPr/>
                    <a:lstStyle/>
                    <a:p>
                      <a:pPr algn="ctr"/>
                      <a:r>
                        <a:rPr lang="en-US" sz="1400"/>
                        <a:t>248</a:t>
                      </a:r>
                      <a:endParaRPr lang="en-IN" sz="1400"/>
                    </a:p>
                  </a:txBody>
                  <a:tcPr anchor="ctr"/>
                </a:tc>
                <a:tc>
                  <a:txBody>
                    <a:bodyPr/>
                    <a:lstStyle/>
                    <a:p>
                      <a:pPr algn="ctr"/>
                      <a:r>
                        <a:rPr lang="en-US" sz="1400"/>
                        <a:t>35</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369.09</a:t>
                      </a:r>
                    </a:p>
                  </a:txBody>
                  <a:tcPr marL="9525" marR="9525" marT="9525" marB="0" anchor="ctr"/>
                </a:tc>
                <a:extLst>
                  <a:ext uri="{0D108BD9-81ED-4DB2-BD59-A6C34878D82A}">
                    <a16:rowId xmlns:a16="http://schemas.microsoft.com/office/drawing/2014/main" val="3690338258"/>
                  </a:ext>
                </a:extLst>
              </a:tr>
              <a:tr h="350757">
                <a:tc>
                  <a:txBody>
                    <a:bodyPr/>
                    <a:lstStyle/>
                    <a:p>
                      <a:pPr algn="ctr"/>
                      <a:r>
                        <a:rPr lang="en-US" sz="1400"/>
                        <a:t>4 (LIQOUT)</a:t>
                      </a:r>
                      <a:endParaRPr lang="en-IN" sz="1400"/>
                    </a:p>
                  </a:txBody>
                  <a:tcPr anchor="ctr"/>
                </a:tc>
                <a:tc>
                  <a:txBody>
                    <a:bodyPr/>
                    <a:lstStyle/>
                    <a:p>
                      <a:pPr algn="ctr"/>
                      <a:r>
                        <a:rPr lang="en-US" sz="1400"/>
                        <a:t>Cold</a:t>
                      </a:r>
                      <a:endParaRPr lang="en-IN" sz="1400"/>
                    </a:p>
                  </a:txBody>
                  <a:tcPr anchor="ctr"/>
                </a:tc>
                <a:tc>
                  <a:txBody>
                    <a:bodyPr/>
                    <a:lstStyle/>
                    <a:p>
                      <a:pPr algn="ctr"/>
                      <a:r>
                        <a:rPr lang="en-US" sz="1400"/>
                        <a:t>110.20</a:t>
                      </a:r>
                      <a:endParaRPr lang="en-IN" sz="1400"/>
                    </a:p>
                  </a:txBody>
                  <a:tcPr anchor="ctr"/>
                </a:tc>
                <a:tc>
                  <a:txBody>
                    <a:bodyPr/>
                    <a:lstStyle/>
                    <a:p>
                      <a:pPr algn="ctr"/>
                      <a:r>
                        <a:rPr lang="en-US" sz="1400"/>
                        <a:t>374.54</a:t>
                      </a:r>
                      <a:endParaRPr lang="en-IN" sz="1400"/>
                    </a:p>
                  </a:txBody>
                  <a:tcPr anchor="ctr"/>
                </a:tc>
                <a:tc>
                  <a:txBody>
                    <a:bodyPr/>
                    <a:lstStyle/>
                    <a:p>
                      <a:pPr algn="ctr"/>
                      <a:r>
                        <a:rPr lang="en-US" sz="1400"/>
                        <a:t>50</a:t>
                      </a:r>
                      <a:endParaRPr lang="en-IN" sz="1400"/>
                    </a:p>
                  </a:txBody>
                  <a:tcPr anchor="ctr"/>
                </a:tc>
                <a:tc>
                  <a:txBody>
                    <a:bodyPr/>
                    <a:lstStyle/>
                    <a:p>
                      <a:pPr algn="ctr"/>
                      <a:r>
                        <a:rPr lang="en-US" sz="1400"/>
                        <a:t>54</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1498.16</a:t>
                      </a:r>
                    </a:p>
                  </a:txBody>
                  <a:tcPr marL="9525" marR="9525" marT="9525" marB="0" anchor="ctr"/>
                </a:tc>
                <a:extLst>
                  <a:ext uri="{0D108BD9-81ED-4DB2-BD59-A6C34878D82A}">
                    <a16:rowId xmlns:a16="http://schemas.microsoft.com/office/drawing/2014/main" val="1096435535"/>
                  </a:ext>
                </a:extLst>
              </a:tr>
              <a:tr h="350757">
                <a:tc>
                  <a:txBody>
                    <a:bodyPr/>
                    <a:lstStyle/>
                    <a:p>
                      <a:pPr algn="ctr"/>
                      <a:r>
                        <a:rPr lang="en-US" sz="1400"/>
                        <a:t>5 (MIXOUT)</a:t>
                      </a:r>
                      <a:endParaRPr lang="en-IN" sz="1400"/>
                    </a:p>
                  </a:txBody>
                  <a:tcPr anchor="ctr"/>
                </a:tc>
                <a:tc>
                  <a:txBody>
                    <a:bodyPr/>
                    <a:lstStyle/>
                    <a:p>
                      <a:pPr algn="ctr"/>
                      <a:r>
                        <a:rPr lang="en-US" sz="1400"/>
                        <a:t>Cold</a:t>
                      </a:r>
                      <a:endParaRPr lang="en-IN" sz="1400"/>
                    </a:p>
                  </a:txBody>
                  <a:tcPr anchor="ctr"/>
                </a:tc>
                <a:tc>
                  <a:txBody>
                    <a:bodyPr/>
                    <a:lstStyle/>
                    <a:p>
                      <a:pPr algn="ctr"/>
                      <a:r>
                        <a:rPr lang="en-US" sz="1400"/>
                        <a:t>110.20</a:t>
                      </a:r>
                      <a:endParaRPr lang="en-IN" sz="1400"/>
                    </a:p>
                  </a:txBody>
                  <a:tcPr anchor="ctr"/>
                </a:tc>
                <a:tc>
                  <a:txBody>
                    <a:bodyPr/>
                    <a:lstStyle/>
                    <a:p>
                      <a:pPr algn="ctr"/>
                      <a:r>
                        <a:rPr lang="en-US" sz="1400"/>
                        <a:t>348.69</a:t>
                      </a:r>
                      <a:endParaRPr lang="en-IN" sz="1400"/>
                    </a:p>
                  </a:txBody>
                  <a:tcPr anchor="ctr"/>
                </a:tc>
                <a:tc>
                  <a:txBody>
                    <a:bodyPr/>
                    <a:lstStyle/>
                    <a:p>
                      <a:pPr algn="ctr"/>
                      <a:r>
                        <a:rPr lang="en-US" sz="1400"/>
                        <a:t>25</a:t>
                      </a:r>
                      <a:endParaRPr lang="en-IN" sz="1400"/>
                    </a:p>
                  </a:txBody>
                  <a:tcPr anchor="ctr"/>
                </a:tc>
                <a:tc>
                  <a:txBody>
                    <a:bodyPr/>
                    <a:lstStyle/>
                    <a:p>
                      <a:pPr algn="ctr"/>
                      <a:r>
                        <a:rPr lang="en-US" sz="1400"/>
                        <a:t>50</a:t>
                      </a:r>
                      <a:endParaRPr lang="en-IN" sz="1400"/>
                    </a:p>
                  </a:txBody>
                  <a:tcPr anchor="ctr"/>
                </a:tc>
                <a:tc>
                  <a:txBody>
                    <a:bodyPr/>
                    <a:lstStyle/>
                    <a:p>
                      <a:pPr algn="ctr" fontAlgn="b"/>
                      <a:r>
                        <a:rPr lang="en-IN" sz="1400" b="0" i="0" u="none" strike="noStrike">
                          <a:solidFill>
                            <a:srgbClr val="000000"/>
                          </a:solidFill>
                          <a:effectLst/>
                          <a:latin typeface="Aptos Narrow" panose="020B0004020202020204" pitchFamily="34" charset="0"/>
                        </a:rPr>
                        <a:t>8717.15</a:t>
                      </a:r>
                    </a:p>
                  </a:txBody>
                  <a:tcPr marL="9525" marR="9525" marT="9525" marB="0" anchor="ctr"/>
                </a:tc>
                <a:extLst>
                  <a:ext uri="{0D108BD9-81ED-4DB2-BD59-A6C34878D82A}">
                    <a16:rowId xmlns:a16="http://schemas.microsoft.com/office/drawing/2014/main" val="1890920312"/>
                  </a:ext>
                </a:extLst>
              </a:tr>
            </a:tbl>
          </a:graphicData>
        </a:graphic>
      </p:graphicFrame>
      <p:sp>
        <p:nvSpPr>
          <p:cNvPr id="26" name="Rectangle 25">
            <a:extLst>
              <a:ext uri="{FF2B5EF4-FFF2-40B4-BE49-F238E27FC236}">
                <a16:creationId xmlns:a16="http://schemas.microsoft.com/office/drawing/2014/main" id="{DD831A98-4410-C09B-26CC-1A28DF571B86}"/>
              </a:ext>
            </a:extLst>
          </p:cNvPr>
          <p:cNvSpPr/>
          <p:nvPr/>
        </p:nvSpPr>
        <p:spPr>
          <a:xfrm>
            <a:off x="864581" y="4372557"/>
            <a:ext cx="1106902" cy="61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1</a:t>
            </a:r>
          </a:p>
          <a:p>
            <a:pPr algn="ctr"/>
            <a:r>
              <a:rPr lang="en-IN" sz="1400" kern="1200">
                <a:solidFill>
                  <a:schemeClr val="dk1"/>
                </a:solidFill>
                <a:latin typeface="+mn-lt"/>
                <a:ea typeface="+mn-ea"/>
                <a:cs typeface="+mn-cs"/>
              </a:rPr>
              <a:t>9914.81</a:t>
            </a:r>
            <a:endParaRPr lang="en-IN" sz="1400"/>
          </a:p>
        </p:txBody>
      </p:sp>
      <p:sp>
        <p:nvSpPr>
          <p:cNvPr id="27" name="Rectangle 26">
            <a:extLst>
              <a:ext uri="{FF2B5EF4-FFF2-40B4-BE49-F238E27FC236}">
                <a16:creationId xmlns:a16="http://schemas.microsoft.com/office/drawing/2014/main" id="{4581FF95-D4FA-A78B-A157-AE137386F387}"/>
              </a:ext>
            </a:extLst>
          </p:cNvPr>
          <p:cNvSpPr/>
          <p:nvPr/>
        </p:nvSpPr>
        <p:spPr>
          <a:xfrm>
            <a:off x="2876770" y="4372557"/>
            <a:ext cx="1106902" cy="61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2</a:t>
            </a:r>
          </a:p>
          <a:p>
            <a:pPr algn="ctr"/>
            <a:r>
              <a:rPr lang="en-IN" sz="1400" kern="1200">
                <a:solidFill>
                  <a:schemeClr val="dk1"/>
                </a:solidFill>
                <a:latin typeface="+mn-lt"/>
                <a:ea typeface="+mn-ea"/>
                <a:cs typeface="+mn-cs"/>
              </a:rPr>
              <a:t>728.208</a:t>
            </a:r>
            <a:endParaRPr lang="en-IN" sz="1400"/>
          </a:p>
        </p:txBody>
      </p:sp>
      <p:sp>
        <p:nvSpPr>
          <p:cNvPr id="28" name="Rectangle 27">
            <a:extLst>
              <a:ext uri="{FF2B5EF4-FFF2-40B4-BE49-F238E27FC236}">
                <a16:creationId xmlns:a16="http://schemas.microsoft.com/office/drawing/2014/main" id="{C1C72C86-3702-3A4F-AA1C-8F63F02DC50B}"/>
              </a:ext>
            </a:extLst>
          </p:cNvPr>
          <p:cNvSpPr/>
          <p:nvPr/>
        </p:nvSpPr>
        <p:spPr>
          <a:xfrm>
            <a:off x="2868034" y="5783496"/>
            <a:ext cx="1106902" cy="61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4</a:t>
            </a:r>
          </a:p>
          <a:p>
            <a:pPr algn="ctr"/>
            <a:r>
              <a:rPr lang="en-IN" sz="1400" kern="1200">
                <a:solidFill>
                  <a:schemeClr val="dk1"/>
                </a:solidFill>
                <a:latin typeface="+mn-lt"/>
                <a:ea typeface="+mn-ea"/>
                <a:cs typeface="+mn-cs"/>
              </a:rPr>
              <a:t>1498.16</a:t>
            </a:r>
          </a:p>
        </p:txBody>
      </p:sp>
      <p:sp>
        <p:nvSpPr>
          <p:cNvPr id="29" name="Rectangle 28">
            <a:extLst>
              <a:ext uri="{FF2B5EF4-FFF2-40B4-BE49-F238E27FC236}">
                <a16:creationId xmlns:a16="http://schemas.microsoft.com/office/drawing/2014/main" id="{75E345DA-56A7-3F89-E6AC-D9F737317DC6}"/>
              </a:ext>
            </a:extLst>
          </p:cNvPr>
          <p:cNvSpPr/>
          <p:nvPr/>
        </p:nvSpPr>
        <p:spPr>
          <a:xfrm>
            <a:off x="864581" y="5790691"/>
            <a:ext cx="1106902" cy="61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5</a:t>
            </a:r>
          </a:p>
          <a:p>
            <a:pPr algn="ctr"/>
            <a:r>
              <a:rPr lang="en-IN" sz="1400" kern="1200">
                <a:solidFill>
                  <a:schemeClr val="dk1"/>
                </a:solidFill>
                <a:latin typeface="+mn-lt"/>
                <a:ea typeface="+mn-ea"/>
                <a:cs typeface="+mn-cs"/>
              </a:rPr>
              <a:t>8717.15</a:t>
            </a:r>
          </a:p>
        </p:txBody>
      </p:sp>
      <p:sp>
        <p:nvSpPr>
          <p:cNvPr id="30" name="Rectangle 29">
            <a:extLst>
              <a:ext uri="{FF2B5EF4-FFF2-40B4-BE49-F238E27FC236}">
                <a16:creationId xmlns:a16="http://schemas.microsoft.com/office/drawing/2014/main" id="{AE49037C-6679-F59F-4378-D7779EBE1159}"/>
              </a:ext>
            </a:extLst>
          </p:cNvPr>
          <p:cNvSpPr/>
          <p:nvPr/>
        </p:nvSpPr>
        <p:spPr>
          <a:xfrm>
            <a:off x="4891153" y="4381376"/>
            <a:ext cx="1106902" cy="61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3</a:t>
            </a:r>
          </a:p>
          <a:p>
            <a:pPr algn="ctr"/>
            <a:r>
              <a:rPr lang="en-IN" sz="1400" b="0" i="0" u="none" strike="noStrike">
                <a:solidFill>
                  <a:srgbClr val="000000"/>
                </a:solidFill>
                <a:effectLst/>
                <a:latin typeface="Aptos Narrow" panose="020B0004020202020204" pitchFamily="34" charset="0"/>
              </a:rPr>
              <a:t>369.0864</a:t>
            </a:r>
            <a:endParaRPr lang="en-IN" sz="1400"/>
          </a:p>
        </p:txBody>
      </p:sp>
      <p:sp>
        <p:nvSpPr>
          <p:cNvPr id="31" name="Rectangle 30">
            <a:extLst>
              <a:ext uri="{FF2B5EF4-FFF2-40B4-BE49-F238E27FC236}">
                <a16:creationId xmlns:a16="http://schemas.microsoft.com/office/drawing/2014/main" id="{CABB89A2-712E-E9BC-7030-DBCD10F3483F}"/>
              </a:ext>
            </a:extLst>
          </p:cNvPr>
          <p:cNvSpPr/>
          <p:nvPr/>
        </p:nvSpPr>
        <p:spPr>
          <a:xfrm>
            <a:off x="4891153" y="5783495"/>
            <a:ext cx="1106902" cy="61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CU</a:t>
            </a:r>
          </a:p>
          <a:p>
            <a:pPr algn="ctr"/>
            <a:r>
              <a:rPr lang="en-US" sz="1400"/>
              <a:t>796.776</a:t>
            </a:r>
            <a:endParaRPr lang="en-IN" sz="1400"/>
          </a:p>
        </p:txBody>
      </p:sp>
      <p:cxnSp>
        <p:nvCxnSpPr>
          <p:cNvPr id="32" name="Straight Arrow Connector 31">
            <a:extLst>
              <a:ext uri="{FF2B5EF4-FFF2-40B4-BE49-F238E27FC236}">
                <a16:creationId xmlns:a16="http://schemas.microsoft.com/office/drawing/2014/main" id="{4BFDE640-4917-0CC9-63F8-86A68B15C4BA}"/>
              </a:ext>
            </a:extLst>
          </p:cNvPr>
          <p:cNvCxnSpPr>
            <a:cxnSpLocks/>
            <a:stCxn id="26" idx="2"/>
            <a:endCxn id="29" idx="0"/>
          </p:cNvCxnSpPr>
          <p:nvPr/>
        </p:nvCxnSpPr>
        <p:spPr>
          <a:xfrm>
            <a:off x="1418032" y="4989346"/>
            <a:ext cx="0" cy="8013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7DF99E59-33C0-EA93-DC7A-058C808EF427}"/>
              </a:ext>
            </a:extLst>
          </p:cNvPr>
          <p:cNvSpPr txBox="1"/>
          <p:nvPr/>
        </p:nvSpPr>
        <p:spPr>
          <a:xfrm>
            <a:off x="749445" y="5224969"/>
            <a:ext cx="1507958" cy="276999"/>
          </a:xfrm>
          <a:prstGeom prst="rect">
            <a:avLst/>
          </a:prstGeom>
          <a:noFill/>
        </p:spPr>
        <p:txBody>
          <a:bodyPr wrap="square" rtlCol="0">
            <a:spAutoFit/>
          </a:bodyPr>
          <a:lstStyle/>
          <a:p>
            <a:r>
              <a:rPr lang="en-IN" sz="1200" kern="1200">
                <a:solidFill>
                  <a:schemeClr val="dk1"/>
                </a:solidFill>
                <a:latin typeface="+mn-lt"/>
                <a:ea typeface="+mn-ea"/>
                <a:cs typeface="+mn-cs"/>
              </a:rPr>
              <a:t>8717.15</a:t>
            </a:r>
            <a:endParaRPr lang="en-IN" sz="1200"/>
          </a:p>
        </p:txBody>
      </p:sp>
      <p:cxnSp>
        <p:nvCxnSpPr>
          <p:cNvPr id="34" name="Straight Arrow Connector 33">
            <a:extLst>
              <a:ext uri="{FF2B5EF4-FFF2-40B4-BE49-F238E27FC236}">
                <a16:creationId xmlns:a16="http://schemas.microsoft.com/office/drawing/2014/main" id="{A636AD23-0FEE-C1AA-E390-E61CEAD9EF06}"/>
              </a:ext>
            </a:extLst>
          </p:cNvPr>
          <p:cNvCxnSpPr>
            <a:cxnSpLocks/>
          </p:cNvCxnSpPr>
          <p:nvPr/>
        </p:nvCxnSpPr>
        <p:spPr>
          <a:xfrm>
            <a:off x="1703897" y="4989346"/>
            <a:ext cx="1419339" cy="8013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A815F98-1ECF-63CF-E1D4-34BED24B1D49}"/>
              </a:ext>
            </a:extLst>
          </p:cNvPr>
          <p:cNvSpPr txBox="1"/>
          <p:nvPr/>
        </p:nvSpPr>
        <p:spPr>
          <a:xfrm>
            <a:off x="1710936" y="5296907"/>
            <a:ext cx="1507958" cy="276999"/>
          </a:xfrm>
          <a:prstGeom prst="rect">
            <a:avLst/>
          </a:prstGeom>
          <a:noFill/>
        </p:spPr>
        <p:txBody>
          <a:bodyPr wrap="square" rtlCol="0">
            <a:spAutoFit/>
          </a:bodyPr>
          <a:lstStyle/>
          <a:p>
            <a:r>
              <a:rPr lang="en-US" sz="1200"/>
              <a:t>1197.66</a:t>
            </a:r>
            <a:endParaRPr lang="en-IN" sz="1200"/>
          </a:p>
        </p:txBody>
      </p:sp>
      <p:cxnSp>
        <p:nvCxnSpPr>
          <p:cNvPr id="36" name="Straight Arrow Connector 35">
            <a:extLst>
              <a:ext uri="{FF2B5EF4-FFF2-40B4-BE49-F238E27FC236}">
                <a16:creationId xmlns:a16="http://schemas.microsoft.com/office/drawing/2014/main" id="{8F5C592F-9B7C-3AE4-0D0C-443C3B7638E3}"/>
              </a:ext>
            </a:extLst>
          </p:cNvPr>
          <p:cNvCxnSpPr>
            <a:cxnSpLocks/>
          </p:cNvCxnSpPr>
          <p:nvPr/>
        </p:nvCxnSpPr>
        <p:spPr>
          <a:xfrm>
            <a:off x="3419367" y="4980833"/>
            <a:ext cx="0" cy="8183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347F556-051C-8415-8B95-FD5C0CC56A39}"/>
              </a:ext>
            </a:extLst>
          </p:cNvPr>
          <p:cNvSpPr txBox="1"/>
          <p:nvPr/>
        </p:nvSpPr>
        <p:spPr>
          <a:xfrm>
            <a:off x="2876770" y="5228564"/>
            <a:ext cx="1507958" cy="276999"/>
          </a:xfrm>
          <a:prstGeom prst="rect">
            <a:avLst/>
          </a:prstGeom>
          <a:noFill/>
        </p:spPr>
        <p:txBody>
          <a:bodyPr wrap="square" rtlCol="0">
            <a:spAutoFit/>
          </a:bodyPr>
          <a:lstStyle/>
          <a:p>
            <a:r>
              <a:rPr lang="en-US" sz="1200"/>
              <a:t>300.5</a:t>
            </a:r>
            <a:endParaRPr lang="en-IN" sz="1200"/>
          </a:p>
        </p:txBody>
      </p:sp>
      <p:cxnSp>
        <p:nvCxnSpPr>
          <p:cNvPr id="38" name="Straight Arrow Connector 37">
            <a:extLst>
              <a:ext uri="{FF2B5EF4-FFF2-40B4-BE49-F238E27FC236}">
                <a16:creationId xmlns:a16="http://schemas.microsoft.com/office/drawing/2014/main" id="{AF02E4AD-3514-4B88-E869-369BD1E6478F}"/>
              </a:ext>
            </a:extLst>
          </p:cNvPr>
          <p:cNvCxnSpPr>
            <a:cxnSpLocks/>
          </p:cNvCxnSpPr>
          <p:nvPr/>
        </p:nvCxnSpPr>
        <p:spPr>
          <a:xfrm>
            <a:off x="3766312" y="4998165"/>
            <a:ext cx="1353321" cy="7765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E71D5463-15C9-BC14-9CC6-DDA9C79C6E50}"/>
              </a:ext>
            </a:extLst>
          </p:cNvPr>
          <p:cNvSpPr txBox="1"/>
          <p:nvPr/>
        </p:nvSpPr>
        <p:spPr>
          <a:xfrm>
            <a:off x="3731632" y="5296906"/>
            <a:ext cx="1507958" cy="276999"/>
          </a:xfrm>
          <a:prstGeom prst="rect">
            <a:avLst/>
          </a:prstGeom>
          <a:noFill/>
        </p:spPr>
        <p:txBody>
          <a:bodyPr wrap="square" rtlCol="0">
            <a:spAutoFit/>
          </a:bodyPr>
          <a:lstStyle/>
          <a:p>
            <a:r>
              <a:rPr lang="en-US" sz="1200"/>
              <a:t>427.708</a:t>
            </a:r>
            <a:endParaRPr lang="en-IN" sz="1200"/>
          </a:p>
        </p:txBody>
      </p:sp>
      <p:cxnSp>
        <p:nvCxnSpPr>
          <p:cNvPr id="40" name="Straight Arrow Connector 39">
            <a:extLst>
              <a:ext uri="{FF2B5EF4-FFF2-40B4-BE49-F238E27FC236}">
                <a16:creationId xmlns:a16="http://schemas.microsoft.com/office/drawing/2014/main" id="{3AF9CAFB-56C0-36DD-C432-73568F4B5CD0}"/>
              </a:ext>
            </a:extLst>
          </p:cNvPr>
          <p:cNvCxnSpPr>
            <a:cxnSpLocks/>
            <a:endCxn id="31" idx="0"/>
          </p:cNvCxnSpPr>
          <p:nvPr/>
        </p:nvCxnSpPr>
        <p:spPr>
          <a:xfrm>
            <a:off x="5444604" y="5010162"/>
            <a:ext cx="0" cy="773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43ED0B31-0A72-1AC5-3C03-71487C4CAD51}"/>
              </a:ext>
            </a:extLst>
          </p:cNvPr>
          <p:cNvSpPr txBox="1"/>
          <p:nvPr/>
        </p:nvSpPr>
        <p:spPr>
          <a:xfrm>
            <a:off x="5433616" y="5224968"/>
            <a:ext cx="1507958" cy="276999"/>
          </a:xfrm>
          <a:prstGeom prst="rect">
            <a:avLst/>
          </a:prstGeom>
          <a:noFill/>
        </p:spPr>
        <p:txBody>
          <a:bodyPr wrap="square" rtlCol="0">
            <a:spAutoFit/>
          </a:bodyPr>
          <a:lstStyle/>
          <a:p>
            <a:r>
              <a:rPr lang="en-US" sz="1200"/>
              <a:t>369.0864</a:t>
            </a:r>
            <a:endParaRPr lang="en-IN" sz="1200"/>
          </a:p>
        </p:txBody>
      </p:sp>
      <p:sp>
        <p:nvSpPr>
          <p:cNvPr id="42" name="TextBox 41">
            <a:extLst>
              <a:ext uri="{FF2B5EF4-FFF2-40B4-BE49-F238E27FC236}">
                <a16:creationId xmlns:a16="http://schemas.microsoft.com/office/drawing/2014/main" id="{15AB83A1-AF9E-811F-DEE7-52CD35064528}"/>
              </a:ext>
            </a:extLst>
          </p:cNvPr>
          <p:cNvSpPr txBox="1"/>
          <p:nvPr/>
        </p:nvSpPr>
        <p:spPr>
          <a:xfrm>
            <a:off x="864581" y="3755768"/>
            <a:ext cx="5133474" cy="369332"/>
          </a:xfrm>
          <a:prstGeom prst="rect">
            <a:avLst/>
          </a:prstGeom>
          <a:noFill/>
        </p:spPr>
        <p:txBody>
          <a:bodyPr wrap="square" rtlCol="0">
            <a:spAutoFit/>
          </a:bodyPr>
          <a:lstStyle/>
          <a:p>
            <a:pPr algn="ctr"/>
            <a:r>
              <a:rPr lang="en-US" b="1" i="1">
                <a:latin typeface="Times New Roman" panose="02020603050405020304" pitchFamily="18" charset="0"/>
                <a:cs typeface="Times New Roman" panose="02020603050405020304" pitchFamily="18" charset="0"/>
              </a:rPr>
              <a:t>Minimum number of Heat Exchangers = 5</a:t>
            </a: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4D6AED80-71FE-3840-2944-A391A7A99338}"/>
                  </a:ext>
                </a:extLst>
              </p:cNvPr>
              <p:cNvGraphicFramePr>
                <a:graphicFrameLocks noChangeAspect="1"/>
              </p:cNvGraphicFramePr>
              <p:nvPr>
                <p:extLst>
                  <p:ext uri="{D42A27DB-BD31-4B8C-83A1-F6EECF244321}">
                    <p14:modId xmlns:p14="http://schemas.microsoft.com/office/powerpoint/2010/main" val="1950956302"/>
                  </p:ext>
                </p:extLst>
              </p:nvPr>
            </p:nvGraphicFramePr>
            <p:xfrm>
              <a:off x="7059285" y="1921082"/>
              <a:ext cx="5132715" cy="4038703"/>
            </p:xfrm>
            <a:graphic>
              <a:graphicData uri="http://schemas.microsoft.com/office/powerpoint/2016/slidezoom">
                <pslz:sldZm>
                  <pslz:sldZmObj sldId="385" cId="4182065067">
                    <pslz:zmPr id="{2129357E-240A-483C-AAD5-AF9174CC3CD9}" transitionDur="1000">
                      <p166:blipFill xmlns:p166="http://schemas.microsoft.com/office/powerpoint/2016/6/main">
                        <a:blip r:embed="rId2"/>
                        <a:stretch>
                          <a:fillRect/>
                        </a:stretch>
                      </p166:blipFill>
                      <p166:spPr xmlns:p166="http://schemas.microsoft.com/office/powerpoint/2016/6/main">
                        <a:xfrm>
                          <a:off x="0" y="0"/>
                          <a:ext cx="5132715" cy="4038703"/>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4D6AED80-71FE-3840-2944-A391A7A99338}"/>
                  </a:ext>
                </a:extLst>
              </p:cNvPr>
              <p:cNvPicPr>
                <a:picLocks noGrp="1" noRot="1" noChangeAspect="1" noMove="1" noResize="1" noEditPoints="1" noAdjustHandles="1" noChangeArrowheads="1" noChangeShapeType="1"/>
              </p:cNvPicPr>
              <p:nvPr/>
            </p:nvPicPr>
            <p:blipFill>
              <a:blip r:embed="rId4"/>
              <a:stretch>
                <a:fillRect/>
              </a:stretch>
            </p:blipFill>
            <p:spPr>
              <a:xfrm>
                <a:off x="7059285" y="1921082"/>
                <a:ext cx="5132715" cy="4038703"/>
              </a:xfrm>
              <a:prstGeom prst="rect">
                <a:avLst/>
              </a:prstGeom>
              <a:ln w="3175">
                <a:solidFill>
                  <a:prstClr val="ltGray"/>
                </a:solidFill>
              </a:ln>
            </p:spPr>
          </p:pic>
        </mc:Fallback>
      </mc:AlternateContent>
    </p:spTree>
    <p:extLst>
      <p:ext uri="{BB962C8B-B14F-4D97-AF65-F5344CB8AC3E}">
        <p14:creationId xmlns:p14="http://schemas.microsoft.com/office/powerpoint/2010/main" val="2291807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anim calcmode="lin" valueType="num">
                                      <p:cBhvr>
                                        <p:cTn id="18" dur="1000" fill="hold"/>
                                        <p:tgtEl>
                                          <p:spTgt spid="27"/>
                                        </p:tgtEl>
                                        <p:attrNameLst>
                                          <p:attrName>ppt_x</p:attrName>
                                        </p:attrNameLst>
                                      </p:cBhvr>
                                      <p:tavLst>
                                        <p:tav tm="0">
                                          <p:val>
                                            <p:strVal val="#ppt_x"/>
                                          </p:val>
                                        </p:tav>
                                        <p:tav tm="100000">
                                          <p:val>
                                            <p:strVal val="#ppt_x"/>
                                          </p:val>
                                        </p:tav>
                                      </p:tavLst>
                                    </p:anim>
                                    <p:anim calcmode="lin" valueType="num">
                                      <p:cBhvr>
                                        <p:cTn id="19" dur="1000" fill="hold"/>
                                        <p:tgtEl>
                                          <p:spTgt spid="2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1000"/>
                                        <p:tgtEl>
                                          <p:spTgt spid="28"/>
                                        </p:tgtEl>
                                      </p:cBhvr>
                                    </p:animEffect>
                                    <p:anim calcmode="lin" valueType="num">
                                      <p:cBhvr>
                                        <p:cTn id="23" dur="1000" fill="hold"/>
                                        <p:tgtEl>
                                          <p:spTgt spid="28"/>
                                        </p:tgtEl>
                                        <p:attrNameLst>
                                          <p:attrName>ppt_x</p:attrName>
                                        </p:attrNameLst>
                                      </p:cBhvr>
                                      <p:tavLst>
                                        <p:tav tm="0">
                                          <p:val>
                                            <p:strVal val="#ppt_x"/>
                                          </p:val>
                                        </p:tav>
                                        <p:tav tm="100000">
                                          <p:val>
                                            <p:strVal val="#ppt_x"/>
                                          </p:val>
                                        </p:tav>
                                      </p:tavLst>
                                    </p:anim>
                                    <p:anim calcmode="lin" valueType="num">
                                      <p:cBhvr>
                                        <p:cTn id="24" dur="1000" fill="hold"/>
                                        <p:tgtEl>
                                          <p:spTgt spid="2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1000"/>
                                        <p:tgtEl>
                                          <p:spTgt spid="29"/>
                                        </p:tgtEl>
                                      </p:cBhvr>
                                    </p:animEffect>
                                    <p:anim calcmode="lin" valueType="num">
                                      <p:cBhvr>
                                        <p:cTn id="28" dur="1000" fill="hold"/>
                                        <p:tgtEl>
                                          <p:spTgt spid="29"/>
                                        </p:tgtEl>
                                        <p:attrNameLst>
                                          <p:attrName>ppt_x</p:attrName>
                                        </p:attrNameLst>
                                      </p:cBhvr>
                                      <p:tavLst>
                                        <p:tav tm="0">
                                          <p:val>
                                            <p:strVal val="#ppt_x"/>
                                          </p:val>
                                        </p:tav>
                                        <p:tav tm="100000">
                                          <p:val>
                                            <p:strVal val="#ppt_x"/>
                                          </p:val>
                                        </p:tav>
                                      </p:tavLst>
                                    </p:anim>
                                    <p:anim calcmode="lin" valueType="num">
                                      <p:cBhvr>
                                        <p:cTn id="29" dur="1000" fill="hold"/>
                                        <p:tgtEl>
                                          <p:spTgt spid="2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strVal val="#ppt_x"/>
                                          </p:val>
                                        </p:tav>
                                        <p:tav tm="100000">
                                          <p:val>
                                            <p:strVal val="#ppt_x"/>
                                          </p:val>
                                        </p:tav>
                                      </p:tavLst>
                                    </p:anim>
                                    <p:anim calcmode="lin" valueType="num">
                                      <p:cBhvr>
                                        <p:cTn id="34" dur="1000" fill="hold"/>
                                        <p:tgtEl>
                                          <p:spTgt spid="3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1000"/>
                                        <p:tgtEl>
                                          <p:spTgt spid="31"/>
                                        </p:tgtEl>
                                      </p:cBhvr>
                                    </p:animEffec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1000"/>
                                        <p:tgtEl>
                                          <p:spTgt spid="32"/>
                                        </p:tgtEl>
                                      </p:cBhvr>
                                    </p:animEffect>
                                    <p:anim calcmode="lin" valueType="num">
                                      <p:cBhvr>
                                        <p:cTn id="43" dur="1000" fill="hold"/>
                                        <p:tgtEl>
                                          <p:spTgt spid="32"/>
                                        </p:tgtEl>
                                        <p:attrNameLst>
                                          <p:attrName>ppt_x</p:attrName>
                                        </p:attrNameLst>
                                      </p:cBhvr>
                                      <p:tavLst>
                                        <p:tav tm="0">
                                          <p:val>
                                            <p:strVal val="#ppt_x"/>
                                          </p:val>
                                        </p:tav>
                                        <p:tav tm="100000">
                                          <p:val>
                                            <p:strVal val="#ppt_x"/>
                                          </p:val>
                                        </p:tav>
                                      </p:tavLst>
                                    </p:anim>
                                    <p:anim calcmode="lin" valueType="num">
                                      <p:cBhvr>
                                        <p:cTn id="44" dur="1000" fill="hold"/>
                                        <p:tgtEl>
                                          <p:spTgt spid="3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1000"/>
                                        <p:tgtEl>
                                          <p:spTgt spid="33"/>
                                        </p:tgtEl>
                                      </p:cBhvr>
                                    </p:animEffect>
                                    <p:anim calcmode="lin" valueType="num">
                                      <p:cBhvr>
                                        <p:cTn id="48" dur="1000" fill="hold"/>
                                        <p:tgtEl>
                                          <p:spTgt spid="33"/>
                                        </p:tgtEl>
                                        <p:attrNameLst>
                                          <p:attrName>ppt_x</p:attrName>
                                        </p:attrNameLst>
                                      </p:cBhvr>
                                      <p:tavLst>
                                        <p:tav tm="0">
                                          <p:val>
                                            <p:strVal val="#ppt_x"/>
                                          </p:val>
                                        </p:tav>
                                        <p:tav tm="100000">
                                          <p:val>
                                            <p:strVal val="#ppt_x"/>
                                          </p:val>
                                        </p:tav>
                                      </p:tavLst>
                                    </p:anim>
                                    <p:anim calcmode="lin" valueType="num">
                                      <p:cBhvr>
                                        <p:cTn id="49" dur="1000" fill="hold"/>
                                        <p:tgtEl>
                                          <p:spTgt spid="3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1000"/>
                                        <p:tgtEl>
                                          <p:spTgt spid="34"/>
                                        </p:tgtEl>
                                      </p:cBhvr>
                                    </p:animEffect>
                                    <p:anim calcmode="lin" valueType="num">
                                      <p:cBhvr>
                                        <p:cTn id="53" dur="1000" fill="hold"/>
                                        <p:tgtEl>
                                          <p:spTgt spid="34"/>
                                        </p:tgtEl>
                                        <p:attrNameLst>
                                          <p:attrName>ppt_x</p:attrName>
                                        </p:attrNameLst>
                                      </p:cBhvr>
                                      <p:tavLst>
                                        <p:tav tm="0">
                                          <p:val>
                                            <p:strVal val="#ppt_x"/>
                                          </p:val>
                                        </p:tav>
                                        <p:tav tm="100000">
                                          <p:val>
                                            <p:strVal val="#ppt_x"/>
                                          </p:val>
                                        </p:tav>
                                      </p:tavLst>
                                    </p:anim>
                                    <p:anim calcmode="lin" valueType="num">
                                      <p:cBhvr>
                                        <p:cTn id="54" dur="1000" fill="hold"/>
                                        <p:tgtEl>
                                          <p:spTgt spid="3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1000"/>
                                        <p:tgtEl>
                                          <p:spTgt spid="35"/>
                                        </p:tgtEl>
                                      </p:cBhvr>
                                    </p:animEffect>
                                    <p:anim calcmode="lin" valueType="num">
                                      <p:cBhvr>
                                        <p:cTn id="58" dur="1000" fill="hold"/>
                                        <p:tgtEl>
                                          <p:spTgt spid="35"/>
                                        </p:tgtEl>
                                        <p:attrNameLst>
                                          <p:attrName>ppt_x</p:attrName>
                                        </p:attrNameLst>
                                      </p:cBhvr>
                                      <p:tavLst>
                                        <p:tav tm="0">
                                          <p:val>
                                            <p:strVal val="#ppt_x"/>
                                          </p:val>
                                        </p:tav>
                                        <p:tav tm="100000">
                                          <p:val>
                                            <p:strVal val="#ppt_x"/>
                                          </p:val>
                                        </p:tav>
                                      </p:tavLst>
                                    </p:anim>
                                    <p:anim calcmode="lin" valueType="num">
                                      <p:cBhvr>
                                        <p:cTn id="59" dur="1000" fill="hold"/>
                                        <p:tgtEl>
                                          <p:spTgt spid="3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1000"/>
                                        <p:tgtEl>
                                          <p:spTgt spid="36"/>
                                        </p:tgtEl>
                                      </p:cBhvr>
                                    </p:animEffect>
                                    <p:anim calcmode="lin" valueType="num">
                                      <p:cBhvr>
                                        <p:cTn id="63" dur="1000" fill="hold"/>
                                        <p:tgtEl>
                                          <p:spTgt spid="36"/>
                                        </p:tgtEl>
                                        <p:attrNameLst>
                                          <p:attrName>ppt_x</p:attrName>
                                        </p:attrNameLst>
                                      </p:cBhvr>
                                      <p:tavLst>
                                        <p:tav tm="0">
                                          <p:val>
                                            <p:strVal val="#ppt_x"/>
                                          </p:val>
                                        </p:tav>
                                        <p:tav tm="100000">
                                          <p:val>
                                            <p:strVal val="#ppt_x"/>
                                          </p:val>
                                        </p:tav>
                                      </p:tavLst>
                                    </p:anim>
                                    <p:anim calcmode="lin" valueType="num">
                                      <p:cBhvr>
                                        <p:cTn id="64" dur="1000" fill="hold"/>
                                        <p:tgtEl>
                                          <p:spTgt spid="3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1000"/>
                                        <p:tgtEl>
                                          <p:spTgt spid="41"/>
                                        </p:tgtEl>
                                      </p:cBhvr>
                                    </p:animEffect>
                                    <p:anim calcmode="lin" valueType="num">
                                      <p:cBhvr>
                                        <p:cTn id="68" dur="1000" fill="hold"/>
                                        <p:tgtEl>
                                          <p:spTgt spid="41"/>
                                        </p:tgtEl>
                                        <p:attrNameLst>
                                          <p:attrName>ppt_x</p:attrName>
                                        </p:attrNameLst>
                                      </p:cBhvr>
                                      <p:tavLst>
                                        <p:tav tm="0">
                                          <p:val>
                                            <p:strVal val="#ppt_x"/>
                                          </p:val>
                                        </p:tav>
                                        <p:tav tm="100000">
                                          <p:val>
                                            <p:strVal val="#ppt_x"/>
                                          </p:val>
                                        </p:tav>
                                      </p:tavLst>
                                    </p:anim>
                                    <p:anim calcmode="lin" valueType="num">
                                      <p:cBhvr>
                                        <p:cTn id="69" dur="1000" fill="hold"/>
                                        <p:tgtEl>
                                          <p:spTgt spid="4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1000"/>
                                        <p:tgtEl>
                                          <p:spTgt spid="37"/>
                                        </p:tgtEl>
                                      </p:cBhvr>
                                    </p:animEffect>
                                    <p:anim calcmode="lin" valueType="num">
                                      <p:cBhvr>
                                        <p:cTn id="73" dur="1000" fill="hold"/>
                                        <p:tgtEl>
                                          <p:spTgt spid="37"/>
                                        </p:tgtEl>
                                        <p:attrNameLst>
                                          <p:attrName>ppt_x</p:attrName>
                                        </p:attrNameLst>
                                      </p:cBhvr>
                                      <p:tavLst>
                                        <p:tav tm="0">
                                          <p:val>
                                            <p:strVal val="#ppt_x"/>
                                          </p:val>
                                        </p:tav>
                                        <p:tav tm="100000">
                                          <p:val>
                                            <p:strVal val="#ppt_x"/>
                                          </p:val>
                                        </p:tav>
                                      </p:tavLst>
                                    </p:anim>
                                    <p:anim calcmode="lin" valueType="num">
                                      <p:cBhvr>
                                        <p:cTn id="74" dur="1000" fill="hold"/>
                                        <p:tgtEl>
                                          <p:spTgt spid="3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1000"/>
                                        <p:tgtEl>
                                          <p:spTgt spid="38"/>
                                        </p:tgtEl>
                                      </p:cBhvr>
                                    </p:animEffect>
                                    <p:anim calcmode="lin" valueType="num">
                                      <p:cBhvr>
                                        <p:cTn id="78" dur="1000" fill="hold"/>
                                        <p:tgtEl>
                                          <p:spTgt spid="38"/>
                                        </p:tgtEl>
                                        <p:attrNameLst>
                                          <p:attrName>ppt_x</p:attrName>
                                        </p:attrNameLst>
                                      </p:cBhvr>
                                      <p:tavLst>
                                        <p:tav tm="0">
                                          <p:val>
                                            <p:strVal val="#ppt_x"/>
                                          </p:val>
                                        </p:tav>
                                        <p:tav tm="100000">
                                          <p:val>
                                            <p:strVal val="#ppt_x"/>
                                          </p:val>
                                        </p:tav>
                                      </p:tavLst>
                                    </p:anim>
                                    <p:anim calcmode="lin" valueType="num">
                                      <p:cBhvr>
                                        <p:cTn id="79" dur="1000" fill="hold"/>
                                        <p:tgtEl>
                                          <p:spTgt spid="38"/>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1000"/>
                                        <p:tgtEl>
                                          <p:spTgt spid="39"/>
                                        </p:tgtEl>
                                      </p:cBhvr>
                                    </p:animEffect>
                                    <p:anim calcmode="lin" valueType="num">
                                      <p:cBhvr>
                                        <p:cTn id="83" dur="1000" fill="hold"/>
                                        <p:tgtEl>
                                          <p:spTgt spid="39"/>
                                        </p:tgtEl>
                                        <p:attrNameLst>
                                          <p:attrName>ppt_x</p:attrName>
                                        </p:attrNameLst>
                                      </p:cBhvr>
                                      <p:tavLst>
                                        <p:tav tm="0">
                                          <p:val>
                                            <p:strVal val="#ppt_x"/>
                                          </p:val>
                                        </p:tav>
                                        <p:tav tm="100000">
                                          <p:val>
                                            <p:strVal val="#ppt_x"/>
                                          </p:val>
                                        </p:tav>
                                      </p:tavLst>
                                    </p:anim>
                                    <p:anim calcmode="lin" valueType="num">
                                      <p:cBhvr>
                                        <p:cTn id="84" dur="1000" fill="hold"/>
                                        <p:tgtEl>
                                          <p:spTgt spid="39"/>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1000"/>
                                        <p:tgtEl>
                                          <p:spTgt spid="40"/>
                                        </p:tgtEl>
                                      </p:cBhvr>
                                    </p:animEffect>
                                    <p:anim calcmode="lin" valueType="num">
                                      <p:cBhvr>
                                        <p:cTn id="88" dur="1000" fill="hold"/>
                                        <p:tgtEl>
                                          <p:spTgt spid="40"/>
                                        </p:tgtEl>
                                        <p:attrNameLst>
                                          <p:attrName>ppt_x</p:attrName>
                                        </p:attrNameLst>
                                      </p:cBhvr>
                                      <p:tavLst>
                                        <p:tav tm="0">
                                          <p:val>
                                            <p:strVal val="#ppt_x"/>
                                          </p:val>
                                        </p:tav>
                                        <p:tav tm="100000">
                                          <p:val>
                                            <p:strVal val="#ppt_x"/>
                                          </p:val>
                                        </p:tav>
                                      </p:tavLst>
                                    </p:anim>
                                    <p:anim calcmode="lin" valueType="num">
                                      <p:cBhvr>
                                        <p:cTn id="8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3" grpId="0"/>
      <p:bldP spid="35" grpId="0"/>
      <p:bldP spid="37" grpId="0"/>
      <p:bldP spid="39" grpId="0"/>
      <p:bldP spid="41" grpId="0"/>
      <p:bldP spid="4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CAF2B-CB06-6CBB-6D56-D1059F2EE3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3EA395-791A-A485-C0E9-57AF0907CF3B}"/>
              </a:ext>
            </a:extLst>
          </p:cNvPr>
          <p:cNvSpPr>
            <a:spLocks noGrp="1"/>
          </p:cNvSpPr>
          <p:nvPr>
            <p:ph type="sldNum" sz="quarter" idx="12"/>
          </p:nvPr>
        </p:nvSpPr>
        <p:spPr/>
        <p:txBody>
          <a:bodyPr/>
          <a:lstStyle/>
          <a:p>
            <a:fld id="{330EA680-D336-4FF7-8B7A-9848BB0A1C32}" type="slidenum">
              <a:rPr lang="en-US" smtClean="0"/>
              <a:t>58</a:t>
            </a:fld>
            <a:endParaRPr lang="en-US"/>
          </a:p>
        </p:txBody>
      </p:sp>
      <p:sp>
        <p:nvSpPr>
          <p:cNvPr id="4" name="Rectangle 3">
            <a:extLst>
              <a:ext uri="{FF2B5EF4-FFF2-40B4-BE49-F238E27FC236}">
                <a16:creationId xmlns:a16="http://schemas.microsoft.com/office/drawing/2014/main" id="{68A20987-2B86-B664-2924-C7635091BFAA}"/>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PINCH TECHNOLOGY</a:t>
            </a:r>
          </a:p>
        </p:txBody>
      </p:sp>
      <p:graphicFrame>
        <p:nvGraphicFramePr>
          <p:cNvPr id="3" name="Table 2">
            <a:extLst>
              <a:ext uri="{FF2B5EF4-FFF2-40B4-BE49-F238E27FC236}">
                <a16:creationId xmlns:a16="http://schemas.microsoft.com/office/drawing/2014/main" id="{83D954AF-8D42-4278-C0D3-A073B22FD67E}"/>
              </a:ext>
            </a:extLst>
          </p:cNvPr>
          <p:cNvGraphicFramePr>
            <a:graphicFrameLocks noGrp="1"/>
          </p:cNvGraphicFramePr>
          <p:nvPr/>
        </p:nvGraphicFramePr>
        <p:xfrm>
          <a:off x="202842" y="1224554"/>
          <a:ext cx="6594879" cy="4693390"/>
        </p:xfrm>
        <a:graphic>
          <a:graphicData uri="http://schemas.openxmlformats.org/drawingml/2006/table">
            <a:tbl>
              <a:tblPr firstRow="1" firstCol="1" lastRow="1" lastCol="1" bandRow="1">
                <a:tableStyleId>{5940675A-B579-460E-94D1-54222C63F5DA}</a:tableStyleId>
              </a:tblPr>
              <a:tblGrid>
                <a:gridCol w="789301">
                  <a:extLst>
                    <a:ext uri="{9D8B030D-6E8A-4147-A177-3AD203B41FA5}">
                      <a16:colId xmlns:a16="http://schemas.microsoft.com/office/drawing/2014/main" val="1937250919"/>
                    </a:ext>
                  </a:extLst>
                </a:gridCol>
                <a:gridCol w="793630">
                  <a:extLst>
                    <a:ext uri="{9D8B030D-6E8A-4147-A177-3AD203B41FA5}">
                      <a16:colId xmlns:a16="http://schemas.microsoft.com/office/drawing/2014/main" val="2143694531"/>
                    </a:ext>
                  </a:extLst>
                </a:gridCol>
                <a:gridCol w="733246">
                  <a:extLst>
                    <a:ext uri="{9D8B030D-6E8A-4147-A177-3AD203B41FA5}">
                      <a16:colId xmlns:a16="http://schemas.microsoft.com/office/drawing/2014/main" val="1755380791"/>
                    </a:ext>
                  </a:extLst>
                </a:gridCol>
                <a:gridCol w="750498">
                  <a:extLst>
                    <a:ext uri="{9D8B030D-6E8A-4147-A177-3AD203B41FA5}">
                      <a16:colId xmlns:a16="http://schemas.microsoft.com/office/drawing/2014/main" val="2452801079"/>
                    </a:ext>
                  </a:extLst>
                </a:gridCol>
                <a:gridCol w="336430">
                  <a:extLst>
                    <a:ext uri="{9D8B030D-6E8A-4147-A177-3AD203B41FA5}">
                      <a16:colId xmlns:a16="http://schemas.microsoft.com/office/drawing/2014/main" val="3539409910"/>
                    </a:ext>
                  </a:extLst>
                </a:gridCol>
                <a:gridCol w="767751">
                  <a:extLst>
                    <a:ext uri="{9D8B030D-6E8A-4147-A177-3AD203B41FA5}">
                      <a16:colId xmlns:a16="http://schemas.microsoft.com/office/drawing/2014/main" val="1522725856"/>
                    </a:ext>
                  </a:extLst>
                </a:gridCol>
                <a:gridCol w="845389">
                  <a:extLst>
                    <a:ext uri="{9D8B030D-6E8A-4147-A177-3AD203B41FA5}">
                      <a16:colId xmlns:a16="http://schemas.microsoft.com/office/drawing/2014/main" val="1892679446"/>
                    </a:ext>
                  </a:extLst>
                </a:gridCol>
                <a:gridCol w="655607">
                  <a:extLst>
                    <a:ext uri="{9D8B030D-6E8A-4147-A177-3AD203B41FA5}">
                      <a16:colId xmlns:a16="http://schemas.microsoft.com/office/drawing/2014/main" val="3788479250"/>
                    </a:ext>
                  </a:extLst>
                </a:gridCol>
                <a:gridCol w="923027">
                  <a:extLst>
                    <a:ext uri="{9D8B030D-6E8A-4147-A177-3AD203B41FA5}">
                      <a16:colId xmlns:a16="http://schemas.microsoft.com/office/drawing/2014/main" val="2868018444"/>
                    </a:ext>
                  </a:extLst>
                </a:gridCol>
              </a:tblGrid>
              <a:tr h="640080">
                <a:tc>
                  <a:txBody>
                    <a:bodyPr/>
                    <a:lstStyle/>
                    <a:p>
                      <a:pPr algn="ctr"/>
                      <a:r>
                        <a:rPr lang="en-US" sz="1400"/>
                        <a:t>Stream</a:t>
                      </a:r>
                      <a:endParaRPr lang="en-IN" sz="1400"/>
                    </a:p>
                  </a:txBody>
                  <a:tcPr anchor="b">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1</a:t>
                      </a:r>
                      <a:endParaRPr lang="en-IN" sz="1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2</a:t>
                      </a:r>
                      <a:endParaRPr lang="en-IN" sz="1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3</a:t>
                      </a:r>
                      <a:endParaRPr lang="en-IN" sz="1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4</a:t>
                      </a:r>
                      <a:endParaRPr lang="en-IN" sz="1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5</a:t>
                      </a:r>
                      <a:endParaRPr lang="en-IN" sz="1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IN" sz="1400"/>
                    </a:p>
                  </a:txBody>
                  <a:tcPr anchor="b">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3789158"/>
                  </a:ext>
                </a:extLst>
              </a:tr>
              <a:tr h="640080">
                <a:tc>
                  <a:txBody>
                    <a:bodyPr/>
                    <a:lstStyle/>
                    <a:p>
                      <a:pPr algn="ctr"/>
                      <a:r>
                        <a:rPr lang="en-US" sz="1400" err="1"/>
                        <a:t>mCp</a:t>
                      </a:r>
                      <a:endParaRPr lang="en-IN" sz="1400"/>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341.89</a:t>
                      </a: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4.668</a:t>
                      </a: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1.7328</a:t>
                      </a: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IN"/>
                    </a:p>
                  </a:txBody>
                  <a:tcPr/>
                </a:tc>
                <a:tc>
                  <a:txBody>
                    <a:bodyPr/>
                    <a:lstStyle/>
                    <a:p>
                      <a:pPr algn="ctr"/>
                      <a:r>
                        <a:rPr lang="en-US" sz="1400"/>
                        <a:t>374.54</a:t>
                      </a: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348.686</a:t>
                      </a: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Kw/C</a:t>
                      </a:r>
                      <a:endParaRPr lang="en-IN"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400"/>
                        <a:t>Energy (kW)</a:t>
                      </a:r>
                      <a:endParaRPr lang="en-IN" sz="1400"/>
                    </a:p>
                  </a:txBody>
                  <a:tcPr anchor="b">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5551693"/>
                  </a:ext>
                </a:extLst>
              </a:tr>
              <a:tr h="925629">
                <a:tc rowSpan="4">
                  <a:txBody>
                    <a:bodyPr/>
                    <a:lstStyle/>
                    <a:p>
                      <a:pPr algn="ctr"/>
                      <a:endParaRPr lang="en-IN" sz="1400"/>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3">
                  <a:txBody>
                    <a:bodyPr/>
                    <a:lstStyle/>
                    <a:p>
                      <a:pPr algn="ctr"/>
                      <a:endParaRPr lang="en-IN" sz="140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hMerge="1">
                  <a:txBody>
                    <a:bodyPr/>
                    <a:lstStyle/>
                    <a:p>
                      <a:endParaRPr lang="en-IN"/>
                    </a:p>
                  </a:txBody>
                  <a:tcPr/>
                </a:tc>
                <a:tc>
                  <a:txBody>
                    <a:bodyPr/>
                    <a:lstStyle/>
                    <a:p>
                      <a:pPr algn="ctr"/>
                      <a:r>
                        <a:rPr lang="en-US" sz="1400"/>
                        <a:t>A</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endParaRPr lang="en-IN" sz="140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rowSpan="4">
                  <a:txBody>
                    <a:bodyPr/>
                    <a:lstStyle/>
                    <a:p>
                      <a:pPr algn="ctr"/>
                      <a:endParaRPr lang="en-I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400"/>
                        <a:t>98.769</a:t>
                      </a:r>
                      <a:endParaRPr lang="en-IN" sz="1400"/>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543746"/>
                  </a:ext>
                </a:extLst>
              </a:tr>
              <a:tr h="1524000">
                <a:tc vMerge="1">
                  <a:txBody>
                    <a:bodyPr/>
                    <a:lstStyle/>
                    <a:p>
                      <a:endParaRPr lang="en-IN"/>
                    </a:p>
                  </a:txBody>
                  <a:tcPr/>
                </a:tc>
                <a:tc gridSpan="3">
                  <a:txBody>
                    <a:bodyPr/>
                    <a:lstStyle/>
                    <a:p>
                      <a:pPr algn="ctr"/>
                      <a:endParaRPr lang="en-IN" sz="140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hMerge="1">
                  <a:txBody>
                    <a:bodyPr/>
                    <a:lstStyle/>
                    <a:p>
                      <a:endParaRPr lang="en-IN"/>
                    </a:p>
                  </a:txBody>
                  <a:tcPr/>
                </a:tc>
                <a:tc>
                  <a:txBody>
                    <a:bodyPr/>
                    <a:lstStyle/>
                    <a:p>
                      <a:pPr algn="ctr"/>
                      <a:r>
                        <a:rPr lang="en-US" sz="1400"/>
                        <a:t>B</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endParaRPr lang="en-IN" sz="140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vMerge="1">
                  <a:txBody>
                    <a:bodyPr/>
                    <a:lstStyle/>
                    <a:p>
                      <a:endParaRPr lang="en-IN"/>
                    </a:p>
                  </a:txBody>
                  <a:tcPr/>
                </a:tc>
                <a:tc>
                  <a:txBody>
                    <a:bodyPr/>
                    <a:lstStyle/>
                    <a:p>
                      <a:pPr algn="l"/>
                      <a:r>
                        <a:rPr lang="en-US" sz="1400"/>
                        <a:t>812.8</a:t>
                      </a:r>
                      <a:endParaRPr lang="en-IN" sz="1400"/>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4149083"/>
                  </a:ext>
                </a:extLst>
              </a:tr>
              <a:tr h="380974">
                <a:tc vMerge="1">
                  <a:txBody>
                    <a:bodyPr/>
                    <a:lstStyle/>
                    <a:p>
                      <a:endParaRPr lang="en-IN"/>
                    </a:p>
                  </a:txBody>
                  <a:tcPr/>
                </a:tc>
                <a:tc gridSpan="3">
                  <a:txBody>
                    <a:bodyPr/>
                    <a:lstStyle/>
                    <a:p>
                      <a:pPr algn="ctr"/>
                      <a:endParaRPr lang="en-IN" sz="140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hMerge="1">
                  <a:txBody>
                    <a:bodyPr/>
                    <a:lstStyle/>
                    <a:p>
                      <a:endParaRPr lang="en-IN"/>
                    </a:p>
                  </a:txBody>
                  <a:tcPr/>
                </a:tc>
                <a:tc>
                  <a:txBody>
                    <a:bodyPr/>
                    <a:lstStyle/>
                    <a:p>
                      <a:pPr algn="ctr"/>
                      <a:r>
                        <a:rPr lang="en-US" sz="1400"/>
                        <a:t>C</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endParaRPr lang="en-IN" sz="140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vMerge="1">
                  <a:txBody>
                    <a:bodyPr/>
                    <a:lstStyle/>
                    <a:p>
                      <a:endParaRPr lang="en-IN"/>
                    </a:p>
                  </a:txBody>
                  <a:tcPr/>
                </a:tc>
                <a:tc>
                  <a:txBody>
                    <a:bodyPr/>
                    <a:lstStyle/>
                    <a:p>
                      <a:pPr algn="l" fontAlgn="b"/>
                      <a:r>
                        <a:rPr lang="en-IN" sz="1400" b="0" i="0" u="none" strike="noStrike">
                          <a:solidFill>
                            <a:srgbClr val="000000"/>
                          </a:solidFill>
                          <a:effectLst/>
                          <a:latin typeface="Aptos Narrow" panose="020B0004020202020204" pitchFamily="34" charset="0"/>
                        </a:rPr>
                        <a:t>-104.996</a:t>
                      </a: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0678575"/>
                  </a:ext>
                </a:extLst>
              </a:tr>
              <a:tr h="582627">
                <a:tc vMerge="1">
                  <a:txBody>
                    <a:bodyPr/>
                    <a:lstStyle/>
                    <a:p>
                      <a:endParaRPr lang="en-IN"/>
                    </a:p>
                  </a:txBody>
                  <a:tcPr/>
                </a:tc>
                <a:tc gridSpan="3">
                  <a:txBody>
                    <a:bodyPr/>
                    <a:lstStyle/>
                    <a:p>
                      <a:pPr algn="ctr"/>
                      <a:endParaRPr lang="en-IN" sz="140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hMerge="1">
                  <a:txBody>
                    <a:bodyPr/>
                    <a:lstStyle/>
                    <a:p>
                      <a:endParaRPr lang="en-IN"/>
                    </a:p>
                  </a:txBody>
                  <a:tcPr/>
                </a:tc>
                <a:tc>
                  <a:txBody>
                    <a:bodyPr/>
                    <a:lstStyle/>
                    <a:p>
                      <a:pPr algn="ctr"/>
                      <a:r>
                        <a:rPr lang="en-US" sz="1400"/>
                        <a:t>D</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endParaRPr lang="en-IN" sz="140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tc vMerge="1">
                  <a:txBody>
                    <a:bodyPr/>
                    <a:lstStyle/>
                    <a:p>
                      <a:endParaRPr lang="en-IN"/>
                    </a:p>
                  </a:txBody>
                  <a:tcPr/>
                </a:tc>
                <a:tc>
                  <a:txBody>
                    <a:bodyPr/>
                    <a:lstStyle/>
                    <a:p>
                      <a:pPr algn="l"/>
                      <a:r>
                        <a:rPr lang="en-US" sz="1400"/>
                        <a:t>-9.88</a:t>
                      </a:r>
                      <a:endParaRPr lang="en-IN" sz="1400"/>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2974652"/>
                  </a:ext>
                </a:extLst>
              </a:tr>
            </a:tbl>
          </a:graphicData>
        </a:graphic>
      </p:graphicFrame>
      <p:cxnSp>
        <p:nvCxnSpPr>
          <p:cNvPr id="5" name="Straight Arrow Connector 4">
            <a:extLst>
              <a:ext uri="{FF2B5EF4-FFF2-40B4-BE49-F238E27FC236}">
                <a16:creationId xmlns:a16="http://schemas.microsoft.com/office/drawing/2014/main" id="{246CF106-1CF0-5BA5-F364-968531610190}"/>
              </a:ext>
            </a:extLst>
          </p:cNvPr>
          <p:cNvCxnSpPr>
            <a:cxnSpLocks/>
          </p:cNvCxnSpPr>
          <p:nvPr/>
        </p:nvCxnSpPr>
        <p:spPr>
          <a:xfrm>
            <a:off x="2878847" y="2508617"/>
            <a:ext cx="0" cy="34093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A4080A5-CB8F-E3CB-C675-406F4C554FB2}"/>
              </a:ext>
            </a:extLst>
          </p:cNvPr>
          <p:cNvCxnSpPr>
            <a:cxnSpLocks/>
          </p:cNvCxnSpPr>
          <p:nvPr/>
        </p:nvCxnSpPr>
        <p:spPr>
          <a:xfrm>
            <a:off x="2207046" y="3431643"/>
            <a:ext cx="0" cy="2485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464AD93-2475-9223-1A28-52F033ADEC4E}"/>
              </a:ext>
            </a:extLst>
          </p:cNvPr>
          <p:cNvCxnSpPr>
            <a:cxnSpLocks/>
          </p:cNvCxnSpPr>
          <p:nvPr/>
        </p:nvCxnSpPr>
        <p:spPr>
          <a:xfrm>
            <a:off x="1496226" y="4949447"/>
            <a:ext cx="0" cy="9680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A5F3A2E-E1D4-3EF3-81A1-2B76C75471F0}"/>
              </a:ext>
            </a:extLst>
          </p:cNvPr>
          <p:cNvSpPr txBox="1"/>
          <p:nvPr/>
        </p:nvSpPr>
        <p:spPr>
          <a:xfrm>
            <a:off x="467537" y="2354728"/>
            <a:ext cx="866273" cy="307777"/>
          </a:xfrm>
          <a:prstGeom prst="rect">
            <a:avLst/>
          </a:prstGeom>
          <a:noFill/>
          <a:ln>
            <a:noFill/>
          </a:ln>
        </p:spPr>
        <p:txBody>
          <a:bodyPr wrap="square" rtlCol="0">
            <a:spAutoFit/>
          </a:bodyPr>
          <a:lstStyle/>
          <a:p>
            <a:r>
              <a:rPr lang="en-US" sz="1400"/>
              <a:t>248</a:t>
            </a:r>
            <a:endParaRPr lang="en-IN" sz="1400"/>
          </a:p>
        </p:txBody>
      </p:sp>
      <p:sp>
        <p:nvSpPr>
          <p:cNvPr id="10" name="TextBox 9">
            <a:extLst>
              <a:ext uri="{FF2B5EF4-FFF2-40B4-BE49-F238E27FC236}">
                <a16:creationId xmlns:a16="http://schemas.microsoft.com/office/drawing/2014/main" id="{AF9F9DA6-EBD0-B9B9-69A9-66FF8360C898}"/>
              </a:ext>
            </a:extLst>
          </p:cNvPr>
          <p:cNvSpPr txBox="1"/>
          <p:nvPr/>
        </p:nvSpPr>
        <p:spPr>
          <a:xfrm>
            <a:off x="534086" y="5764055"/>
            <a:ext cx="818147" cy="307777"/>
          </a:xfrm>
          <a:prstGeom prst="rect">
            <a:avLst/>
          </a:prstGeom>
          <a:noFill/>
          <a:ln>
            <a:noFill/>
          </a:ln>
        </p:spPr>
        <p:txBody>
          <a:bodyPr wrap="square" rtlCol="0">
            <a:spAutoFit/>
          </a:bodyPr>
          <a:lstStyle/>
          <a:p>
            <a:r>
              <a:rPr lang="en-US" sz="1400"/>
              <a:t>35</a:t>
            </a:r>
            <a:endParaRPr lang="en-IN" sz="1400"/>
          </a:p>
        </p:txBody>
      </p:sp>
      <p:sp>
        <p:nvSpPr>
          <p:cNvPr id="11" name="TextBox 10">
            <a:extLst>
              <a:ext uri="{FF2B5EF4-FFF2-40B4-BE49-F238E27FC236}">
                <a16:creationId xmlns:a16="http://schemas.microsoft.com/office/drawing/2014/main" id="{830C910A-FCF4-F172-562B-64861DB13BCA}"/>
              </a:ext>
            </a:extLst>
          </p:cNvPr>
          <p:cNvSpPr txBox="1"/>
          <p:nvPr/>
        </p:nvSpPr>
        <p:spPr>
          <a:xfrm>
            <a:off x="543689" y="4793919"/>
            <a:ext cx="866273" cy="307777"/>
          </a:xfrm>
          <a:prstGeom prst="rect">
            <a:avLst/>
          </a:prstGeom>
          <a:noFill/>
          <a:ln>
            <a:noFill/>
          </a:ln>
        </p:spPr>
        <p:txBody>
          <a:bodyPr wrap="square" rtlCol="0">
            <a:spAutoFit/>
          </a:bodyPr>
          <a:lstStyle/>
          <a:p>
            <a:r>
              <a:rPr lang="en-US" sz="1400"/>
              <a:t>64</a:t>
            </a:r>
            <a:endParaRPr lang="en-IN" sz="1400"/>
          </a:p>
        </p:txBody>
      </p:sp>
      <p:sp>
        <p:nvSpPr>
          <p:cNvPr id="12" name="TextBox 11">
            <a:extLst>
              <a:ext uri="{FF2B5EF4-FFF2-40B4-BE49-F238E27FC236}">
                <a16:creationId xmlns:a16="http://schemas.microsoft.com/office/drawing/2014/main" id="{BA13D071-6B9F-FB0E-46CE-D27E29D8CDEB}"/>
              </a:ext>
            </a:extLst>
          </p:cNvPr>
          <p:cNvSpPr txBox="1"/>
          <p:nvPr/>
        </p:nvSpPr>
        <p:spPr>
          <a:xfrm>
            <a:off x="467536" y="3260511"/>
            <a:ext cx="866273" cy="307777"/>
          </a:xfrm>
          <a:prstGeom prst="rect">
            <a:avLst/>
          </a:prstGeom>
          <a:noFill/>
          <a:ln>
            <a:noFill/>
          </a:ln>
        </p:spPr>
        <p:txBody>
          <a:bodyPr wrap="square" rtlCol="0">
            <a:spAutoFit/>
          </a:bodyPr>
          <a:lstStyle/>
          <a:p>
            <a:r>
              <a:rPr lang="en-US" sz="1400"/>
              <a:t>191</a:t>
            </a:r>
            <a:endParaRPr lang="en-IN" sz="1400"/>
          </a:p>
        </p:txBody>
      </p:sp>
      <p:sp>
        <p:nvSpPr>
          <p:cNvPr id="13" name="TextBox 12">
            <a:extLst>
              <a:ext uri="{FF2B5EF4-FFF2-40B4-BE49-F238E27FC236}">
                <a16:creationId xmlns:a16="http://schemas.microsoft.com/office/drawing/2014/main" id="{C24244B0-45A5-E263-A21B-9FFBE8564DC7}"/>
              </a:ext>
            </a:extLst>
          </p:cNvPr>
          <p:cNvSpPr txBox="1"/>
          <p:nvPr/>
        </p:nvSpPr>
        <p:spPr>
          <a:xfrm>
            <a:off x="5285878" y="5764055"/>
            <a:ext cx="866273" cy="307777"/>
          </a:xfrm>
          <a:prstGeom prst="rect">
            <a:avLst/>
          </a:prstGeom>
          <a:noFill/>
          <a:ln>
            <a:noFill/>
          </a:ln>
        </p:spPr>
        <p:txBody>
          <a:bodyPr wrap="square" rtlCol="0">
            <a:spAutoFit/>
          </a:bodyPr>
          <a:lstStyle/>
          <a:p>
            <a:r>
              <a:rPr lang="en-US" sz="1400"/>
              <a:t>25</a:t>
            </a:r>
            <a:endParaRPr lang="en-IN" sz="1400"/>
          </a:p>
        </p:txBody>
      </p:sp>
      <p:sp>
        <p:nvSpPr>
          <p:cNvPr id="14" name="TextBox 13">
            <a:extLst>
              <a:ext uri="{FF2B5EF4-FFF2-40B4-BE49-F238E27FC236}">
                <a16:creationId xmlns:a16="http://schemas.microsoft.com/office/drawing/2014/main" id="{593B0332-3CDD-31A7-186D-D2048272FEBA}"/>
              </a:ext>
            </a:extLst>
          </p:cNvPr>
          <p:cNvSpPr txBox="1"/>
          <p:nvPr/>
        </p:nvSpPr>
        <p:spPr>
          <a:xfrm>
            <a:off x="5285879" y="5220863"/>
            <a:ext cx="866273" cy="307777"/>
          </a:xfrm>
          <a:prstGeom prst="rect">
            <a:avLst/>
          </a:prstGeom>
          <a:noFill/>
          <a:ln>
            <a:noFill/>
          </a:ln>
        </p:spPr>
        <p:txBody>
          <a:bodyPr wrap="square" rtlCol="0">
            <a:spAutoFit/>
          </a:bodyPr>
          <a:lstStyle/>
          <a:p>
            <a:r>
              <a:rPr lang="en-US" sz="1400"/>
              <a:t>50</a:t>
            </a:r>
            <a:endParaRPr lang="en-IN" sz="1400"/>
          </a:p>
        </p:txBody>
      </p:sp>
      <p:sp>
        <p:nvSpPr>
          <p:cNvPr id="15" name="TextBox 14">
            <a:extLst>
              <a:ext uri="{FF2B5EF4-FFF2-40B4-BE49-F238E27FC236}">
                <a16:creationId xmlns:a16="http://schemas.microsoft.com/office/drawing/2014/main" id="{F6B277B8-844C-672E-F8BB-570B2D7B803C}"/>
              </a:ext>
            </a:extLst>
          </p:cNvPr>
          <p:cNvSpPr txBox="1"/>
          <p:nvPr/>
        </p:nvSpPr>
        <p:spPr>
          <a:xfrm>
            <a:off x="5285879" y="4793918"/>
            <a:ext cx="866273" cy="307777"/>
          </a:xfrm>
          <a:prstGeom prst="rect">
            <a:avLst/>
          </a:prstGeom>
          <a:noFill/>
          <a:ln>
            <a:noFill/>
          </a:ln>
        </p:spPr>
        <p:txBody>
          <a:bodyPr wrap="square" rtlCol="0">
            <a:spAutoFit/>
          </a:bodyPr>
          <a:lstStyle/>
          <a:p>
            <a:r>
              <a:rPr lang="en-US" sz="1400"/>
              <a:t>54</a:t>
            </a:r>
            <a:endParaRPr lang="en-IN" sz="1400"/>
          </a:p>
        </p:txBody>
      </p:sp>
      <p:cxnSp>
        <p:nvCxnSpPr>
          <p:cNvPr id="16" name="Straight Arrow Connector 15">
            <a:extLst>
              <a:ext uri="{FF2B5EF4-FFF2-40B4-BE49-F238E27FC236}">
                <a16:creationId xmlns:a16="http://schemas.microsoft.com/office/drawing/2014/main" id="{C833EC9B-E348-B957-75B6-CC053FD9F72E}"/>
              </a:ext>
            </a:extLst>
          </p:cNvPr>
          <p:cNvCxnSpPr>
            <a:cxnSpLocks/>
          </p:cNvCxnSpPr>
          <p:nvPr/>
        </p:nvCxnSpPr>
        <p:spPr>
          <a:xfrm flipV="1">
            <a:off x="4765913" y="5340502"/>
            <a:ext cx="0" cy="576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75E198F-DE47-90AB-EFF8-98DDBC33012F}"/>
              </a:ext>
            </a:extLst>
          </p:cNvPr>
          <p:cNvCxnSpPr>
            <a:cxnSpLocks/>
          </p:cNvCxnSpPr>
          <p:nvPr/>
        </p:nvCxnSpPr>
        <p:spPr>
          <a:xfrm flipV="1">
            <a:off x="4054915" y="4949447"/>
            <a:ext cx="0" cy="39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747517B-26B4-EAF6-7A9F-D46AF928F0E9}"/>
              </a:ext>
            </a:extLst>
          </p:cNvPr>
          <p:cNvSpPr txBox="1"/>
          <p:nvPr/>
        </p:nvSpPr>
        <p:spPr>
          <a:xfrm>
            <a:off x="547933" y="5186614"/>
            <a:ext cx="866273" cy="307777"/>
          </a:xfrm>
          <a:prstGeom prst="rect">
            <a:avLst/>
          </a:prstGeom>
          <a:noFill/>
          <a:ln>
            <a:noFill/>
          </a:ln>
        </p:spPr>
        <p:txBody>
          <a:bodyPr wrap="square" rtlCol="0">
            <a:spAutoFit/>
          </a:bodyPr>
          <a:lstStyle/>
          <a:p>
            <a:r>
              <a:rPr lang="en-US" sz="1400"/>
              <a:t>60</a:t>
            </a:r>
            <a:endParaRPr lang="en-IN" sz="1400"/>
          </a:p>
        </p:txBody>
      </p:sp>
      <p:grpSp>
        <p:nvGrpSpPr>
          <p:cNvPr id="28" name="Group 27">
            <a:extLst>
              <a:ext uri="{FF2B5EF4-FFF2-40B4-BE49-F238E27FC236}">
                <a16:creationId xmlns:a16="http://schemas.microsoft.com/office/drawing/2014/main" id="{8384D5FB-BCB8-B33D-24EB-55B80768A795}"/>
              </a:ext>
            </a:extLst>
          </p:cNvPr>
          <p:cNvGrpSpPr/>
          <p:nvPr/>
        </p:nvGrpSpPr>
        <p:grpSpPr>
          <a:xfrm>
            <a:off x="8299962" y="2503872"/>
            <a:ext cx="1285637" cy="3524487"/>
            <a:chOff x="9440506" y="2002429"/>
            <a:chExt cx="1285637" cy="3524487"/>
          </a:xfrm>
        </p:grpSpPr>
        <p:sp>
          <p:nvSpPr>
            <p:cNvPr id="29" name="Freeform: Shape 28">
              <a:extLst>
                <a:ext uri="{FF2B5EF4-FFF2-40B4-BE49-F238E27FC236}">
                  <a16:creationId xmlns:a16="http://schemas.microsoft.com/office/drawing/2014/main" id="{E1B0C8A7-31ED-B0F0-225F-DA0AC13F1C13}"/>
                </a:ext>
              </a:extLst>
            </p:cNvPr>
            <p:cNvSpPr/>
            <p:nvPr/>
          </p:nvSpPr>
          <p:spPr>
            <a:xfrm>
              <a:off x="9440506" y="2002429"/>
              <a:ext cx="1285637" cy="640815"/>
            </a:xfrm>
            <a:custGeom>
              <a:avLst/>
              <a:gdLst>
                <a:gd name="connsiteX0" fmla="*/ 0 w 1285637"/>
                <a:gd name="connsiteY0" fmla="*/ 64082 h 640815"/>
                <a:gd name="connsiteX1" fmla="*/ 64082 w 1285637"/>
                <a:gd name="connsiteY1" fmla="*/ 0 h 640815"/>
                <a:gd name="connsiteX2" fmla="*/ 1221556 w 1285637"/>
                <a:gd name="connsiteY2" fmla="*/ 0 h 640815"/>
                <a:gd name="connsiteX3" fmla="*/ 1285638 w 1285637"/>
                <a:gd name="connsiteY3" fmla="*/ 64082 h 640815"/>
                <a:gd name="connsiteX4" fmla="*/ 1285637 w 1285637"/>
                <a:gd name="connsiteY4" fmla="*/ 576734 h 640815"/>
                <a:gd name="connsiteX5" fmla="*/ 1221555 w 1285637"/>
                <a:gd name="connsiteY5" fmla="*/ 640816 h 640815"/>
                <a:gd name="connsiteX6" fmla="*/ 64082 w 1285637"/>
                <a:gd name="connsiteY6" fmla="*/ 640815 h 640815"/>
                <a:gd name="connsiteX7" fmla="*/ 0 w 1285637"/>
                <a:gd name="connsiteY7" fmla="*/ 576733 h 640815"/>
                <a:gd name="connsiteX8" fmla="*/ 0 w 1285637"/>
                <a:gd name="connsiteY8" fmla="*/ 64082 h 64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5637" h="640815">
                  <a:moveTo>
                    <a:pt x="0" y="64082"/>
                  </a:moveTo>
                  <a:cubicBezTo>
                    <a:pt x="0" y="28690"/>
                    <a:pt x="28690" y="0"/>
                    <a:pt x="64082" y="0"/>
                  </a:cubicBezTo>
                  <a:lnTo>
                    <a:pt x="1221556" y="0"/>
                  </a:lnTo>
                  <a:cubicBezTo>
                    <a:pt x="1256948" y="0"/>
                    <a:pt x="1285638" y="28690"/>
                    <a:pt x="1285638" y="64082"/>
                  </a:cubicBezTo>
                  <a:cubicBezTo>
                    <a:pt x="1285638" y="234966"/>
                    <a:pt x="1285637" y="405850"/>
                    <a:pt x="1285637" y="576734"/>
                  </a:cubicBezTo>
                  <a:cubicBezTo>
                    <a:pt x="1285637" y="612126"/>
                    <a:pt x="1256947" y="640816"/>
                    <a:pt x="1221555" y="640816"/>
                  </a:cubicBezTo>
                  <a:lnTo>
                    <a:pt x="64082" y="640815"/>
                  </a:lnTo>
                  <a:cubicBezTo>
                    <a:pt x="28690" y="640815"/>
                    <a:pt x="0" y="612125"/>
                    <a:pt x="0" y="576733"/>
                  </a:cubicBezTo>
                  <a:lnTo>
                    <a:pt x="0" y="64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349" tIns="87349" rIns="87349" bIns="87349" numCol="1" spcCol="1270" anchor="ctr" anchorCtr="0">
              <a:noAutofit/>
            </a:bodyPr>
            <a:lstStyle/>
            <a:p>
              <a:pPr marL="0" lvl="0" indent="0" algn="ctr" defTabSz="800100">
                <a:lnSpc>
                  <a:spcPct val="90000"/>
                </a:lnSpc>
                <a:spcBef>
                  <a:spcPct val="0"/>
                </a:spcBef>
                <a:spcAft>
                  <a:spcPct val="35000"/>
                </a:spcAft>
                <a:buNone/>
              </a:pPr>
              <a:r>
                <a:rPr lang="en-US" sz="1800" kern="1200"/>
                <a:t>A, 98.769 </a:t>
              </a:r>
              <a:endParaRPr lang="en-IN" sz="1800" kern="1200"/>
            </a:p>
          </p:txBody>
        </p:sp>
        <p:sp>
          <p:nvSpPr>
            <p:cNvPr id="30" name="Freeform: Shape 29">
              <a:extLst>
                <a:ext uri="{FF2B5EF4-FFF2-40B4-BE49-F238E27FC236}">
                  <a16:creationId xmlns:a16="http://schemas.microsoft.com/office/drawing/2014/main" id="{54984246-A92D-DFB3-3F6C-620E9CE54A06}"/>
                </a:ext>
              </a:extLst>
            </p:cNvPr>
            <p:cNvSpPr/>
            <p:nvPr/>
          </p:nvSpPr>
          <p:spPr>
            <a:xfrm>
              <a:off x="9939141" y="2683296"/>
              <a:ext cx="288367" cy="240305"/>
            </a:xfrm>
            <a:custGeom>
              <a:avLst/>
              <a:gdLst>
                <a:gd name="connsiteX0" fmla="*/ 0 w 240305"/>
                <a:gd name="connsiteY0" fmla="*/ 57673 h 288367"/>
                <a:gd name="connsiteX1" fmla="*/ 120153 w 240305"/>
                <a:gd name="connsiteY1" fmla="*/ 57673 h 288367"/>
                <a:gd name="connsiteX2" fmla="*/ 120153 w 240305"/>
                <a:gd name="connsiteY2" fmla="*/ 0 h 288367"/>
                <a:gd name="connsiteX3" fmla="*/ 240305 w 240305"/>
                <a:gd name="connsiteY3" fmla="*/ 144184 h 288367"/>
                <a:gd name="connsiteX4" fmla="*/ 120153 w 240305"/>
                <a:gd name="connsiteY4" fmla="*/ 288367 h 288367"/>
                <a:gd name="connsiteX5" fmla="*/ 120153 w 240305"/>
                <a:gd name="connsiteY5" fmla="*/ 230694 h 288367"/>
                <a:gd name="connsiteX6" fmla="*/ 0 w 240305"/>
                <a:gd name="connsiteY6" fmla="*/ 230694 h 288367"/>
                <a:gd name="connsiteX7" fmla="*/ 0 w 240305"/>
                <a:gd name="connsiteY7" fmla="*/ 57673 h 288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305" h="288367">
                  <a:moveTo>
                    <a:pt x="192244" y="1"/>
                  </a:moveTo>
                  <a:lnTo>
                    <a:pt x="192244" y="144184"/>
                  </a:lnTo>
                  <a:lnTo>
                    <a:pt x="240305" y="144184"/>
                  </a:lnTo>
                  <a:lnTo>
                    <a:pt x="120152" y="288366"/>
                  </a:lnTo>
                  <a:lnTo>
                    <a:pt x="0" y="144184"/>
                  </a:lnTo>
                  <a:lnTo>
                    <a:pt x="48061" y="144184"/>
                  </a:lnTo>
                  <a:lnTo>
                    <a:pt x="48061" y="1"/>
                  </a:lnTo>
                  <a:lnTo>
                    <a:pt x="192244" y="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57674" tIns="0" rIns="57672" bIns="72091" numCol="1" spcCol="1270" anchor="ctr" anchorCtr="0">
              <a:noAutofit/>
            </a:bodyPr>
            <a:lstStyle/>
            <a:p>
              <a:pPr marL="0" lvl="0" indent="0" algn="ctr" defTabSz="488950">
                <a:lnSpc>
                  <a:spcPct val="90000"/>
                </a:lnSpc>
                <a:spcBef>
                  <a:spcPct val="0"/>
                </a:spcBef>
                <a:spcAft>
                  <a:spcPct val="35000"/>
                </a:spcAft>
                <a:buNone/>
              </a:pPr>
              <a:endParaRPr lang="en-IN" sz="1100" kern="1200"/>
            </a:p>
          </p:txBody>
        </p:sp>
        <p:sp>
          <p:nvSpPr>
            <p:cNvPr id="31" name="Freeform: Shape 30">
              <a:extLst>
                <a:ext uri="{FF2B5EF4-FFF2-40B4-BE49-F238E27FC236}">
                  <a16:creationId xmlns:a16="http://schemas.microsoft.com/office/drawing/2014/main" id="{E76F179E-B340-26FD-E4CF-83E898CCB6C4}"/>
                </a:ext>
              </a:extLst>
            </p:cNvPr>
            <p:cNvSpPr/>
            <p:nvPr/>
          </p:nvSpPr>
          <p:spPr>
            <a:xfrm>
              <a:off x="9440506" y="2963653"/>
              <a:ext cx="1285637" cy="640815"/>
            </a:xfrm>
            <a:custGeom>
              <a:avLst/>
              <a:gdLst>
                <a:gd name="connsiteX0" fmla="*/ 0 w 1285637"/>
                <a:gd name="connsiteY0" fmla="*/ 64082 h 640815"/>
                <a:gd name="connsiteX1" fmla="*/ 64082 w 1285637"/>
                <a:gd name="connsiteY1" fmla="*/ 0 h 640815"/>
                <a:gd name="connsiteX2" fmla="*/ 1221556 w 1285637"/>
                <a:gd name="connsiteY2" fmla="*/ 0 h 640815"/>
                <a:gd name="connsiteX3" fmla="*/ 1285638 w 1285637"/>
                <a:gd name="connsiteY3" fmla="*/ 64082 h 640815"/>
                <a:gd name="connsiteX4" fmla="*/ 1285637 w 1285637"/>
                <a:gd name="connsiteY4" fmla="*/ 576734 h 640815"/>
                <a:gd name="connsiteX5" fmla="*/ 1221555 w 1285637"/>
                <a:gd name="connsiteY5" fmla="*/ 640816 h 640815"/>
                <a:gd name="connsiteX6" fmla="*/ 64082 w 1285637"/>
                <a:gd name="connsiteY6" fmla="*/ 640815 h 640815"/>
                <a:gd name="connsiteX7" fmla="*/ 0 w 1285637"/>
                <a:gd name="connsiteY7" fmla="*/ 576733 h 640815"/>
                <a:gd name="connsiteX8" fmla="*/ 0 w 1285637"/>
                <a:gd name="connsiteY8" fmla="*/ 64082 h 64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5637" h="640815">
                  <a:moveTo>
                    <a:pt x="0" y="64082"/>
                  </a:moveTo>
                  <a:cubicBezTo>
                    <a:pt x="0" y="28690"/>
                    <a:pt x="28690" y="0"/>
                    <a:pt x="64082" y="0"/>
                  </a:cubicBezTo>
                  <a:lnTo>
                    <a:pt x="1221556" y="0"/>
                  </a:lnTo>
                  <a:cubicBezTo>
                    <a:pt x="1256948" y="0"/>
                    <a:pt x="1285638" y="28690"/>
                    <a:pt x="1285638" y="64082"/>
                  </a:cubicBezTo>
                  <a:cubicBezTo>
                    <a:pt x="1285638" y="234966"/>
                    <a:pt x="1285637" y="405850"/>
                    <a:pt x="1285637" y="576734"/>
                  </a:cubicBezTo>
                  <a:cubicBezTo>
                    <a:pt x="1285637" y="612126"/>
                    <a:pt x="1256947" y="640816"/>
                    <a:pt x="1221555" y="640816"/>
                  </a:cubicBezTo>
                  <a:lnTo>
                    <a:pt x="64082" y="640815"/>
                  </a:lnTo>
                  <a:cubicBezTo>
                    <a:pt x="28690" y="640815"/>
                    <a:pt x="0" y="612125"/>
                    <a:pt x="0" y="576733"/>
                  </a:cubicBezTo>
                  <a:lnTo>
                    <a:pt x="0" y="64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349" tIns="87349" rIns="87349" bIns="87349" numCol="1" spcCol="1270" anchor="ctr" anchorCtr="0">
              <a:noAutofit/>
            </a:bodyPr>
            <a:lstStyle/>
            <a:p>
              <a:pPr marL="0" lvl="0" indent="0" algn="ctr" defTabSz="800100">
                <a:lnSpc>
                  <a:spcPct val="90000"/>
                </a:lnSpc>
                <a:spcBef>
                  <a:spcPct val="0"/>
                </a:spcBef>
                <a:spcAft>
                  <a:spcPct val="35000"/>
                </a:spcAft>
                <a:buNone/>
              </a:pPr>
              <a:r>
                <a:rPr lang="en-US" sz="1800" kern="1200"/>
                <a:t>B, 812.8</a:t>
              </a:r>
              <a:endParaRPr lang="en-IN" sz="1800" kern="1200"/>
            </a:p>
          </p:txBody>
        </p:sp>
        <p:sp>
          <p:nvSpPr>
            <p:cNvPr id="32" name="Freeform: Shape 31">
              <a:extLst>
                <a:ext uri="{FF2B5EF4-FFF2-40B4-BE49-F238E27FC236}">
                  <a16:creationId xmlns:a16="http://schemas.microsoft.com/office/drawing/2014/main" id="{3E0D8FA9-AACE-EAA4-E1B7-BE0B6EEF4CFE}"/>
                </a:ext>
              </a:extLst>
            </p:cNvPr>
            <p:cNvSpPr/>
            <p:nvPr/>
          </p:nvSpPr>
          <p:spPr>
            <a:xfrm>
              <a:off x="9939141" y="3644520"/>
              <a:ext cx="288367" cy="240305"/>
            </a:xfrm>
            <a:custGeom>
              <a:avLst/>
              <a:gdLst>
                <a:gd name="connsiteX0" fmla="*/ 0 w 240305"/>
                <a:gd name="connsiteY0" fmla="*/ 57673 h 288367"/>
                <a:gd name="connsiteX1" fmla="*/ 120153 w 240305"/>
                <a:gd name="connsiteY1" fmla="*/ 57673 h 288367"/>
                <a:gd name="connsiteX2" fmla="*/ 120153 w 240305"/>
                <a:gd name="connsiteY2" fmla="*/ 0 h 288367"/>
                <a:gd name="connsiteX3" fmla="*/ 240305 w 240305"/>
                <a:gd name="connsiteY3" fmla="*/ 144184 h 288367"/>
                <a:gd name="connsiteX4" fmla="*/ 120153 w 240305"/>
                <a:gd name="connsiteY4" fmla="*/ 288367 h 288367"/>
                <a:gd name="connsiteX5" fmla="*/ 120153 w 240305"/>
                <a:gd name="connsiteY5" fmla="*/ 230694 h 288367"/>
                <a:gd name="connsiteX6" fmla="*/ 0 w 240305"/>
                <a:gd name="connsiteY6" fmla="*/ 230694 h 288367"/>
                <a:gd name="connsiteX7" fmla="*/ 0 w 240305"/>
                <a:gd name="connsiteY7" fmla="*/ 57673 h 288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305" h="288367">
                  <a:moveTo>
                    <a:pt x="192244" y="1"/>
                  </a:moveTo>
                  <a:lnTo>
                    <a:pt x="192244" y="144184"/>
                  </a:lnTo>
                  <a:lnTo>
                    <a:pt x="240305" y="144184"/>
                  </a:lnTo>
                  <a:lnTo>
                    <a:pt x="120152" y="288366"/>
                  </a:lnTo>
                  <a:lnTo>
                    <a:pt x="0" y="144184"/>
                  </a:lnTo>
                  <a:lnTo>
                    <a:pt x="48061" y="144184"/>
                  </a:lnTo>
                  <a:lnTo>
                    <a:pt x="48061" y="1"/>
                  </a:lnTo>
                  <a:lnTo>
                    <a:pt x="192244" y="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57674" tIns="0" rIns="57672" bIns="72091" numCol="1" spcCol="1270" anchor="ctr" anchorCtr="0">
              <a:noAutofit/>
            </a:bodyPr>
            <a:lstStyle/>
            <a:p>
              <a:pPr marL="0" lvl="0" indent="0" algn="ctr" defTabSz="488950">
                <a:lnSpc>
                  <a:spcPct val="90000"/>
                </a:lnSpc>
                <a:spcBef>
                  <a:spcPct val="0"/>
                </a:spcBef>
                <a:spcAft>
                  <a:spcPct val="35000"/>
                </a:spcAft>
                <a:buNone/>
              </a:pPr>
              <a:endParaRPr lang="en-IN" sz="1100" kern="1200"/>
            </a:p>
          </p:txBody>
        </p:sp>
        <p:sp>
          <p:nvSpPr>
            <p:cNvPr id="33" name="Freeform: Shape 32">
              <a:extLst>
                <a:ext uri="{FF2B5EF4-FFF2-40B4-BE49-F238E27FC236}">
                  <a16:creationId xmlns:a16="http://schemas.microsoft.com/office/drawing/2014/main" id="{F9C32A81-937B-B6DA-FEDC-AF6E6ACE2629}"/>
                </a:ext>
              </a:extLst>
            </p:cNvPr>
            <p:cNvSpPr/>
            <p:nvPr/>
          </p:nvSpPr>
          <p:spPr>
            <a:xfrm>
              <a:off x="9440506" y="3924877"/>
              <a:ext cx="1285637" cy="640815"/>
            </a:xfrm>
            <a:custGeom>
              <a:avLst/>
              <a:gdLst>
                <a:gd name="connsiteX0" fmla="*/ 0 w 1285637"/>
                <a:gd name="connsiteY0" fmla="*/ 64082 h 640815"/>
                <a:gd name="connsiteX1" fmla="*/ 64082 w 1285637"/>
                <a:gd name="connsiteY1" fmla="*/ 0 h 640815"/>
                <a:gd name="connsiteX2" fmla="*/ 1221556 w 1285637"/>
                <a:gd name="connsiteY2" fmla="*/ 0 h 640815"/>
                <a:gd name="connsiteX3" fmla="*/ 1285638 w 1285637"/>
                <a:gd name="connsiteY3" fmla="*/ 64082 h 640815"/>
                <a:gd name="connsiteX4" fmla="*/ 1285637 w 1285637"/>
                <a:gd name="connsiteY4" fmla="*/ 576734 h 640815"/>
                <a:gd name="connsiteX5" fmla="*/ 1221555 w 1285637"/>
                <a:gd name="connsiteY5" fmla="*/ 640816 h 640815"/>
                <a:gd name="connsiteX6" fmla="*/ 64082 w 1285637"/>
                <a:gd name="connsiteY6" fmla="*/ 640815 h 640815"/>
                <a:gd name="connsiteX7" fmla="*/ 0 w 1285637"/>
                <a:gd name="connsiteY7" fmla="*/ 576733 h 640815"/>
                <a:gd name="connsiteX8" fmla="*/ 0 w 1285637"/>
                <a:gd name="connsiteY8" fmla="*/ 64082 h 64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5637" h="640815">
                  <a:moveTo>
                    <a:pt x="0" y="64082"/>
                  </a:moveTo>
                  <a:cubicBezTo>
                    <a:pt x="0" y="28690"/>
                    <a:pt x="28690" y="0"/>
                    <a:pt x="64082" y="0"/>
                  </a:cubicBezTo>
                  <a:lnTo>
                    <a:pt x="1221556" y="0"/>
                  </a:lnTo>
                  <a:cubicBezTo>
                    <a:pt x="1256948" y="0"/>
                    <a:pt x="1285638" y="28690"/>
                    <a:pt x="1285638" y="64082"/>
                  </a:cubicBezTo>
                  <a:cubicBezTo>
                    <a:pt x="1285638" y="234966"/>
                    <a:pt x="1285637" y="405850"/>
                    <a:pt x="1285637" y="576734"/>
                  </a:cubicBezTo>
                  <a:cubicBezTo>
                    <a:pt x="1285637" y="612126"/>
                    <a:pt x="1256947" y="640816"/>
                    <a:pt x="1221555" y="640816"/>
                  </a:cubicBezTo>
                  <a:lnTo>
                    <a:pt x="64082" y="640815"/>
                  </a:lnTo>
                  <a:cubicBezTo>
                    <a:pt x="28690" y="640815"/>
                    <a:pt x="0" y="612125"/>
                    <a:pt x="0" y="576733"/>
                  </a:cubicBezTo>
                  <a:lnTo>
                    <a:pt x="0" y="64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349" tIns="87349" rIns="87349" bIns="87349" numCol="1" spcCol="1270" anchor="ctr" anchorCtr="0">
              <a:noAutofit/>
            </a:bodyPr>
            <a:lstStyle/>
            <a:p>
              <a:pPr marL="0" lvl="0" indent="0" algn="ctr" defTabSz="800100">
                <a:lnSpc>
                  <a:spcPct val="90000"/>
                </a:lnSpc>
                <a:spcBef>
                  <a:spcPct val="0"/>
                </a:spcBef>
                <a:spcAft>
                  <a:spcPct val="35000"/>
                </a:spcAft>
                <a:buNone/>
              </a:pPr>
              <a:r>
                <a:rPr lang="en-US" sz="1800" kern="1200"/>
                <a:t>C, </a:t>
              </a:r>
              <a:r>
                <a:rPr lang="en-IN" sz="1800" b="0" i="0" u="none" strike="noStrike" kern="1200">
                  <a:solidFill>
                    <a:schemeClr val="bg1"/>
                  </a:solidFill>
                  <a:effectLst/>
                  <a:latin typeface="Aptos Narrow" panose="020B0004020202020204" pitchFamily="34" charset="0"/>
                </a:rPr>
                <a:t>-104.996</a:t>
              </a:r>
              <a:endParaRPr lang="en-IN" sz="1800" kern="1200">
                <a:solidFill>
                  <a:schemeClr val="bg1"/>
                </a:solidFill>
              </a:endParaRPr>
            </a:p>
          </p:txBody>
        </p:sp>
        <p:sp>
          <p:nvSpPr>
            <p:cNvPr id="34" name="Freeform: Shape 33">
              <a:extLst>
                <a:ext uri="{FF2B5EF4-FFF2-40B4-BE49-F238E27FC236}">
                  <a16:creationId xmlns:a16="http://schemas.microsoft.com/office/drawing/2014/main" id="{F21D6BF6-3750-A2BA-4F28-DFE91ABA9583}"/>
                </a:ext>
              </a:extLst>
            </p:cNvPr>
            <p:cNvSpPr/>
            <p:nvPr/>
          </p:nvSpPr>
          <p:spPr>
            <a:xfrm>
              <a:off x="9939141" y="4605744"/>
              <a:ext cx="288367" cy="240305"/>
            </a:xfrm>
            <a:custGeom>
              <a:avLst/>
              <a:gdLst>
                <a:gd name="connsiteX0" fmla="*/ 0 w 240305"/>
                <a:gd name="connsiteY0" fmla="*/ 57673 h 288367"/>
                <a:gd name="connsiteX1" fmla="*/ 120153 w 240305"/>
                <a:gd name="connsiteY1" fmla="*/ 57673 h 288367"/>
                <a:gd name="connsiteX2" fmla="*/ 120153 w 240305"/>
                <a:gd name="connsiteY2" fmla="*/ 0 h 288367"/>
                <a:gd name="connsiteX3" fmla="*/ 240305 w 240305"/>
                <a:gd name="connsiteY3" fmla="*/ 144184 h 288367"/>
                <a:gd name="connsiteX4" fmla="*/ 120153 w 240305"/>
                <a:gd name="connsiteY4" fmla="*/ 288367 h 288367"/>
                <a:gd name="connsiteX5" fmla="*/ 120153 w 240305"/>
                <a:gd name="connsiteY5" fmla="*/ 230694 h 288367"/>
                <a:gd name="connsiteX6" fmla="*/ 0 w 240305"/>
                <a:gd name="connsiteY6" fmla="*/ 230694 h 288367"/>
                <a:gd name="connsiteX7" fmla="*/ 0 w 240305"/>
                <a:gd name="connsiteY7" fmla="*/ 57673 h 288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305" h="288367">
                  <a:moveTo>
                    <a:pt x="192244" y="1"/>
                  </a:moveTo>
                  <a:lnTo>
                    <a:pt x="192244" y="144184"/>
                  </a:lnTo>
                  <a:lnTo>
                    <a:pt x="240305" y="144184"/>
                  </a:lnTo>
                  <a:lnTo>
                    <a:pt x="120152" y="288366"/>
                  </a:lnTo>
                  <a:lnTo>
                    <a:pt x="0" y="144184"/>
                  </a:lnTo>
                  <a:lnTo>
                    <a:pt x="48061" y="144184"/>
                  </a:lnTo>
                  <a:lnTo>
                    <a:pt x="48061" y="1"/>
                  </a:lnTo>
                  <a:lnTo>
                    <a:pt x="192244" y="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57674" tIns="0" rIns="57672" bIns="72091" numCol="1" spcCol="1270" anchor="ctr" anchorCtr="0">
              <a:noAutofit/>
            </a:bodyPr>
            <a:lstStyle/>
            <a:p>
              <a:pPr marL="0" lvl="0" indent="0" algn="ctr" defTabSz="488950">
                <a:lnSpc>
                  <a:spcPct val="90000"/>
                </a:lnSpc>
                <a:spcBef>
                  <a:spcPct val="0"/>
                </a:spcBef>
                <a:spcAft>
                  <a:spcPct val="35000"/>
                </a:spcAft>
                <a:buNone/>
              </a:pPr>
              <a:endParaRPr lang="en-IN" sz="1100" kern="1200"/>
            </a:p>
          </p:txBody>
        </p:sp>
        <p:sp>
          <p:nvSpPr>
            <p:cNvPr id="35" name="Freeform: Shape 34">
              <a:extLst>
                <a:ext uri="{FF2B5EF4-FFF2-40B4-BE49-F238E27FC236}">
                  <a16:creationId xmlns:a16="http://schemas.microsoft.com/office/drawing/2014/main" id="{DB3EB3D3-BA74-4680-BB87-B0703E936F44}"/>
                </a:ext>
              </a:extLst>
            </p:cNvPr>
            <p:cNvSpPr/>
            <p:nvPr/>
          </p:nvSpPr>
          <p:spPr>
            <a:xfrm>
              <a:off x="9440506" y="4886101"/>
              <a:ext cx="1285637" cy="640815"/>
            </a:xfrm>
            <a:custGeom>
              <a:avLst/>
              <a:gdLst>
                <a:gd name="connsiteX0" fmla="*/ 0 w 1285637"/>
                <a:gd name="connsiteY0" fmla="*/ 64082 h 640815"/>
                <a:gd name="connsiteX1" fmla="*/ 64082 w 1285637"/>
                <a:gd name="connsiteY1" fmla="*/ 0 h 640815"/>
                <a:gd name="connsiteX2" fmla="*/ 1221556 w 1285637"/>
                <a:gd name="connsiteY2" fmla="*/ 0 h 640815"/>
                <a:gd name="connsiteX3" fmla="*/ 1285638 w 1285637"/>
                <a:gd name="connsiteY3" fmla="*/ 64082 h 640815"/>
                <a:gd name="connsiteX4" fmla="*/ 1285637 w 1285637"/>
                <a:gd name="connsiteY4" fmla="*/ 576734 h 640815"/>
                <a:gd name="connsiteX5" fmla="*/ 1221555 w 1285637"/>
                <a:gd name="connsiteY5" fmla="*/ 640816 h 640815"/>
                <a:gd name="connsiteX6" fmla="*/ 64082 w 1285637"/>
                <a:gd name="connsiteY6" fmla="*/ 640815 h 640815"/>
                <a:gd name="connsiteX7" fmla="*/ 0 w 1285637"/>
                <a:gd name="connsiteY7" fmla="*/ 576733 h 640815"/>
                <a:gd name="connsiteX8" fmla="*/ 0 w 1285637"/>
                <a:gd name="connsiteY8" fmla="*/ 64082 h 64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5637" h="640815">
                  <a:moveTo>
                    <a:pt x="0" y="64082"/>
                  </a:moveTo>
                  <a:cubicBezTo>
                    <a:pt x="0" y="28690"/>
                    <a:pt x="28690" y="0"/>
                    <a:pt x="64082" y="0"/>
                  </a:cubicBezTo>
                  <a:lnTo>
                    <a:pt x="1221556" y="0"/>
                  </a:lnTo>
                  <a:cubicBezTo>
                    <a:pt x="1256948" y="0"/>
                    <a:pt x="1285638" y="28690"/>
                    <a:pt x="1285638" y="64082"/>
                  </a:cubicBezTo>
                  <a:cubicBezTo>
                    <a:pt x="1285638" y="234966"/>
                    <a:pt x="1285637" y="405850"/>
                    <a:pt x="1285637" y="576734"/>
                  </a:cubicBezTo>
                  <a:cubicBezTo>
                    <a:pt x="1285637" y="612126"/>
                    <a:pt x="1256947" y="640816"/>
                    <a:pt x="1221555" y="640816"/>
                  </a:cubicBezTo>
                  <a:lnTo>
                    <a:pt x="64082" y="640815"/>
                  </a:lnTo>
                  <a:cubicBezTo>
                    <a:pt x="28690" y="640815"/>
                    <a:pt x="0" y="612125"/>
                    <a:pt x="0" y="576733"/>
                  </a:cubicBezTo>
                  <a:lnTo>
                    <a:pt x="0" y="64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349" tIns="87349" rIns="87349" bIns="87349" numCol="1" spcCol="1270" anchor="ctr" anchorCtr="0">
              <a:noAutofit/>
            </a:bodyPr>
            <a:lstStyle/>
            <a:p>
              <a:pPr marL="0" lvl="0" indent="0" algn="ctr" defTabSz="800100">
                <a:lnSpc>
                  <a:spcPct val="90000"/>
                </a:lnSpc>
                <a:spcBef>
                  <a:spcPct val="0"/>
                </a:spcBef>
                <a:spcAft>
                  <a:spcPct val="35000"/>
                </a:spcAft>
                <a:buNone/>
              </a:pPr>
              <a:r>
                <a:rPr lang="en-US" sz="1800" kern="1200"/>
                <a:t>D, -9.88</a:t>
              </a:r>
              <a:endParaRPr lang="en-IN" sz="1800" kern="1200"/>
            </a:p>
          </p:txBody>
        </p:sp>
      </p:grpSp>
      <p:sp>
        <p:nvSpPr>
          <p:cNvPr id="21" name="TextBox 20">
            <a:extLst>
              <a:ext uri="{FF2B5EF4-FFF2-40B4-BE49-F238E27FC236}">
                <a16:creationId xmlns:a16="http://schemas.microsoft.com/office/drawing/2014/main" id="{5610D652-60C5-EFB9-39E5-168F92A4F954}"/>
              </a:ext>
            </a:extLst>
          </p:cNvPr>
          <p:cNvSpPr txBox="1"/>
          <p:nvPr/>
        </p:nvSpPr>
        <p:spPr>
          <a:xfrm>
            <a:off x="9662426" y="3128705"/>
            <a:ext cx="1366489" cy="523220"/>
          </a:xfrm>
          <a:prstGeom prst="rect">
            <a:avLst/>
          </a:prstGeom>
          <a:noFill/>
        </p:spPr>
        <p:txBody>
          <a:bodyPr wrap="square" rtlCol="0">
            <a:spAutoFit/>
          </a:bodyPr>
          <a:lstStyle/>
          <a:p>
            <a:r>
              <a:rPr lang="en-US" sz="1400"/>
              <a:t>98.769</a:t>
            </a:r>
            <a:endParaRPr lang="en-IN" sz="1400"/>
          </a:p>
          <a:p>
            <a:endParaRPr lang="en-IN" sz="1400"/>
          </a:p>
        </p:txBody>
      </p:sp>
      <p:sp>
        <p:nvSpPr>
          <p:cNvPr id="22" name="TextBox 21">
            <a:extLst>
              <a:ext uri="{FF2B5EF4-FFF2-40B4-BE49-F238E27FC236}">
                <a16:creationId xmlns:a16="http://schemas.microsoft.com/office/drawing/2014/main" id="{09F2CD3C-5D28-BC46-6AA5-481BA1A45D00}"/>
              </a:ext>
            </a:extLst>
          </p:cNvPr>
          <p:cNvSpPr txBox="1"/>
          <p:nvPr/>
        </p:nvSpPr>
        <p:spPr>
          <a:xfrm>
            <a:off x="9662425" y="4162050"/>
            <a:ext cx="1366489" cy="523220"/>
          </a:xfrm>
          <a:prstGeom prst="rect">
            <a:avLst/>
          </a:prstGeom>
          <a:noFill/>
        </p:spPr>
        <p:txBody>
          <a:bodyPr wrap="square" rtlCol="0">
            <a:spAutoFit/>
          </a:bodyPr>
          <a:lstStyle/>
          <a:p>
            <a:r>
              <a:rPr lang="en-US" sz="1400"/>
              <a:t>911.569</a:t>
            </a:r>
            <a:endParaRPr lang="en-IN" sz="1400"/>
          </a:p>
          <a:p>
            <a:endParaRPr lang="en-IN" sz="1400"/>
          </a:p>
        </p:txBody>
      </p:sp>
      <p:sp>
        <p:nvSpPr>
          <p:cNvPr id="23" name="TextBox 22">
            <a:extLst>
              <a:ext uri="{FF2B5EF4-FFF2-40B4-BE49-F238E27FC236}">
                <a16:creationId xmlns:a16="http://schemas.microsoft.com/office/drawing/2014/main" id="{D540D78B-20AE-CC10-4F38-15B70AE28DAE}"/>
              </a:ext>
            </a:extLst>
          </p:cNvPr>
          <p:cNvSpPr txBox="1"/>
          <p:nvPr/>
        </p:nvSpPr>
        <p:spPr>
          <a:xfrm>
            <a:off x="9742764" y="5781018"/>
            <a:ext cx="1700463" cy="307777"/>
          </a:xfrm>
          <a:prstGeom prst="rect">
            <a:avLst/>
          </a:prstGeom>
          <a:noFill/>
        </p:spPr>
        <p:txBody>
          <a:bodyPr wrap="square" rtlCol="0">
            <a:spAutoFit/>
          </a:bodyPr>
          <a:lstStyle/>
          <a:p>
            <a:r>
              <a:rPr lang="en-US" sz="1400"/>
              <a:t>796.693</a:t>
            </a:r>
            <a:endParaRPr lang="en-IN" sz="1400"/>
          </a:p>
        </p:txBody>
      </p:sp>
      <p:sp>
        <p:nvSpPr>
          <p:cNvPr id="24" name="TextBox 23">
            <a:extLst>
              <a:ext uri="{FF2B5EF4-FFF2-40B4-BE49-F238E27FC236}">
                <a16:creationId xmlns:a16="http://schemas.microsoft.com/office/drawing/2014/main" id="{81EC887E-3E48-969F-3789-DDC0E1EB498C}"/>
              </a:ext>
            </a:extLst>
          </p:cNvPr>
          <p:cNvSpPr txBox="1"/>
          <p:nvPr/>
        </p:nvSpPr>
        <p:spPr>
          <a:xfrm>
            <a:off x="9662425" y="5017475"/>
            <a:ext cx="1700463" cy="523220"/>
          </a:xfrm>
          <a:prstGeom prst="rect">
            <a:avLst/>
          </a:prstGeom>
          <a:noFill/>
        </p:spPr>
        <p:txBody>
          <a:bodyPr wrap="square" rtlCol="0">
            <a:spAutoFit/>
          </a:bodyPr>
          <a:lstStyle/>
          <a:p>
            <a:r>
              <a:rPr lang="en-US" sz="1400"/>
              <a:t>806.573</a:t>
            </a:r>
            <a:endParaRPr lang="en-IN" sz="1400"/>
          </a:p>
          <a:p>
            <a:endParaRPr lang="en-IN" sz="1400"/>
          </a:p>
        </p:txBody>
      </p:sp>
      <p:cxnSp>
        <p:nvCxnSpPr>
          <p:cNvPr id="25" name="Straight Arrow Connector 24">
            <a:extLst>
              <a:ext uri="{FF2B5EF4-FFF2-40B4-BE49-F238E27FC236}">
                <a16:creationId xmlns:a16="http://schemas.microsoft.com/office/drawing/2014/main" id="{302473D2-AA9F-C68E-875C-8EA885E13C1C}"/>
              </a:ext>
            </a:extLst>
          </p:cNvPr>
          <p:cNvCxnSpPr>
            <a:cxnSpLocks/>
          </p:cNvCxnSpPr>
          <p:nvPr/>
        </p:nvCxnSpPr>
        <p:spPr>
          <a:xfrm>
            <a:off x="9341583" y="5751693"/>
            <a:ext cx="13068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DB1D3C2E-E766-B62F-3241-CD5F3483C673}"/>
              </a:ext>
            </a:extLst>
          </p:cNvPr>
          <p:cNvSpPr/>
          <p:nvPr/>
        </p:nvSpPr>
        <p:spPr>
          <a:xfrm>
            <a:off x="10677536" y="2467903"/>
            <a:ext cx="1209663" cy="35279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COLD UTILITY</a:t>
            </a:r>
            <a:endParaRPr lang="en-IN" sz="1400"/>
          </a:p>
        </p:txBody>
      </p:sp>
      <p:sp>
        <p:nvSpPr>
          <p:cNvPr id="27" name="Rectangle 26">
            <a:extLst>
              <a:ext uri="{FF2B5EF4-FFF2-40B4-BE49-F238E27FC236}">
                <a16:creationId xmlns:a16="http://schemas.microsoft.com/office/drawing/2014/main" id="{E970A445-1676-C457-7E0F-D3EF16CCE3A5}"/>
              </a:ext>
            </a:extLst>
          </p:cNvPr>
          <p:cNvSpPr/>
          <p:nvPr/>
        </p:nvSpPr>
        <p:spPr>
          <a:xfrm>
            <a:off x="6938690" y="2500426"/>
            <a:ext cx="1131973" cy="35279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HOT </a:t>
            </a:r>
          </a:p>
          <a:p>
            <a:pPr algn="ctr"/>
            <a:r>
              <a:rPr lang="en-US" sz="1400"/>
              <a:t>UTILITY</a:t>
            </a:r>
            <a:endParaRPr lang="en-IN" sz="1400"/>
          </a:p>
        </p:txBody>
      </p:sp>
      <p:sp>
        <p:nvSpPr>
          <p:cNvPr id="38" name="TextBox 37">
            <a:extLst>
              <a:ext uri="{FF2B5EF4-FFF2-40B4-BE49-F238E27FC236}">
                <a16:creationId xmlns:a16="http://schemas.microsoft.com/office/drawing/2014/main" id="{058A281D-FE11-81CF-C8E0-BE472BC43391}"/>
              </a:ext>
            </a:extLst>
          </p:cNvPr>
          <p:cNvSpPr txBox="1"/>
          <p:nvPr/>
        </p:nvSpPr>
        <p:spPr>
          <a:xfrm>
            <a:off x="6938690" y="1793744"/>
            <a:ext cx="4948509" cy="369332"/>
          </a:xfrm>
          <a:prstGeom prst="rect">
            <a:avLst/>
          </a:prstGeom>
          <a:noFill/>
        </p:spPr>
        <p:txBody>
          <a:bodyPr wrap="square" rtlCol="0">
            <a:spAutoFit/>
          </a:bodyPr>
          <a:lstStyle/>
          <a:p>
            <a:pPr algn="ctr"/>
            <a:r>
              <a:rPr lang="en-US" b="1" i="1">
                <a:latin typeface="Times New Roman" panose="02020603050405020304" pitchFamily="18" charset="0"/>
                <a:cs typeface="Times New Roman" panose="02020603050405020304" pitchFamily="18" charset="0"/>
              </a:rPr>
              <a:t>No Pinch Detected!</a:t>
            </a:r>
          </a:p>
        </p:txBody>
      </p:sp>
    </p:spTree>
    <p:extLst>
      <p:ext uri="{BB962C8B-B14F-4D97-AF65-F5344CB8AC3E}">
        <p14:creationId xmlns:p14="http://schemas.microsoft.com/office/powerpoint/2010/main" val="4182065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22" presetClass="entr" presetSubtype="8"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500"/>
                                        <p:tgtEl>
                                          <p:spTgt spid="25"/>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6" grpId="0" animBg="1"/>
      <p:bldP spid="27" grpId="0" animBg="1"/>
      <p:bldP spid="3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37AB-1EE1-E39A-01A1-69D87DC3C4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F14A6B-BDD9-29C3-837D-9E70B8051516}"/>
              </a:ext>
            </a:extLst>
          </p:cNvPr>
          <p:cNvSpPr>
            <a:spLocks noGrp="1"/>
          </p:cNvSpPr>
          <p:nvPr>
            <p:ph type="sldNum" sz="quarter" idx="12"/>
          </p:nvPr>
        </p:nvSpPr>
        <p:spPr/>
        <p:txBody>
          <a:bodyPr/>
          <a:lstStyle/>
          <a:p>
            <a:fld id="{330EA680-D336-4FF7-8B7A-9848BB0A1C32}" type="slidenum">
              <a:rPr lang="en-US" smtClean="0"/>
              <a:t>59</a:t>
            </a:fld>
            <a:endParaRPr lang="en-US"/>
          </a:p>
        </p:txBody>
      </p:sp>
      <p:sp>
        <p:nvSpPr>
          <p:cNvPr id="4" name="Rectangle 3">
            <a:extLst>
              <a:ext uri="{FF2B5EF4-FFF2-40B4-BE49-F238E27FC236}">
                <a16:creationId xmlns:a16="http://schemas.microsoft.com/office/drawing/2014/main" id="{2530A3A2-EF30-FEA9-8550-508700CE0DF6}"/>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PINCH TECHNOLOGY</a:t>
            </a:r>
          </a:p>
        </p:txBody>
      </p:sp>
      <p:sp>
        <p:nvSpPr>
          <p:cNvPr id="11" name="TextBox 1">
            <a:extLst>
              <a:ext uri="{FF2B5EF4-FFF2-40B4-BE49-F238E27FC236}">
                <a16:creationId xmlns:a16="http://schemas.microsoft.com/office/drawing/2014/main" id="{3F8C019D-06E1-B549-265E-0D088565B22E}"/>
              </a:ext>
            </a:extLst>
          </p:cNvPr>
          <p:cNvSpPr txBox="1"/>
          <p:nvPr/>
        </p:nvSpPr>
        <p:spPr>
          <a:xfrm>
            <a:off x="2614661" y="2431616"/>
            <a:ext cx="70736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400"/>
              <a:t>HEN 1</a:t>
            </a:r>
            <a:endParaRPr lang="en-IN" sz="1400"/>
          </a:p>
        </p:txBody>
      </p:sp>
      <p:sp>
        <p:nvSpPr>
          <p:cNvPr id="12" name="TextBox 2">
            <a:extLst>
              <a:ext uri="{FF2B5EF4-FFF2-40B4-BE49-F238E27FC236}">
                <a16:creationId xmlns:a16="http://schemas.microsoft.com/office/drawing/2014/main" id="{4F144116-D40D-CB2A-FEF9-A5358397DC18}"/>
              </a:ext>
            </a:extLst>
          </p:cNvPr>
          <p:cNvSpPr txBox="1"/>
          <p:nvPr/>
        </p:nvSpPr>
        <p:spPr>
          <a:xfrm>
            <a:off x="2614661" y="3545810"/>
            <a:ext cx="70736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400"/>
              <a:t>HEN 2</a:t>
            </a:r>
            <a:endParaRPr lang="en-IN" sz="1400"/>
          </a:p>
        </p:txBody>
      </p:sp>
      <p:sp>
        <p:nvSpPr>
          <p:cNvPr id="13" name="TextBox 3">
            <a:extLst>
              <a:ext uri="{FF2B5EF4-FFF2-40B4-BE49-F238E27FC236}">
                <a16:creationId xmlns:a16="http://schemas.microsoft.com/office/drawing/2014/main" id="{1CEA4093-F89E-6A60-50FF-FADE3B17D569}"/>
              </a:ext>
            </a:extLst>
          </p:cNvPr>
          <p:cNvSpPr txBox="1"/>
          <p:nvPr/>
        </p:nvSpPr>
        <p:spPr>
          <a:xfrm>
            <a:off x="4155913" y="4593919"/>
            <a:ext cx="70736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400"/>
              <a:t>HEN 4</a:t>
            </a:r>
            <a:endParaRPr lang="en-IN" sz="1400"/>
          </a:p>
        </p:txBody>
      </p:sp>
      <p:sp>
        <p:nvSpPr>
          <p:cNvPr id="14" name="TextBox 5">
            <a:extLst>
              <a:ext uri="{FF2B5EF4-FFF2-40B4-BE49-F238E27FC236}">
                <a16:creationId xmlns:a16="http://schemas.microsoft.com/office/drawing/2014/main" id="{A91A79F8-73CE-900B-2B99-8CFE9D8DC8E4}"/>
              </a:ext>
            </a:extLst>
          </p:cNvPr>
          <p:cNvSpPr txBox="1"/>
          <p:nvPr/>
        </p:nvSpPr>
        <p:spPr>
          <a:xfrm>
            <a:off x="4155913" y="2431615"/>
            <a:ext cx="70736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400"/>
              <a:t>HEN 3</a:t>
            </a:r>
            <a:endParaRPr lang="en-IN" sz="1400"/>
          </a:p>
        </p:txBody>
      </p:sp>
      <p:sp>
        <p:nvSpPr>
          <p:cNvPr id="15" name="TextBox 7">
            <a:extLst>
              <a:ext uri="{FF2B5EF4-FFF2-40B4-BE49-F238E27FC236}">
                <a16:creationId xmlns:a16="http://schemas.microsoft.com/office/drawing/2014/main" id="{7742D325-87E1-5974-62F1-A439FEF6190F}"/>
              </a:ext>
            </a:extLst>
          </p:cNvPr>
          <p:cNvSpPr txBox="1"/>
          <p:nvPr/>
        </p:nvSpPr>
        <p:spPr>
          <a:xfrm>
            <a:off x="5697165" y="4593919"/>
            <a:ext cx="70736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400"/>
              <a:t>HEN 5</a:t>
            </a:r>
            <a:endParaRPr lang="en-IN" sz="1400"/>
          </a:p>
        </p:txBody>
      </p:sp>
      <p:sp>
        <p:nvSpPr>
          <p:cNvPr id="16" name="Oval 15">
            <a:extLst>
              <a:ext uri="{FF2B5EF4-FFF2-40B4-BE49-F238E27FC236}">
                <a16:creationId xmlns:a16="http://schemas.microsoft.com/office/drawing/2014/main" id="{D91D6528-669D-2A68-8638-65266CC8F010}"/>
              </a:ext>
            </a:extLst>
          </p:cNvPr>
          <p:cNvSpPr>
            <a:spLocks noChangeAspect="1"/>
          </p:cNvSpPr>
          <p:nvPr/>
        </p:nvSpPr>
        <p:spPr>
          <a:xfrm>
            <a:off x="1471175" y="2429792"/>
            <a:ext cx="309600" cy="3096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t>4</a:t>
            </a:r>
            <a:endParaRPr lang="en-IN" sz="1400" b="1"/>
          </a:p>
        </p:txBody>
      </p:sp>
      <p:sp>
        <p:nvSpPr>
          <p:cNvPr id="17" name="Oval 16">
            <a:extLst>
              <a:ext uri="{FF2B5EF4-FFF2-40B4-BE49-F238E27FC236}">
                <a16:creationId xmlns:a16="http://schemas.microsoft.com/office/drawing/2014/main" id="{54502330-978E-A5F9-7E6A-F90CE084A7C9}"/>
              </a:ext>
            </a:extLst>
          </p:cNvPr>
          <p:cNvSpPr>
            <a:spLocks noChangeAspect="1"/>
          </p:cNvSpPr>
          <p:nvPr/>
        </p:nvSpPr>
        <p:spPr>
          <a:xfrm>
            <a:off x="1466375" y="3545810"/>
            <a:ext cx="309600" cy="3096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t>5</a:t>
            </a:r>
            <a:endParaRPr lang="en-IN" sz="1400" b="1"/>
          </a:p>
        </p:txBody>
      </p:sp>
      <p:sp>
        <p:nvSpPr>
          <p:cNvPr id="18" name="Oval 17">
            <a:extLst>
              <a:ext uri="{FF2B5EF4-FFF2-40B4-BE49-F238E27FC236}">
                <a16:creationId xmlns:a16="http://schemas.microsoft.com/office/drawing/2014/main" id="{171FD16D-BD09-A0CE-091F-BB28D3B88219}"/>
              </a:ext>
            </a:extLst>
          </p:cNvPr>
          <p:cNvSpPr>
            <a:spLocks noChangeAspect="1"/>
          </p:cNvSpPr>
          <p:nvPr/>
        </p:nvSpPr>
        <p:spPr>
          <a:xfrm>
            <a:off x="4354796" y="1315599"/>
            <a:ext cx="309600" cy="3096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t>2</a:t>
            </a:r>
            <a:endParaRPr lang="en-IN" sz="1400" b="1"/>
          </a:p>
        </p:txBody>
      </p:sp>
      <p:sp>
        <p:nvSpPr>
          <p:cNvPr id="19" name="Oval 18">
            <a:extLst>
              <a:ext uri="{FF2B5EF4-FFF2-40B4-BE49-F238E27FC236}">
                <a16:creationId xmlns:a16="http://schemas.microsoft.com/office/drawing/2014/main" id="{6D8C6459-687C-AEEE-0DE1-3B8DC283D518}"/>
              </a:ext>
            </a:extLst>
          </p:cNvPr>
          <p:cNvSpPr>
            <a:spLocks noChangeAspect="1"/>
          </p:cNvSpPr>
          <p:nvPr/>
        </p:nvSpPr>
        <p:spPr>
          <a:xfrm>
            <a:off x="2813544" y="1315599"/>
            <a:ext cx="309600" cy="3096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t>1</a:t>
            </a:r>
            <a:endParaRPr lang="en-IN" sz="1400" b="1"/>
          </a:p>
        </p:txBody>
      </p:sp>
      <p:sp>
        <p:nvSpPr>
          <p:cNvPr id="20" name="Oval 19">
            <a:extLst>
              <a:ext uri="{FF2B5EF4-FFF2-40B4-BE49-F238E27FC236}">
                <a16:creationId xmlns:a16="http://schemas.microsoft.com/office/drawing/2014/main" id="{11DE3EE1-265E-626E-9E6E-427EFA4D70FC}"/>
              </a:ext>
            </a:extLst>
          </p:cNvPr>
          <p:cNvSpPr>
            <a:spLocks noChangeAspect="1"/>
          </p:cNvSpPr>
          <p:nvPr/>
        </p:nvSpPr>
        <p:spPr>
          <a:xfrm>
            <a:off x="5896048" y="1315599"/>
            <a:ext cx="309600" cy="3096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t>3</a:t>
            </a:r>
            <a:endParaRPr lang="en-IN" sz="1400" b="1"/>
          </a:p>
        </p:txBody>
      </p:sp>
      <p:cxnSp>
        <p:nvCxnSpPr>
          <p:cNvPr id="21" name="Straight Arrow Connector 20">
            <a:extLst>
              <a:ext uri="{FF2B5EF4-FFF2-40B4-BE49-F238E27FC236}">
                <a16:creationId xmlns:a16="http://schemas.microsoft.com/office/drawing/2014/main" id="{AFEFDAB6-A8AD-9B8E-015F-0190B363D7CF}"/>
              </a:ext>
            </a:extLst>
          </p:cNvPr>
          <p:cNvCxnSpPr>
            <a:stCxn id="16" idx="6"/>
            <a:endCxn id="11" idx="1"/>
          </p:cNvCxnSpPr>
          <p:nvPr/>
        </p:nvCxnSpPr>
        <p:spPr>
          <a:xfrm>
            <a:off x="1780775" y="2584592"/>
            <a:ext cx="833886" cy="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47C7506-CA4F-5DA8-EDED-FCA6C391E281}"/>
              </a:ext>
            </a:extLst>
          </p:cNvPr>
          <p:cNvCxnSpPr/>
          <p:nvPr/>
        </p:nvCxnSpPr>
        <p:spPr>
          <a:xfrm>
            <a:off x="3322027" y="2583679"/>
            <a:ext cx="833886" cy="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CF50FF8-09C5-B7EA-8457-C623F9B46D3B}"/>
              </a:ext>
            </a:extLst>
          </p:cNvPr>
          <p:cNvCxnSpPr/>
          <p:nvPr/>
        </p:nvCxnSpPr>
        <p:spPr>
          <a:xfrm>
            <a:off x="1775975" y="3710913"/>
            <a:ext cx="833886" cy="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3617F0F-A669-ACEA-A159-100DF4E68E98}"/>
              </a:ext>
            </a:extLst>
          </p:cNvPr>
          <p:cNvCxnSpPr>
            <a:cxnSpLocks/>
            <a:stCxn id="19" idx="4"/>
            <a:endCxn id="11" idx="0"/>
          </p:cNvCxnSpPr>
          <p:nvPr/>
        </p:nvCxnSpPr>
        <p:spPr>
          <a:xfrm>
            <a:off x="2968344" y="1625199"/>
            <a:ext cx="0" cy="8064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475555FF-DD4E-C0A4-0F1B-E9BF2E6219AA}"/>
              </a:ext>
            </a:extLst>
          </p:cNvPr>
          <p:cNvCxnSpPr>
            <a:cxnSpLocks/>
          </p:cNvCxnSpPr>
          <p:nvPr/>
        </p:nvCxnSpPr>
        <p:spPr>
          <a:xfrm>
            <a:off x="4508899" y="1625199"/>
            <a:ext cx="0" cy="8064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9827EFD-6227-779E-8885-469117956836}"/>
              </a:ext>
            </a:extLst>
          </p:cNvPr>
          <p:cNvCxnSpPr>
            <a:cxnSpLocks/>
          </p:cNvCxnSpPr>
          <p:nvPr/>
        </p:nvCxnSpPr>
        <p:spPr>
          <a:xfrm>
            <a:off x="2958410" y="2739392"/>
            <a:ext cx="0" cy="8064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C11128F-D59D-E274-108F-45D733E87F37}"/>
              </a:ext>
            </a:extLst>
          </p:cNvPr>
          <p:cNvCxnSpPr>
            <a:cxnSpLocks/>
            <a:stCxn id="14" idx="2"/>
            <a:endCxn id="13" idx="0"/>
          </p:cNvCxnSpPr>
          <p:nvPr/>
        </p:nvCxnSpPr>
        <p:spPr>
          <a:xfrm>
            <a:off x="4509596" y="2739392"/>
            <a:ext cx="0" cy="18545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3A5C40B-C5FD-D1A1-B93A-7E8961EBE927}"/>
              </a:ext>
            </a:extLst>
          </p:cNvPr>
          <p:cNvCxnSpPr>
            <a:cxnSpLocks/>
            <a:stCxn id="20" idx="4"/>
            <a:endCxn id="15" idx="0"/>
          </p:cNvCxnSpPr>
          <p:nvPr/>
        </p:nvCxnSpPr>
        <p:spPr>
          <a:xfrm>
            <a:off x="6050848" y="1625199"/>
            <a:ext cx="0" cy="29687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27EAA6F-CE9A-105D-AD1E-C350EEB071CC}"/>
              </a:ext>
            </a:extLst>
          </p:cNvPr>
          <p:cNvCxnSpPr>
            <a:cxnSpLocks/>
            <a:endCxn id="48" idx="1"/>
          </p:cNvCxnSpPr>
          <p:nvPr/>
        </p:nvCxnSpPr>
        <p:spPr>
          <a:xfrm>
            <a:off x="4877420" y="2573683"/>
            <a:ext cx="1813919" cy="99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1F56B13-831D-1026-2CE4-1579FE7FE0D2}"/>
              </a:ext>
            </a:extLst>
          </p:cNvPr>
          <p:cNvCxnSpPr>
            <a:cxnSpLocks/>
            <a:stCxn id="12" idx="3"/>
            <a:endCxn id="47" idx="1"/>
          </p:cNvCxnSpPr>
          <p:nvPr/>
        </p:nvCxnSpPr>
        <p:spPr>
          <a:xfrm>
            <a:off x="3322027" y="3699699"/>
            <a:ext cx="3369312" cy="95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0A4978D-0504-9618-16DA-40DB2BE75062}"/>
              </a:ext>
            </a:extLst>
          </p:cNvPr>
          <p:cNvCxnSpPr>
            <a:cxnSpLocks/>
            <a:stCxn id="13" idx="2"/>
            <a:endCxn id="50" idx="0"/>
          </p:cNvCxnSpPr>
          <p:nvPr/>
        </p:nvCxnSpPr>
        <p:spPr>
          <a:xfrm flipH="1">
            <a:off x="4508899" y="4901696"/>
            <a:ext cx="697" cy="3637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648C4B7-4D1D-19EC-A54F-6EED80C71433}"/>
              </a:ext>
            </a:extLst>
          </p:cNvPr>
          <p:cNvCxnSpPr>
            <a:cxnSpLocks/>
            <a:endCxn id="52" idx="0"/>
          </p:cNvCxnSpPr>
          <p:nvPr/>
        </p:nvCxnSpPr>
        <p:spPr>
          <a:xfrm>
            <a:off x="2958410" y="3853587"/>
            <a:ext cx="899" cy="13955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43">
            <a:extLst>
              <a:ext uri="{FF2B5EF4-FFF2-40B4-BE49-F238E27FC236}">
                <a16:creationId xmlns:a16="http://schemas.microsoft.com/office/drawing/2014/main" id="{5602D16A-C5E6-430E-C72C-744CE4F68E79}"/>
              </a:ext>
            </a:extLst>
          </p:cNvPr>
          <p:cNvSpPr txBox="1"/>
          <p:nvPr/>
        </p:nvSpPr>
        <p:spPr>
          <a:xfrm>
            <a:off x="2943198" y="2969812"/>
            <a:ext cx="6367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60.496</a:t>
            </a:r>
            <a:endParaRPr lang="en-IN" sz="1200"/>
          </a:p>
        </p:txBody>
      </p:sp>
      <p:sp>
        <p:nvSpPr>
          <p:cNvPr id="34" name="TextBox 44">
            <a:extLst>
              <a:ext uri="{FF2B5EF4-FFF2-40B4-BE49-F238E27FC236}">
                <a16:creationId xmlns:a16="http://schemas.microsoft.com/office/drawing/2014/main" id="{3DC81981-3B90-EA20-ADF5-3099D99E926A}"/>
              </a:ext>
            </a:extLst>
          </p:cNvPr>
          <p:cNvSpPr txBox="1"/>
          <p:nvPr/>
        </p:nvSpPr>
        <p:spPr>
          <a:xfrm>
            <a:off x="3400398" y="2311044"/>
            <a:ext cx="47320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53.2</a:t>
            </a:r>
            <a:endParaRPr lang="en-IN" sz="1200"/>
          </a:p>
        </p:txBody>
      </p:sp>
      <p:sp>
        <p:nvSpPr>
          <p:cNvPr id="35" name="TextBox 45">
            <a:extLst>
              <a:ext uri="{FF2B5EF4-FFF2-40B4-BE49-F238E27FC236}">
                <a16:creationId xmlns:a16="http://schemas.microsoft.com/office/drawing/2014/main" id="{CE8F2BC6-07AD-EEB3-318D-0C6BBCB5CF51}"/>
              </a:ext>
            </a:extLst>
          </p:cNvPr>
          <p:cNvSpPr txBox="1"/>
          <p:nvPr/>
        </p:nvSpPr>
        <p:spPr>
          <a:xfrm>
            <a:off x="1947850" y="2311044"/>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50</a:t>
            </a:r>
            <a:endParaRPr lang="en-IN" sz="1200"/>
          </a:p>
        </p:txBody>
      </p:sp>
      <p:sp>
        <p:nvSpPr>
          <p:cNvPr id="36" name="TextBox 46">
            <a:extLst>
              <a:ext uri="{FF2B5EF4-FFF2-40B4-BE49-F238E27FC236}">
                <a16:creationId xmlns:a16="http://schemas.microsoft.com/office/drawing/2014/main" id="{82962609-A5BC-2D34-575C-29FCA3F14BA0}"/>
              </a:ext>
            </a:extLst>
          </p:cNvPr>
          <p:cNvSpPr txBox="1"/>
          <p:nvPr/>
        </p:nvSpPr>
        <p:spPr>
          <a:xfrm>
            <a:off x="2968344" y="4097554"/>
            <a:ext cx="66978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35</a:t>
            </a:r>
            <a:endParaRPr lang="en-IN" sz="1200"/>
          </a:p>
        </p:txBody>
      </p:sp>
      <p:sp>
        <p:nvSpPr>
          <p:cNvPr id="37" name="TextBox 47">
            <a:extLst>
              <a:ext uri="{FF2B5EF4-FFF2-40B4-BE49-F238E27FC236}">
                <a16:creationId xmlns:a16="http://schemas.microsoft.com/office/drawing/2014/main" id="{F4430E79-BA9D-E444-F5DF-DBBCC9C4B77D}"/>
              </a:ext>
            </a:extLst>
          </p:cNvPr>
          <p:cNvSpPr txBox="1"/>
          <p:nvPr/>
        </p:nvSpPr>
        <p:spPr>
          <a:xfrm>
            <a:off x="1909887" y="3389656"/>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25</a:t>
            </a:r>
            <a:endParaRPr lang="en-IN" sz="1200"/>
          </a:p>
        </p:txBody>
      </p:sp>
      <p:sp>
        <p:nvSpPr>
          <p:cNvPr id="38" name="TextBox 48">
            <a:extLst>
              <a:ext uri="{FF2B5EF4-FFF2-40B4-BE49-F238E27FC236}">
                <a16:creationId xmlns:a16="http://schemas.microsoft.com/office/drawing/2014/main" id="{DC6ACC23-3805-3C48-320D-F01291C536CB}"/>
              </a:ext>
            </a:extLst>
          </p:cNvPr>
          <p:cNvSpPr txBox="1"/>
          <p:nvPr/>
        </p:nvSpPr>
        <p:spPr>
          <a:xfrm>
            <a:off x="3677118" y="3433607"/>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50</a:t>
            </a:r>
            <a:endParaRPr lang="en-IN" sz="1200"/>
          </a:p>
        </p:txBody>
      </p:sp>
      <p:sp>
        <p:nvSpPr>
          <p:cNvPr id="39" name="TextBox 49">
            <a:extLst>
              <a:ext uri="{FF2B5EF4-FFF2-40B4-BE49-F238E27FC236}">
                <a16:creationId xmlns:a16="http://schemas.microsoft.com/office/drawing/2014/main" id="{CE04AFBF-5B40-FF5A-5E41-7AF1465BBE52}"/>
              </a:ext>
            </a:extLst>
          </p:cNvPr>
          <p:cNvSpPr txBox="1"/>
          <p:nvPr/>
        </p:nvSpPr>
        <p:spPr>
          <a:xfrm>
            <a:off x="5137480" y="2311044"/>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54</a:t>
            </a:r>
            <a:endParaRPr lang="en-IN" sz="1200"/>
          </a:p>
        </p:txBody>
      </p:sp>
      <p:sp>
        <p:nvSpPr>
          <p:cNvPr id="40" name="TextBox 50">
            <a:extLst>
              <a:ext uri="{FF2B5EF4-FFF2-40B4-BE49-F238E27FC236}">
                <a16:creationId xmlns:a16="http://schemas.microsoft.com/office/drawing/2014/main" id="{3DA750F8-A9AD-AFC3-0F35-6AC7369DFDFA}"/>
              </a:ext>
            </a:extLst>
          </p:cNvPr>
          <p:cNvSpPr txBox="1"/>
          <p:nvPr/>
        </p:nvSpPr>
        <p:spPr>
          <a:xfrm>
            <a:off x="4526848" y="2968950"/>
            <a:ext cx="6367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126.81</a:t>
            </a:r>
            <a:endParaRPr lang="en-IN" sz="1200"/>
          </a:p>
        </p:txBody>
      </p:sp>
      <p:sp>
        <p:nvSpPr>
          <p:cNvPr id="41" name="TextBox 51">
            <a:extLst>
              <a:ext uri="{FF2B5EF4-FFF2-40B4-BE49-F238E27FC236}">
                <a16:creationId xmlns:a16="http://schemas.microsoft.com/office/drawing/2014/main" id="{0BDAF322-18B6-297F-A3B0-5E715B9CBAB1}"/>
              </a:ext>
            </a:extLst>
          </p:cNvPr>
          <p:cNvSpPr txBox="1"/>
          <p:nvPr/>
        </p:nvSpPr>
        <p:spPr>
          <a:xfrm>
            <a:off x="4508899" y="1816531"/>
            <a:ext cx="42992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191</a:t>
            </a:r>
            <a:endParaRPr lang="en-IN" sz="1200"/>
          </a:p>
        </p:txBody>
      </p:sp>
      <p:sp>
        <p:nvSpPr>
          <p:cNvPr id="42" name="TextBox 52">
            <a:extLst>
              <a:ext uri="{FF2B5EF4-FFF2-40B4-BE49-F238E27FC236}">
                <a16:creationId xmlns:a16="http://schemas.microsoft.com/office/drawing/2014/main" id="{7705C91B-C90B-EFB7-FDA8-2CFFE2D74EDC}"/>
              </a:ext>
            </a:extLst>
          </p:cNvPr>
          <p:cNvSpPr txBox="1"/>
          <p:nvPr/>
        </p:nvSpPr>
        <p:spPr>
          <a:xfrm>
            <a:off x="3001411" y="1818602"/>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64</a:t>
            </a:r>
            <a:endParaRPr lang="en-IN" sz="1200"/>
          </a:p>
        </p:txBody>
      </p:sp>
      <p:sp>
        <p:nvSpPr>
          <p:cNvPr id="43" name="TextBox 53">
            <a:extLst>
              <a:ext uri="{FF2B5EF4-FFF2-40B4-BE49-F238E27FC236}">
                <a16:creationId xmlns:a16="http://schemas.microsoft.com/office/drawing/2014/main" id="{966B84CE-8055-25D1-B6EB-A86FDC40B8A4}"/>
              </a:ext>
            </a:extLst>
          </p:cNvPr>
          <p:cNvSpPr txBox="1"/>
          <p:nvPr/>
        </p:nvSpPr>
        <p:spPr>
          <a:xfrm>
            <a:off x="6086173" y="1814011"/>
            <a:ext cx="42992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248</a:t>
            </a:r>
            <a:endParaRPr lang="en-IN" sz="1200"/>
          </a:p>
        </p:txBody>
      </p:sp>
      <p:sp>
        <p:nvSpPr>
          <p:cNvPr id="44" name="TextBox 54">
            <a:extLst>
              <a:ext uri="{FF2B5EF4-FFF2-40B4-BE49-F238E27FC236}">
                <a16:creationId xmlns:a16="http://schemas.microsoft.com/office/drawing/2014/main" id="{CAD66C09-E206-6B8C-A930-9B015EE96B59}"/>
              </a:ext>
            </a:extLst>
          </p:cNvPr>
          <p:cNvSpPr txBox="1"/>
          <p:nvPr/>
        </p:nvSpPr>
        <p:spPr>
          <a:xfrm>
            <a:off x="4526848" y="4121369"/>
            <a:ext cx="6367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126.81</a:t>
            </a:r>
            <a:endParaRPr lang="en-IN" sz="1200"/>
          </a:p>
        </p:txBody>
      </p:sp>
      <p:sp>
        <p:nvSpPr>
          <p:cNvPr id="45" name="TextBox 55">
            <a:extLst>
              <a:ext uri="{FF2B5EF4-FFF2-40B4-BE49-F238E27FC236}">
                <a16:creationId xmlns:a16="http://schemas.microsoft.com/office/drawing/2014/main" id="{9B18F2E5-5877-615D-0126-2FDCA1A95223}"/>
              </a:ext>
            </a:extLst>
          </p:cNvPr>
          <p:cNvSpPr txBox="1"/>
          <p:nvPr/>
        </p:nvSpPr>
        <p:spPr>
          <a:xfrm>
            <a:off x="6086173" y="3026612"/>
            <a:ext cx="42992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248</a:t>
            </a:r>
            <a:endParaRPr lang="en-IN" sz="1200"/>
          </a:p>
        </p:txBody>
      </p:sp>
      <p:sp>
        <p:nvSpPr>
          <p:cNvPr id="46" name="TextBox 56">
            <a:extLst>
              <a:ext uri="{FF2B5EF4-FFF2-40B4-BE49-F238E27FC236}">
                <a16:creationId xmlns:a16="http://schemas.microsoft.com/office/drawing/2014/main" id="{1B582B7D-D8D8-74D1-C6A5-231BAC53DE8D}"/>
              </a:ext>
            </a:extLst>
          </p:cNvPr>
          <p:cNvSpPr txBox="1"/>
          <p:nvPr/>
        </p:nvSpPr>
        <p:spPr>
          <a:xfrm>
            <a:off x="6086173" y="4121369"/>
            <a:ext cx="42992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248</a:t>
            </a:r>
            <a:endParaRPr lang="en-IN" sz="1200"/>
          </a:p>
        </p:txBody>
      </p:sp>
      <p:sp>
        <p:nvSpPr>
          <p:cNvPr id="47" name="TextBox 57">
            <a:extLst>
              <a:ext uri="{FF2B5EF4-FFF2-40B4-BE49-F238E27FC236}">
                <a16:creationId xmlns:a16="http://schemas.microsoft.com/office/drawing/2014/main" id="{2D24F626-5157-C807-3F6C-E77340A1CFE2}"/>
              </a:ext>
            </a:extLst>
          </p:cNvPr>
          <p:cNvSpPr txBox="1"/>
          <p:nvPr/>
        </p:nvSpPr>
        <p:spPr>
          <a:xfrm>
            <a:off x="6691339" y="3570716"/>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50</a:t>
            </a:r>
            <a:endParaRPr lang="en-IN" sz="1200"/>
          </a:p>
        </p:txBody>
      </p:sp>
      <p:sp>
        <p:nvSpPr>
          <p:cNvPr id="48" name="TextBox 58">
            <a:extLst>
              <a:ext uri="{FF2B5EF4-FFF2-40B4-BE49-F238E27FC236}">
                <a16:creationId xmlns:a16="http://schemas.microsoft.com/office/drawing/2014/main" id="{C347D5CF-FD16-8CDE-0193-E135E2893858}"/>
              </a:ext>
            </a:extLst>
          </p:cNvPr>
          <p:cNvSpPr txBox="1"/>
          <p:nvPr/>
        </p:nvSpPr>
        <p:spPr>
          <a:xfrm>
            <a:off x="6691339" y="2445179"/>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54</a:t>
            </a:r>
            <a:endParaRPr lang="en-IN" sz="1200"/>
          </a:p>
        </p:txBody>
      </p:sp>
      <p:cxnSp>
        <p:nvCxnSpPr>
          <p:cNvPr id="49" name="Straight Arrow Connector 48">
            <a:extLst>
              <a:ext uri="{FF2B5EF4-FFF2-40B4-BE49-F238E27FC236}">
                <a16:creationId xmlns:a16="http://schemas.microsoft.com/office/drawing/2014/main" id="{183EA019-351D-C328-3879-A6174BDA271E}"/>
              </a:ext>
            </a:extLst>
          </p:cNvPr>
          <p:cNvCxnSpPr>
            <a:cxnSpLocks/>
            <a:endCxn id="51" idx="0"/>
          </p:cNvCxnSpPr>
          <p:nvPr/>
        </p:nvCxnSpPr>
        <p:spPr>
          <a:xfrm flipH="1">
            <a:off x="6050848" y="4901696"/>
            <a:ext cx="7318" cy="347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66">
            <a:extLst>
              <a:ext uri="{FF2B5EF4-FFF2-40B4-BE49-F238E27FC236}">
                <a16:creationId xmlns:a16="http://schemas.microsoft.com/office/drawing/2014/main" id="{7F1E9922-86A2-28DE-ECFA-2044C1ADB9B9}"/>
              </a:ext>
            </a:extLst>
          </p:cNvPr>
          <p:cNvSpPr txBox="1"/>
          <p:nvPr/>
        </p:nvSpPr>
        <p:spPr>
          <a:xfrm>
            <a:off x="4334813" y="5265403"/>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35</a:t>
            </a:r>
            <a:endParaRPr lang="en-IN" sz="1200"/>
          </a:p>
        </p:txBody>
      </p:sp>
      <p:sp>
        <p:nvSpPr>
          <p:cNvPr id="51" name="TextBox 67">
            <a:extLst>
              <a:ext uri="{FF2B5EF4-FFF2-40B4-BE49-F238E27FC236}">
                <a16:creationId xmlns:a16="http://schemas.microsoft.com/office/drawing/2014/main" id="{0596ABA8-0438-A39E-C43B-1C9BBE2DA730}"/>
              </a:ext>
            </a:extLst>
          </p:cNvPr>
          <p:cNvSpPr txBox="1"/>
          <p:nvPr/>
        </p:nvSpPr>
        <p:spPr>
          <a:xfrm>
            <a:off x="5876762" y="5249186"/>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35</a:t>
            </a:r>
            <a:endParaRPr lang="en-IN" sz="1200"/>
          </a:p>
        </p:txBody>
      </p:sp>
      <p:sp>
        <p:nvSpPr>
          <p:cNvPr id="52" name="TextBox 68">
            <a:extLst>
              <a:ext uri="{FF2B5EF4-FFF2-40B4-BE49-F238E27FC236}">
                <a16:creationId xmlns:a16="http://schemas.microsoft.com/office/drawing/2014/main" id="{088D56D1-0FDD-8A6A-0B70-2DA42F65DE40}"/>
              </a:ext>
            </a:extLst>
          </p:cNvPr>
          <p:cNvSpPr txBox="1"/>
          <p:nvPr/>
        </p:nvSpPr>
        <p:spPr>
          <a:xfrm>
            <a:off x="2785223" y="5249186"/>
            <a:ext cx="34817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35</a:t>
            </a:r>
            <a:endParaRPr lang="en-IN" sz="1200"/>
          </a:p>
        </p:txBody>
      </p:sp>
      <p:sp>
        <p:nvSpPr>
          <p:cNvPr id="53" name="TextBox 70">
            <a:extLst>
              <a:ext uri="{FF2B5EF4-FFF2-40B4-BE49-F238E27FC236}">
                <a16:creationId xmlns:a16="http://schemas.microsoft.com/office/drawing/2014/main" id="{5506A192-E538-8A73-77BD-DC045A5E6271}"/>
              </a:ext>
            </a:extLst>
          </p:cNvPr>
          <p:cNvSpPr txBox="1"/>
          <p:nvPr/>
        </p:nvSpPr>
        <p:spPr>
          <a:xfrm>
            <a:off x="5137480" y="3428153"/>
            <a:ext cx="348172"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50</a:t>
            </a:r>
            <a:endParaRPr lang="en-IN" sz="1200"/>
          </a:p>
        </p:txBody>
      </p:sp>
      <p:cxnSp>
        <p:nvCxnSpPr>
          <p:cNvPr id="54" name="Straight Arrow Connector 53">
            <a:extLst>
              <a:ext uri="{FF2B5EF4-FFF2-40B4-BE49-F238E27FC236}">
                <a16:creationId xmlns:a16="http://schemas.microsoft.com/office/drawing/2014/main" id="{8A4BD794-6656-2FB5-210E-BB03E99D18C8}"/>
              </a:ext>
            </a:extLst>
          </p:cNvPr>
          <p:cNvCxnSpPr>
            <a:cxnSpLocks/>
            <a:stCxn id="58" idx="3"/>
            <a:endCxn id="13" idx="1"/>
          </p:cNvCxnSpPr>
          <p:nvPr/>
        </p:nvCxnSpPr>
        <p:spPr>
          <a:xfrm>
            <a:off x="1768441" y="4743561"/>
            <a:ext cx="2387472" cy="42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6669FAF0-250F-BD0E-0A8B-E110A111EB71}"/>
              </a:ext>
            </a:extLst>
          </p:cNvPr>
          <p:cNvCxnSpPr/>
          <p:nvPr/>
        </p:nvCxnSpPr>
        <p:spPr>
          <a:xfrm>
            <a:off x="4868220" y="4749585"/>
            <a:ext cx="833886" cy="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F55BF61-A745-9D28-5B12-9F85F570104A}"/>
              </a:ext>
            </a:extLst>
          </p:cNvPr>
          <p:cNvCxnSpPr>
            <a:cxnSpLocks/>
            <a:stCxn id="15" idx="3"/>
            <a:endCxn id="57" idx="1"/>
          </p:cNvCxnSpPr>
          <p:nvPr/>
        </p:nvCxnSpPr>
        <p:spPr>
          <a:xfrm flipV="1">
            <a:off x="6404531" y="4744725"/>
            <a:ext cx="286808" cy="30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TextBox 89">
            <a:extLst>
              <a:ext uri="{FF2B5EF4-FFF2-40B4-BE49-F238E27FC236}">
                <a16:creationId xmlns:a16="http://schemas.microsoft.com/office/drawing/2014/main" id="{51D34FAD-0452-3961-D19C-F104CCE47534}"/>
              </a:ext>
            </a:extLst>
          </p:cNvPr>
          <p:cNvSpPr txBox="1"/>
          <p:nvPr/>
        </p:nvSpPr>
        <p:spPr>
          <a:xfrm>
            <a:off x="6691339" y="4606225"/>
            <a:ext cx="21672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 </a:t>
            </a:r>
            <a:endParaRPr lang="en-IN" sz="1200"/>
          </a:p>
        </p:txBody>
      </p:sp>
      <p:sp>
        <p:nvSpPr>
          <p:cNvPr id="58" name="Rectangle: Rounded Corners 57">
            <a:extLst>
              <a:ext uri="{FF2B5EF4-FFF2-40B4-BE49-F238E27FC236}">
                <a16:creationId xmlns:a16="http://schemas.microsoft.com/office/drawing/2014/main" id="{E6408274-4018-35EA-C374-3EAA852C1AD6}"/>
              </a:ext>
            </a:extLst>
          </p:cNvPr>
          <p:cNvSpPr/>
          <p:nvPr/>
        </p:nvSpPr>
        <p:spPr>
          <a:xfrm>
            <a:off x="1312015" y="4588761"/>
            <a:ext cx="456426" cy="309599"/>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Qc</a:t>
            </a:r>
          </a:p>
        </p:txBody>
      </p:sp>
      <p:sp>
        <p:nvSpPr>
          <p:cNvPr id="59" name="Oval 58">
            <a:extLst>
              <a:ext uri="{FF2B5EF4-FFF2-40B4-BE49-F238E27FC236}">
                <a16:creationId xmlns:a16="http://schemas.microsoft.com/office/drawing/2014/main" id="{FA2AC1BC-6DCA-990D-521A-A7C1D211B01F}"/>
              </a:ext>
            </a:extLst>
          </p:cNvPr>
          <p:cNvSpPr>
            <a:spLocks noChangeAspect="1"/>
          </p:cNvSpPr>
          <p:nvPr/>
        </p:nvSpPr>
        <p:spPr>
          <a:xfrm>
            <a:off x="8656747" y="2351384"/>
            <a:ext cx="309600" cy="3096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400" b="1"/>
          </a:p>
        </p:txBody>
      </p:sp>
      <p:sp>
        <p:nvSpPr>
          <p:cNvPr id="60" name="TextBox 104">
            <a:extLst>
              <a:ext uri="{FF2B5EF4-FFF2-40B4-BE49-F238E27FC236}">
                <a16:creationId xmlns:a16="http://schemas.microsoft.com/office/drawing/2014/main" id="{BD05942A-C8AC-826A-E1D3-C393BF839FFB}"/>
              </a:ext>
            </a:extLst>
          </p:cNvPr>
          <p:cNvSpPr txBox="1"/>
          <p:nvPr/>
        </p:nvSpPr>
        <p:spPr>
          <a:xfrm>
            <a:off x="8480656" y="2722178"/>
            <a:ext cx="70736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sz="1400"/>
          </a:p>
        </p:txBody>
      </p:sp>
      <p:sp>
        <p:nvSpPr>
          <p:cNvPr id="61" name="Rectangle: Rounded Corners 60">
            <a:extLst>
              <a:ext uri="{FF2B5EF4-FFF2-40B4-BE49-F238E27FC236}">
                <a16:creationId xmlns:a16="http://schemas.microsoft.com/office/drawing/2014/main" id="{08FD4C91-8718-26C2-1DEF-F8E443F48591}"/>
              </a:ext>
            </a:extLst>
          </p:cNvPr>
          <p:cNvSpPr/>
          <p:nvPr/>
        </p:nvSpPr>
        <p:spPr>
          <a:xfrm>
            <a:off x="8606126" y="3091149"/>
            <a:ext cx="456426" cy="309599"/>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Qc</a:t>
            </a:r>
          </a:p>
        </p:txBody>
      </p:sp>
      <p:cxnSp>
        <p:nvCxnSpPr>
          <p:cNvPr id="62" name="Straight Arrow Connector 61">
            <a:extLst>
              <a:ext uri="{FF2B5EF4-FFF2-40B4-BE49-F238E27FC236}">
                <a16:creationId xmlns:a16="http://schemas.microsoft.com/office/drawing/2014/main" id="{87E1D56E-75ED-FEE8-CF98-FF245ACA7552}"/>
              </a:ext>
            </a:extLst>
          </p:cNvPr>
          <p:cNvCxnSpPr>
            <a:cxnSpLocks/>
          </p:cNvCxnSpPr>
          <p:nvPr/>
        </p:nvCxnSpPr>
        <p:spPr>
          <a:xfrm flipV="1">
            <a:off x="8668143" y="3602187"/>
            <a:ext cx="286808" cy="30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7CF79843-AA1D-243D-9DA4-4978093BFB3C}"/>
              </a:ext>
            </a:extLst>
          </p:cNvPr>
          <p:cNvSpPr txBox="1"/>
          <p:nvPr/>
        </p:nvSpPr>
        <p:spPr>
          <a:xfrm>
            <a:off x="9379974" y="2311044"/>
            <a:ext cx="1340849" cy="276999"/>
          </a:xfrm>
          <a:prstGeom prst="rect">
            <a:avLst/>
          </a:prstGeom>
          <a:noFill/>
        </p:spPr>
        <p:txBody>
          <a:bodyPr wrap="square" rtlCol="0">
            <a:spAutoFit/>
          </a:bodyPr>
          <a:lstStyle/>
          <a:p>
            <a:r>
              <a:rPr lang="en-US" sz="1200"/>
              <a:t>Process Streams</a:t>
            </a:r>
          </a:p>
        </p:txBody>
      </p:sp>
      <p:sp>
        <p:nvSpPr>
          <p:cNvPr id="66" name="TextBox 65">
            <a:extLst>
              <a:ext uri="{FF2B5EF4-FFF2-40B4-BE49-F238E27FC236}">
                <a16:creationId xmlns:a16="http://schemas.microsoft.com/office/drawing/2014/main" id="{F0F271DC-D5CE-9066-2CF6-1BFB3EED731F}"/>
              </a:ext>
            </a:extLst>
          </p:cNvPr>
          <p:cNvSpPr txBox="1"/>
          <p:nvPr/>
        </p:nvSpPr>
        <p:spPr>
          <a:xfrm>
            <a:off x="9379974" y="2703246"/>
            <a:ext cx="1340849" cy="276999"/>
          </a:xfrm>
          <a:prstGeom prst="rect">
            <a:avLst/>
          </a:prstGeom>
          <a:noFill/>
        </p:spPr>
        <p:txBody>
          <a:bodyPr wrap="square" rtlCol="0">
            <a:spAutoFit/>
          </a:bodyPr>
          <a:lstStyle/>
          <a:p>
            <a:r>
              <a:rPr lang="en-US" sz="1200"/>
              <a:t>Heat Exchangers</a:t>
            </a:r>
          </a:p>
        </p:txBody>
      </p:sp>
      <p:sp>
        <p:nvSpPr>
          <p:cNvPr id="67" name="TextBox 66">
            <a:extLst>
              <a:ext uri="{FF2B5EF4-FFF2-40B4-BE49-F238E27FC236}">
                <a16:creationId xmlns:a16="http://schemas.microsoft.com/office/drawing/2014/main" id="{A281F8F0-82C5-CFE2-7329-A874289C611E}"/>
              </a:ext>
            </a:extLst>
          </p:cNvPr>
          <p:cNvSpPr txBox="1"/>
          <p:nvPr/>
        </p:nvSpPr>
        <p:spPr>
          <a:xfrm>
            <a:off x="9379974" y="3085565"/>
            <a:ext cx="1340849" cy="276999"/>
          </a:xfrm>
          <a:prstGeom prst="rect">
            <a:avLst/>
          </a:prstGeom>
          <a:noFill/>
        </p:spPr>
        <p:txBody>
          <a:bodyPr wrap="square" rtlCol="0">
            <a:spAutoFit/>
          </a:bodyPr>
          <a:lstStyle/>
          <a:p>
            <a:r>
              <a:rPr lang="en-US" sz="1200"/>
              <a:t>Cooling Utility</a:t>
            </a:r>
          </a:p>
        </p:txBody>
      </p:sp>
      <p:sp>
        <p:nvSpPr>
          <p:cNvPr id="68" name="TextBox 67">
            <a:extLst>
              <a:ext uri="{FF2B5EF4-FFF2-40B4-BE49-F238E27FC236}">
                <a16:creationId xmlns:a16="http://schemas.microsoft.com/office/drawing/2014/main" id="{7DE191E3-48AD-5E7F-56AA-CCD7FB841C21}"/>
              </a:ext>
            </a:extLst>
          </p:cNvPr>
          <p:cNvSpPr txBox="1"/>
          <p:nvPr/>
        </p:nvSpPr>
        <p:spPr>
          <a:xfrm>
            <a:off x="9379974" y="3440464"/>
            <a:ext cx="1809135" cy="276999"/>
          </a:xfrm>
          <a:prstGeom prst="rect">
            <a:avLst/>
          </a:prstGeom>
          <a:noFill/>
        </p:spPr>
        <p:txBody>
          <a:bodyPr wrap="square" rtlCol="0">
            <a:spAutoFit/>
          </a:bodyPr>
          <a:lstStyle/>
          <a:p>
            <a:r>
              <a:rPr lang="en-US" sz="1200"/>
              <a:t>Connection directions</a:t>
            </a:r>
          </a:p>
        </p:txBody>
      </p:sp>
    </p:spTree>
    <p:extLst>
      <p:ext uri="{BB962C8B-B14F-4D97-AF65-F5344CB8AC3E}">
        <p14:creationId xmlns:p14="http://schemas.microsoft.com/office/powerpoint/2010/main" val="1298991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500"/>
                                        <p:tgtEl>
                                          <p:spTgt spid="67"/>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fade">
                                      <p:cBhvr>
                                        <p:cTn id="53" dur="500"/>
                                        <p:tgtEl>
                                          <p:spTgt spid="6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6"/>
                                        </p:tgtEl>
                                        <p:attrNameLst>
                                          <p:attrName>style.visibility</p:attrName>
                                        </p:attrNameLst>
                                      </p:cBhvr>
                                      <p:to>
                                        <p:strVal val="visible"/>
                                      </p:to>
                                    </p:set>
                                    <p:animEffect transition="in" filter="fade">
                                      <p:cBhvr>
                                        <p:cTn id="56" dur="500"/>
                                        <p:tgtEl>
                                          <p:spTgt spid="66"/>
                                        </p:tgtEl>
                                      </p:cBhvr>
                                    </p:animEffect>
                                  </p:childTnLst>
                                </p:cTn>
                              </p:par>
                            </p:childTnLst>
                          </p:cTn>
                        </p:par>
                        <p:par>
                          <p:cTn id="57" fill="hold">
                            <p:stCondLst>
                              <p:cond delay="1000"/>
                            </p:stCondLst>
                            <p:childTnLst>
                              <p:par>
                                <p:cTn id="58" presetID="22" presetClass="entr" presetSubtype="1"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up)">
                                      <p:cBhvr>
                                        <p:cTn id="60" dur="500"/>
                                        <p:tgtEl>
                                          <p:spTgt spid="24"/>
                                        </p:tgtEl>
                                      </p:cBhvr>
                                    </p:animEffect>
                                  </p:childTnLst>
                                </p:cTn>
                              </p:par>
                              <p:par>
                                <p:cTn id="61" presetID="22" presetClass="entr" presetSubtype="8"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par>
                          <p:cTn id="64" fill="hold">
                            <p:stCondLst>
                              <p:cond delay="1500"/>
                            </p:stCondLst>
                            <p:childTnLst>
                              <p:par>
                                <p:cTn id="65" presetID="22" presetClass="entr" presetSubtype="1" fill="hold" nodeType="after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up)">
                                      <p:cBhvr>
                                        <p:cTn id="67" dur="500"/>
                                        <p:tgtEl>
                                          <p:spTgt spid="26"/>
                                        </p:tgtEl>
                                      </p:cBhvr>
                                    </p:animEffect>
                                  </p:childTnLst>
                                </p:cTn>
                              </p:par>
                              <p:par>
                                <p:cTn id="68" presetID="22" presetClass="entr" presetSubtype="8"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500"/>
                                        <p:tgtEl>
                                          <p:spTgt spid="23"/>
                                        </p:tgtEl>
                                      </p:cBhvr>
                                    </p:animEffect>
                                  </p:childTnLst>
                                </p:cTn>
                              </p:par>
                              <p:par>
                                <p:cTn id="71" presetID="22" presetClass="entr" presetSubtype="1"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up)">
                                      <p:cBhvr>
                                        <p:cTn id="73" dur="500"/>
                                        <p:tgtEl>
                                          <p:spTgt spid="25"/>
                                        </p:tgtEl>
                                      </p:cBhvr>
                                    </p:animEffect>
                                  </p:childTnLst>
                                </p:cTn>
                              </p:par>
                              <p:par>
                                <p:cTn id="74" presetID="22" presetClass="entr" presetSubtype="8" fill="hold"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wipe(left)">
                                      <p:cBhvr>
                                        <p:cTn id="76" dur="500"/>
                                        <p:tgtEl>
                                          <p:spTgt spid="22"/>
                                        </p:tgtEl>
                                      </p:cBhvr>
                                    </p:animEffect>
                                  </p:childTnLst>
                                </p:cTn>
                              </p:par>
                            </p:childTnLst>
                          </p:cTn>
                        </p:par>
                        <p:par>
                          <p:cTn id="77" fill="hold">
                            <p:stCondLst>
                              <p:cond delay="2000"/>
                            </p:stCondLst>
                            <p:childTnLst>
                              <p:par>
                                <p:cTn id="78" presetID="22" presetClass="entr" presetSubtype="8" fill="hold"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wipe(left)">
                                      <p:cBhvr>
                                        <p:cTn id="80" dur="500"/>
                                        <p:tgtEl>
                                          <p:spTgt spid="29"/>
                                        </p:tgtEl>
                                      </p:cBhvr>
                                    </p:animEffect>
                                  </p:childTnLst>
                                </p:cTn>
                              </p:par>
                              <p:par>
                                <p:cTn id="81" presetID="22" presetClass="entr" presetSubtype="8"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wipe(left)">
                                      <p:cBhvr>
                                        <p:cTn id="83" dur="500"/>
                                        <p:tgtEl>
                                          <p:spTgt spid="30"/>
                                        </p:tgtEl>
                                      </p:cBhvr>
                                    </p:animEffect>
                                  </p:childTnLst>
                                </p:cTn>
                              </p:par>
                              <p:par>
                                <p:cTn id="84" presetID="22" presetClass="entr" presetSubtype="8" fill="hold" nodeType="with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wipe(left)">
                                      <p:cBhvr>
                                        <p:cTn id="86" dur="500"/>
                                        <p:tgtEl>
                                          <p:spTgt spid="54"/>
                                        </p:tgtEl>
                                      </p:cBhvr>
                                    </p:animEffect>
                                  </p:childTnLst>
                                </p:cTn>
                              </p:par>
                              <p:par>
                                <p:cTn id="87" presetID="22" presetClass="entr" presetSubtype="1" fill="hold"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wipe(up)">
                                      <p:cBhvr>
                                        <p:cTn id="89" dur="500"/>
                                        <p:tgtEl>
                                          <p:spTgt spid="27"/>
                                        </p:tgtEl>
                                      </p:cBhvr>
                                    </p:animEffect>
                                  </p:childTnLst>
                                </p:cTn>
                              </p:par>
                            </p:childTnLst>
                          </p:cTn>
                        </p:par>
                        <p:par>
                          <p:cTn id="90" fill="hold">
                            <p:stCondLst>
                              <p:cond delay="2500"/>
                            </p:stCondLst>
                            <p:childTnLst>
                              <p:par>
                                <p:cTn id="91" presetID="22" presetClass="entr" presetSubtype="1" fill="hold" nodeType="after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wipe(up)">
                                      <p:cBhvr>
                                        <p:cTn id="93" dur="500"/>
                                        <p:tgtEl>
                                          <p:spTgt spid="32"/>
                                        </p:tgtEl>
                                      </p:cBhvr>
                                    </p:animEffect>
                                  </p:childTnLst>
                                </p:cTn>
                              </p:par>
                              <p:par>
                                <p:cTn id="94" presetID="22" presetClass="entr" presetSubtype="1"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wipe(up)">
                                      <p:cBhvr>
                                        <p:cTn id="96" dur="500"/>
                                        <p:tgtEl>
                                          <p:spTgt spid="31"/>
                                        </p:tgtEl>
                                      </p:cBhvr>
                                    </p:animEffect>
                                  </p:childTnLst>
                                </p:cTn>
                              </p:par>
                              <p:par>
                                <p:cTn id="97" presetID="22" presetClass="entr" presetSubtype="1" fill="hold" nodeType="with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wipe(up)">
                                      <p:cBhvr>
                                        <p:cTn id="99" dur="500"/>
                                        <p:tgtEl>
                                          <p:spTgt spid="28"/>
                                        </p:tgtEl>
                                      </p:cBhvr>
                                    </p:animEffect>
                                  </p:childTnLst>
                                </p:cTn>
                              </p:par>
                              <p:par>
                                <p:cTn id="100" presetID="22" presetClass="entr" presetSubtype="8" fill="hold" nodeType="with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wipe(left)">
                                      <p:cBhvr>
                                        <p:cTn id="102" dur="500"/>
                                        <p:tgtEl>
                                          <p:spTgt spid="55"/>
                                        </p:tgtEl>
                                      </p:cBhvr>
                                    </p:animEffect>
                                  </p:childTnLst>
                                </p:cTn>
                              </p:par>
                            </p:childTnLst>
                          </p:cTn>
                        </p:par>
                        <p:par>
                          <p:cTn id="103" fill="hold">
                            <p:stCondLst>
                              <p:cond delay="3000"/>
                            </p:stCondLst>
                            <p:childTnLst>
                              <p:par>
                                <p:cTn id="104" presetID="22" presetClass="entr" presetSubtype="1" fill="hold" nodeType="after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wipe(up)">
                                      <p:cBhvr>
                                        <p:cTn id="106" dur="500"/>
                                        <p:tgtEl>
                                          <p:spTgt spid="49"/>
                                        </p:tgtEl>
                                      </p:cBhvr>
                                    </p:animEffect>
                                  </p:childTnLst>
                                </p:cTn>
                              </p:par>
                              <p:par>
                                <p:cTn id="107" presetID="22" presetClass="entr" presetSubtype="8" fill="hold" nodeType="with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wipe(left)">
                                      <p:cBhvr>
                                        <p:cTn id="109" dur="500"/>
                                        <p:tgtEl>
                                          <p:spTgt spid="56"/>
                                        </p:tgtEl>
                                      </p:cBhvr>
                                    </p:animEffect>
                                  </p:childTnLst>
                                </p:cTn>
                              </p:par>
                            </p:childTnLst>
                          </p:cTn>
                        </p:par>
                        <p:par>
                          <p:cTn id="110" fill="hold">
                            <p:stCondLst>
                              <p:cond delay="3500"/>
                            </p:stCondLst>
                            <p:childTnLst>
                              <p:par>
                                <p:cTn id="111" presetID="10" presetClass="entr" presetSubtype="0" fill="hold" grpId="0" nodeType="after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fade">
                                      <p:cBhvr>
                                        <p:cTn id="113" dur="500"/>
                                        <p:tgtEl>
                                          <p:spTgt spid="3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50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500"/>
                                        <p:tgtEl>
                                          <p:spTgt spid="3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fade">
                                      <p:cBhvr>
                                        <p:cTn id="125" dur="500"/>
                                        <p:tgtEl>
                                          <p:spTgt spid="43"/>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50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3"/>
                                        </p:tgtEl>
                                        <p:attrNameLst>
                                          <p:attrName>style.visibility</p:attrName>
                                        </p:attrNameLst>
                                      </p:cBhvr>
                                      <p:to>
                                        <p:strVal val="visible"/>
                                      </p:to>
                                    </p:set>
                                    <p:animEffect transition="in" filter="fade">
                                      <p:cBhvr>
                                        <p:cTn id="131" dur="500"/>
                                        <p:tgtEl>
                                          <p:spTgt spid="5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0"/>
                                        </p:tgtEl>
                                        <p:attrNameLst>
                                          <p:attrName>style.visibility</p:attrName>
                                        </p:attrNameLst>
                                      </p:cBhvr>
                                      <p:to>
                                        <p:strVal val="visible"/>
                                      </p:to>
                                    </p:set>
                                    <p:animEffect transition="in" filter="fade">
                                      <p:cBhvr>
                                        <p:cTn id="134" dur="500"/>
                                        <p:tgtEl>
                                          <p:spTgt spid="40"/>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Effect transition="in" filter="fade">
                                      <p:cBhvr>
                                        <p:cTn id="137" dur="500"/>
                                        <p:tgtEl>
                                          <p:spTgt spid="38"/>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500"/>
                                        <p:tgtEl>
                                          <p:spTgt spid="3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4"/>
                                        </p:tgtEl>
                                        <p:attrNameLst>
                                          <p:attrName>style.visibility</p:attrName>
                                        </p:attrNameLst>
                                      </p:cBhvr>
                                      <p:to>
                                        <p:strVal val="visible"/>
                                      </p:to>
                                    </p:set>
                                    <p:animEffect transition="in" filter="fade">
                                      <p:cBhvr>
                                        <p:cTn id="143" dur="500"/>
                                        <p:tgtEl>
                                          <p:spTgt spid="34"/>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00"/>
                                        <p:tgtEl>
                                          <p:spTgt spid="37"/>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49" dur="500"/>
                                        <p:tgtEl>
                                          <p:spTgt spid="3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44"/>
                                        </p:tgtEl>
                                        <p:attrNameLst>
                                          <p:attrName>style.visibility</p:attrName>
                                        </p:attrNameLst>
                                      </p:cBhvr>
                                      <p:to>
                                        <p:strVal val="visible"/>
                                      </p:to>
                                    </p:set>
                                    <p:animEffect transition="in" filter="fade">
                                      <p:cBhvr>
                                        <p:cTn id="152" dur="500"/>
                                        <p:tgtEl>
                                          <p:spTgt spid="4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5" dur="500"/>
                                        <p:tgtEl>
                                          <p:spTgt spid="46"/>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1"/>
                                        </p:tgtEl>
                                        <p:attrNameLst>
                                          <p:attrName>style.visibility</p:attrName>
                                        </p:attrNameLst>
                                      </p:cBhvr>
                                      <p:to>
                                        <p:strVal val="visible"/>
                                      </p:to>
                                    </p:set>
                                    <p:animEffect transition="in" filter="fade">
                                      <p:cBhvr>
                                        <p:cTn id="158" dur="500"/>
                                        <p:tgtEl>
                                          <p:spTgt spid="51"/>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0"/>
                                        </p:tgtEl>
                                        <p:attrNameLst>
                                          <p:attrName>style.visibility</p:attrName>
                                        </p:attrNameLst>
                                      </p:cBhvr>
                                      <p:to>
                                        <p:strVal val="visible"/>
                                      </p:to>
                                    </p:set>
                                    <p:animEffect transition="in" filter="fade">
                                      <p:cBhvr>
                                        <p:cTn id="161" dur="500"/>
                                        <p:tgtEl>
                                          <p:spTgt spid="50"/>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2"/>
                                        </p:tgtEl>
                                        <p:attrNameLst>
                                          <p:attrName>style.visibility</p:attrName>
                                        </p:attrNameLst>
                                      </p:cBhvr>
                                      <p:to>
                                        <p:strVal val="visible"/>
                                      </p:to>
                                    </p:set>
                                    <p:animEffect transition="in" filter="fade">
                                      <p:cBhvr>
                                        <p:cTn id="164" dur="500"/>
                                        <p:tgtEl>
                                          <p:spTgt spid="52"/>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48"/>
                                        </p:tgtEl>
                                        <p:attrNameLst>
                                          <p:attrName>style.visibility</p:attrName>
                                        </p:attrNameLst>
                                      </p:cBhvr>
                                      <p:to>
                                        <p:strVal val="visible"/>
                                      </p:to>
                                    </p:set>
                                    <p:animEffect transition="in" filter="fade">
                                      <p:cBhvr>
                                        <p:cTn id="167" dur="500"/>
                                        <p:tgtEl>
                                          <p:spTgt spid="48"/>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47"/>
                                        </p:tgtEl>
                                        <p:attrNameLst>
                                          <p:attrName>style.visibility</p:attrName>
                                        </p:attrNameLst>
                                      </p:cBhvr>
                                      <p:to>
                                        <p:strVal val="visible"/>
                                      </p:to>
                                    </p:set>
                                    <p:animEffect transition="in" filter="fade">
                                      <p:cBhvr>
                                        <p:cTn id="170" dur="500"/>
                                        <p:tgtEl>
                                          <p:spTgt spid="47"/>
                                        </p:tgtEl>
                                      </p:cBhvr>
                                    </p:animEffect>
                                  </p:childTnLst>
                                </p:cTn>
                              </p:par>
                              <p:par>
                                <p:cTn id="171" presetID="10" presetClass="entr" presetSubtype="0" fill="hold" nodeType="withEffect">
                                  <p:stCondLst>
                                    <p:cond delay="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3" dur="500"/>
                                        <p:tgtEl>
                                          <p:spTgt spid="62"/>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50" grpId="0"/>
      <p:bldP spid="51" grpId="0"/>
      <p:bldP spid="52" grpId="0"/>
      <p:bldP spid="53" grpId="0"/>
      <p:bldP spid="58" grpId="0" animBg="1"/>
      <p:bldP spid="59" grpId="0" animBg="1"/>
      <p:bldP spid="60" grpId="0" animBg="1"/>
      <p:bldP spid="61" grpId="0" animBg="1"/>
      <p:bldP spid="65" grpId="0"/>
      <p:bldP spid="66" grpId="0"/>
      <p:bldP spid="67" grpId="0"/>
      <p:bldP spid="6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65599-EC51-13AA-4878-A5BC78FE30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BDB5A1-48D4-B699-87AC-BC971E711970}"/>
              </a:ext>
            </a:extLst>
          </p:cNvPr>
          <p:cNvPicPr>
            <a:picLocks noChangeAspect="1"/>
          </p:cNvPicPr>
          <p:nvPr/>
        </p:nvPicPr>
        <p:blipFill>
          <a:blip r:embed="rId2"/>
          <a:stretch>
            <a:fillRect/>
          </a:stretch>
        </p:blipFill>
        <p:spPr>
          <a:xfrm>
            <a:off x="3136991" y="761861"/>
            <a:ext cx="7301988" cy="6096390"/>
          </a:xfrm>
          <a:prstGeom prst="rect">
            <a:avLst/>
          </a:prstGeom>
        </p:spPr>
      </p:pic>
      <p:sp>
        <p:nvSpPr>
          <p:cNvPr id="2" name="Slide Number Placeholder 1">
            <a:extLst>
              <a:ext uri="{FF2B5EF4-FFF2-40B4-BE49-F238E27FC236}">
                <a16:creationId xmlns:a16="http://schemas.microsoft.com/office/drawing/2014/main" id="{0DC0BBA1-8B49-0385-2963-D37044D351B5}"/>
              </a:ext>
            </a:extLst>
          </p:cNvPr>
          <p:cNvSpPr>
            <a:spLocks noGrp="1"/>
          </p:cNvSpPr>
          <p:nvPr>
            <p:ph type="sldNum" sz="quarter" idx="12"/>
          </p:nvPr>
        </p:nvSpPr>
        <p:spPr/>
        <p:txBody>
          <a:bodyPr/>
          <a:lstStyle/>
          <a:p>
            <a:fld id="{330EA680-D336-4FF7-8B7A-9848BB0A1C32}" type="slidenum">
              <a:rPr lang="en-US" smtClean="0"/>
              <a:t>60</a:t>
            </a:fld>
            <a:endParaRPr lang="en-US"/>
          </a:p>
        </p:txBody>
      </p:sp>
      <p:sp>
        <p:nvSpPr>
          <p:cNvPr id="4" name="Rectangle 3">
            <a:extLst>
              <a:ext uri="{FF2B5EF4-FFF2-40B4-BE49-F238E27FC236}">
                <a16:creationId xmlns:a16="http://schemas.microsoft.com/office/drawing/2014/main" id="{FAF50979-9A31-A430-A4DA-CFF8EC786D61}"/>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PINCH TECHNOLOGY</a:t>
            </a:r>
          </a:p>
        </p:txBody>
      </p:sp>
      <p:sp>
        <p:nvSpPr>
          <p:cNvPr id="6" name="Rectangle 5">
            <a:extLst>
              <a:ext uri="{FF2B5EF4-FFF2-40B4-BE49-F238E27FC236}">
                <a16:creationId xmlns:a16="http://schemas.microsoft.com/office/drawing/2014/main" id="{692C5C3F-AB87-8FDD-F0EE-577770285CEB}"/>
              </a:ext>
            </a:extLst>
          </p:cNvPr>
          <p:cNvSpPr/>
          <p:nvPr/>
        </p:nvSpPr>
        <p:spPr>
          <a:xfrm>
            <a:off x="6994910" y="1611614"/>
            <a:ext cx="497274" cy="339991"/>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9622B650-FBF9-05B9-E5DE-D4818AD4CE64}"/>
              </a:ext>
            </a:extLst>
          </p:cNvPr>
          <p:cNvSpPr/>
          <p:nvPr/>
        </p:nvSpPr>
        <p:spPr>
          <a:xfrm>
            <a:off x="5234482" y="5898479"/>
            <a:ext cx="556722" cy="334297"/>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Rectangle 7">
            <a:extLst>
              <a:ext uri="{FF2B5EF4-FFF2-40B4-BE49-F238E27FC236}">
                <a16:creationId xmlns:a16="http://schemas.microsoft.com/office/drawing/2014/main" id="{751C99EB-9811-3E01-FAF9-2276E0D37D9C}"/>
              </a:ext>
            </a:extLst>
          </p:cNvPr>
          <p:cNvSpPr/>
          <p:nvPr/>
        </p:nvSpPr>
        <p:spPr>
          <a:xfrm>
            <a:off x="9340649" y="4763973"/>
            <a:ext cx="491168" cy="37406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9" name="Rectangle 8">
            <a:extLst>
              <a:ext uri="{FF2B5EF4-FFF2-40B4-BE49-F238E27FC236}">
                <a16:creationId xmlns:a16="http://schemas.microsoft.com/office/drawing/2014/main" id="{7A048F1B-B30D-0084-D03C-C169021112A7}"/>
              </a:ext>
            </a:extLst>
          </p:cNvPr>
          <p:cNvSpPr/>
          <p:nvPr/>
        </p:nvSpPr>
        <p:spPr>
          <a:xfrm>
            <a:off x="8849482" y="3902532"/>
            <a:ext cx="491167" cy="37406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0" name="Rectangle 9">
            <a:extLst>
              <a:ext uri="{FF2B5EF4-FFF2-40B4-BE49-F238E27FC236}">
                <a16:creationId xmlns:a16="http://schemas.microsoft.com/office/drawing/2014/main" id="{7AF05630-4324-E9EF-7E14-4E4F9C36DEE6}"/>
              </a:ext>
            </a:extLst>
          </p:cNvPr>
          <p:cNvSpPr/>
          <p:nvPr/>
        </p:nvSpPr>
        <p:spPr>
          <a:xfrm>
            <a:off x="8239436" y="2545681"/>
            <a:ext cx="491613" cy="3342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extLst>
      <p:ext uri="{BB962C8B-B14F-4D97-AF65-F5344CB8AC3E}">
        <p14:creationId xmlns:p14="http://schemas.microsoft.com/office/powerpoint/2010/main" val="41015013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B5582-6E05-5004-B741-7DD99343A583}"/>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B4867D2-70BB-A18D-6294-41235BCC9026}"/>
              </a:ext>
            </a:extLst>
          </p:cNvPr>
          <p:cNvSpPr txBox="1"/>
          <p:nvPr/>
        </p:nvSpPr>
        <p:spPr>
          <a:xfrm>
            <a:off x="0" y="756912"/>
            <a:ext cx="7874282" cy="6101088"/>
          </a:xfrm>
          <a:prstGeom prst="rect">
            <a:avLst/>
          </a:prstGeom>
          <a:solidFill>
            <a:srgbClr val="0D1117"/>
          </a:solidFill>
        </p:spPr>
        <p:txBody>
          <a:bodyPr wrap="square" rtlCol="0">
            <a:spAutoFit/>
          </a:bodyPr>
          <a:lstStyle/>
          <a:p>
            <a:endParaRPr lang="en-US"/>
          </a:p>
        </p:txBody>
      </p:sp>
      <p:sp>
        <p:nvSpPr>
          <p:cNvPr id="2" name="Slide Number Placeholder 1">
            <a:extLst>
              <a:ext uri="{FF2B5EF4-FFF2-40B4-BE49-F238E27FC236}">
                <a16:creationId xmlns:a16="http://schemas.microsoft.com/office/drawing/2014/main" id="{E0B68C05-1967-0D90-0855-52E6E4EE1544}"/>
              </a:ext>
            </a:extLst>
          </p:cNvPr>
          <p:cNvSpPr>
            <a:spLocks noGrp="1"/>
          </p:cNvSpPr>
          <p:nvPr>
            <p:ph type="sldNum" sz="quarter" idx="12"/>
          </p:nvPr>
        </p:nvSpPr>
        <p:spPr/>
        <p:txBody>
          <a:bodyPr/>
          <a:lstStyle/>
          <a:p>
            <a:fld id="{330EA680-D336-4FF7-8B7A-9848BB0A1C32}" type="slidenum">
              <a:rPr lang="en-US" smtClean="0"/>
              <a:t>61</a:t>
            </a:fld>
            <a:endParaRPr lang="en-US"/>
          </a:p>
        </p:txBody>
      </p:sp>
      <p:sp>
        <p:nvSpPr>
          <p:cNvPr id="3" name="TextBox 2">
            <a:extLst>
              <a:ext uri="{FF2B5EF4-FFF2-40B4-BE49-F238E27FC236}">
                <a16:creationId xmlns:a16="http://schemas.microsoft.com/office/drawing/2014/main" id="{D78AA836-E719-BD9D-6E0A-F03299C61B19}"/>
              </a:ext>
            </a:extLst>
          </p:cNvPr>
          <p:cNvSpPr txBox="1"/>
          <p:nvPr/>
        </p:nvSpPr>
        <p:spPr>
          <a:xfrm>
            <a:off x="8397240" y="1387366"/>
            <a:ext cx="3581400" cy="3473291"/>
          </a:xfrm>
          <a:prstGeom prst="roundRect">
            <a:avLst/>
          </a:prstGeom>
          <a:ln w="28575">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atin typeface="Times New Roman" panose="02020603050405020304" pitchFamily="18" charset="0"/>
                <a:cs typeface="Times New Roman" panose="02020603050405020304" pitchFamily="18" charset="0"/>
              </a:rPr>
              <a:t>We performed the </a:t>
            </a:r>
            <a:r>
              <a:rPr lang="en-US" b="1">
                <a:latin typeface="Times New Roman" panose="02020603050405020304" pitchFamily="18" charset="0"/>
                <a:cs typeface="Times New Roman" panose="02020603050405020304" pitchFamily="18" charset="0"/>
              </a:rPr>
              <a:t>sensitivity analysis </a:t>
            </a:r>
            <a:r>
              <a:rPr lang="en-US">
                <a:latin typeface="Times New Roman" panose="02020603050405020304" pitchFamily="18" charset="0"/>
                <a:cs typeface="Times New Roman" panose="02020603050405020304" pitchFamily="18" charset="0"/>
              </a:rPr>
              <a:t>to optimize the profit of our plant, in which we have included the below cost.</a:t>
            </a:r>
          </a:p>
          <a:p>
            <a:endParaRPr lang="en-US">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Reboiler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Condenser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Heater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Tray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Reactor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Feed and Product Cost</a:t>
            </a:r>
          </a:p>
        </p:txBody>
      </p:sp>
      <p:grpSp>
        <p:nvGrpSpPr>
          <p:cNvPr id="12" name="Group 11">
            <a:extLst>
              <a:ext uri="{FF2B5EF4-FFF2-40B4-BE49-F238E27FC236}">
                <a16:creationId xmlns:a16="http://schemas.microsoft.com/office/drawing/2014/main" id="{322A78E5-7150-F160-4A5E-0308536820F2}"/>
              </a:ext>
            </a:extLst>
          </p:cNvPr>
          <p:cNvGrpSpPr/>
          <p:nvPr/>
        </p:nvGrpSpPr>
        <p:grpSpPr>
          <a:xfrm>
            <a:off x="-139962" y="756912"/>
            <a:ext cx="8014244" cy="29874369"/>
            <a:chOff x="-139962" y="756912"/>
            <a:chExt cx="8014244" cy="29874369"/>
          </a:xfrm>
        </p:grpSpPr>
        <p:grpSp>
          <p:nvGrpSpPr>
            <p:cNvPr id="11" name="Group 10">
              <a:extLst>
                <a:ext uri="{FF2B5EF4-FFF2-40B4-BE49-F238E27FC236}">
                  <a16:creationId xmlns:a16="http://schemas.microsoft.com/office/drawing/2014/main" id="{5B8EB718-A321-791C-CF17-E9B8BD06D762}"/>
                </a:ext>
              </a:extLst>
            </p:cNvPr>
            <p:cNvGrpSpPr/>
            <p:nvPr/>
          </p:nvGrpSpPr>
          <p:grpSpPr>
            <a:xfrm>
              <a:off x="-139962" y="756912"/>
              <a:ext cx="7483366" cy="12013701"/>
              <a:chOff x="-139962" y="756912"/>
              <a:chExt cx="7483366" cy="12013701"/>
            </a:xfrm>
          </p:grpSpPr>
          <p:pic>
            <p:nvPicPr>
              <p:cNvPr id="1026" name="Picture 2">
                <a:extLst>
                  <a:ext uri="{FF2B5EF4-FFF2-40B4-BE49-F238E27FC236}">
                    <a16:creationId xmlns:a16="http://schemas.microsoft.com/office/drawing/2014/main" id="{D949E262-96E6-D101-456D-E48DB5D58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62" y="756912"/>
                <a:ext cx="7483366" cy="6101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F8DF2BD-B705-6C7C-9224-E36F89F87D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0"/>
                <a:ext cx="7104185" cy="5912613"/>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2597E44C-CA6D-6AE1-AC0F-5F9707E713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770612"/>
              <a:ext cx="7100660" cy="59126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7AB1E2F5-DD86-FF15-D770-07AA2D2803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9" y="18683223"/>
              <a:ext cx="7863773" cy="59740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B46C13B2-630E-2E35-765C-DF5242DA91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 y="24636480"/>
              <a:ext cx="7535917" cy="599480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9A692BE0-3455-4613-023F-5D144825E454}"/>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a:p>
        </p:txBody>
      </p:sp>
    </p:spTree>
    <p:extLst>
      <p:ext uri="{BB962C8B-B14F-4D97-AF65-F5344CB8AC3E}">
        <p14:creationId xmlns:p14="http://schemas.microsoft.com/office/powerpoint/2010/main" val="416653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03161-0383-F5F2-CFC4-77BAD7FD382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AB867A0B-CB6A-861B-3BEC-6CE14F449D51}"/>
              </a:ext>
            </a:extLst>
          </p:cNvPr>
          <p:cNvSpPr txBox="1"/>
          <p:nvPr/>
        </p:nvSpPr>
        <p:spPr>
          <a:xfrm>
            <a:off x="0" y="756912"/>
            <a:ext cx="7874282" cy="6101088"/>
          </a:xfrm>
          <a:prstGeom prst="rect">
            <a:avLst/>
          </a:prstGeom>
          <a:solidFill>
            <a:srgbClr val="0D1117"/>
          </a:solidFill>
        </p:spPr>
        <p:txBody>
          <a:bodyPr wrap="square" rtlCol="0">
            <a:spAutoFit/>
          </a:bodyPr>
          <a:lstStyle/>
          <a:p>
            <a:endParaRPr lang="en-US"/>
          </a:p>
        </p:txBody>
      </p:sp>
      <p:sp>
        <p:nvSpPr>
          <p:cNvPr id="2" name="Slide Number Placeholder 1">
            <a:extLst>
              <a:ext uri="{FF2B5EF4-FFF2-40B4-BE49-F238E27FC236}">
                <a16:creationId xmlns:a16="http://schemas.microsoft.com/office/drawing/2014/main" id="{BCC85146-B6D7-9ED0-DA94-AF1CB86FDB33}"/>
              </a:ext>
            </a:extLst>
          </p:cNvPr>
          <p:cNvSpPr>
            <a:spLocks noGrp="1"/>
          </p:cNvSpPr>
          <p:nvPr>
            <p:ph type="sldNum" sz="quarter" idx="12"/>
          </p:nvPr>
        </p:nvSpPr>
        <p:spPr/>
        <p:txBody>
          <a:bodyPr/>
          <a:lstStyle/>
          <a:p>
            <a:fld id="{330EA680-D336-4FF7-8B7A-9848BB0A1C32}" type="slidenum">
              <a:rPr lang="en-US" smtClean="0"/>
              <a:t>62</a:t>
            </a:fld>
            <a:endParaRPr lang="en-US"/>
          </a:p>
        </p:txBody>
      </p:sp>
      <p:sp>
        <p:nvSpPr>
          <p:cNvPr id="3" name="TextBox 2">
            <a:extLst>
              <a:ext uri="{FF2B5EF4-FFF2-40B4-BE49-F238E27FC236}">
                <a16:creationId xmlns:a16="http://schemas.microsoft.com/office/drawing/2014/main" id="{610EB621-E11D-A1A2-8C8B-CE7C8EFCE179}"/>
              </a:ext>
            </a:extLst>
          </p:cNvPr>
          <p:cNvSpPr txBox="1"/>
          <p:nvPr/>
        </p:nvSpPr>
        <p:spPr>
          <a:xfrm>
            <a:off x="8397240" y="1387366"/>
            <a:ext cx="3581400" cy="3473291"/>
          </a:xfrm>
          <a:prstGeom prst="roundRect">
            <a:avLst/>
          </a:prstGeom>
          <a:ln w="28575">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atin typeface="Times New Roman" panose="02020603050405020304" pitchFamily="18" charset="0"/>
                <a:cs typeface="Times New Roman" panose="02020603050405020304" pitchFamily="18" charset="0"/>
              </a:rPr>
              <a:t>We performed the </a:t>
            </a:r>
            <a:r>
              <a:rPr lang="en-US" b="1">
                <a:latin typeface="Times New Roman" panose="02020603050405020304" pitchFamily="18" charset="0"/>
                <a:cs typeface="Times New Roman" panose="02020603050405020304" pitchFamily="18" charset="0"/>
              </a:rPr>
              <a:t>sensitivity analysis </a:t>
            </a:r>
            <a:r>
              <a:rPr lang="en-US">
                <a:latin typeface="Times New Roman" panose="02020603050405020304" pitchFamily="18" charset="0"/>
                <a:cs typeface="Times New Roman" panose="02020603050405020304" pitchFamily="18" charset="0"/>
              </a:rPr>
              <a:t>to optimize the profit of our plant, in which we have included the below cost.</a:t>
            </a:r>
          </a:p>
          <a:p>
            <a:endParaRPr lang="en-US">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Reboiler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Condenser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Heater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Tray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Reactor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Feed and Product Cost</a:t>
            </a:r>
          </a:p>
        </p:txBody>
      </p:sp>
      <p:grpSp>
        <p:nvGrpSpPr>
          <p:cNvPr id="12" name="Group 11">
            <a:extLst>
              <a:ext uri="{FF2B5EF4-FFF2-40B4-BE49-F238E27FC236}">
                <a16:creationId xmlns:a16="http://schemas.microsoft.com/office/drawing/2014/main" id="{48ACE8A1-78E2-E63E-E002-2FF04823B788}"/>
              </a:ext>
            </a:extLst>
          </p:cNvPr>
          <p:cNvGrpSpPr/>
          <p:nvPr/>
        </p:nvGrpSpPr>
        <p:grpSpPr>
          <a:xfrm>
            <a:off x="-139962" y="-4739648"/>
            <a:ext cx="8014244" cy="29874369"/>
            <a:chOff x="-139962" y="756912"/>
            <a:chExt cx="8014244" cy="29874369"/>
          </a:xfrm>
        </p:grpSpPr>
        <p:grpSp>
          <p:nvGrpSpPr>
            <p:cNvPr id="11" name="Group 10">
              <a:extLst>
                <a:ext uri="{FF2B5EF4-FFF2-40B4-BE49-F238E27FC236}">
                  <a16:creationId xmlns:a16="http://schemas.microsoft.com/office/drawing/2014/main" id="{283E4B92-75C6-DAF0-E280-3A4EA3E99165}"/>
                </a:ext>
              </a:extLst>
            </p:cNvPr>
            <p:cNvGrpSpPr/>
            <p:nvPr/>
          </p:nvGrpSpPr>
          <p:grpSpPr>
            <a:xfrm>
              <a:off x="-139962" y="756912"/>
              <a:ext cx="7483366" cy="12013701"/>
              <a:chOff x="-139962" y="756912"/>
              <a:chExt cx="7483366" cy="12013701"/>
            </a:xfrm>
          </p:grpSpPr>
          <p:pic>
            <p:nvPicPr>
              <p:cNvPr id="1026" name="Picture 2">
                <a:extLst>
                  <a:ext uri="{FF2B5EF4-FFF2-40B4-BE49-F238E27FC236}">
                    <a16:creationId xmlns:a16="http://schemas.microsoft.com/office/drawing/2014/main" id="{3364B600-7118-07DD-4928-F057871B6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62" y="756912"/>
                <a:ext cx="7483366" cy="6101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3C38631-E618-2C82-CD26-DB37026EF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0"/>
                <a:ext cx="7104185" cy="5912613"/>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AAE9F9D3-9575-6E2E-504A-382B275EB6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770612"/>
              <a:ext cx="7100660" cy="59126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2554FBB-24F0-A556-F866-7EEB1330AF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9" y="18683223"/>
              <a:ext cx="7863773" cy="59740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93FAC782-7FE3-E411-8E62-6A6D57D2AB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 y="24636480"/>
              <a:ext cx="7535917" cy="599480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CED92B98-6619-461D-D749-9A66ECCA6E8B}"/>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a:p>
        </p:txBody>
      </p:sp>
    </p:spTree>
    <p:extLst>
      <p:ext uri="{BB962C8B-B14F-4D97-AF65-F5344CB8AC3E}">
        <p14:creationId xmlns:p14="http://schemas.microsoft.com/office/powerpoint/2010/main" val="3693331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99B6-C1E3-C9AB-FE32-2BB6322ED65C}"/>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5A89A87-4F32-6367-DE93-6BC1E4C55354}"/>
              </a:ext>
            </a:extLst>
          </p:cNvPr>
          <p:cNvSpPr txBox="1"/>
          <p:nvPr/>
        </p:nvSpPr>
        <p:spPr>
          <a:xfrm>
            <a:off x="0" y="756912"/>
            <a:ext cx="7874282" cy="6101088"/>
          </a:xfrm>
          <a:prstGeom prst="rect">
            <a:avLst/>
          </a:prstGeom>
          <a:solidFill>
            <a:srgbClr val="0D1117"/>
          </a:solidFill>
        </p:spPr>
        <p:txBody>
          <a:bodyPr wrap="square" rtlCol="0">
            <a:spAutoFit/>
          </a:bodyPr>
          <a:lstStyle/>
          <a:p>
            <a:endParaRPr lang="en-US"/>
          </a:p>
        </p:txBody>
      </p:sp>
      <p:sp>
        <p:nvSpPr>
          <p:cNvPr id="2" name="Slide Number Placeholder 1">
            <a:extLst>
              <a:ext uri="{FF2B5EF4-FFF2-40B4-BE49-F238E27FC236}">
                <a16:creationId xmlns:a16="http://schemas.microsoft.com/office/drawing/2014/main" id="{59ABAB6A-6860-5B5D-FEAD-C7EC4AC2945D}"/>
              </a:ext>
            </a:extLst>
          </p:cNvPr>
          <p:cNvSpPr>
            <a:spLocks noGrp="1"/>
          </p:cNvSpPr>
          <p:nvPr>
            <p:ph type="sldNum" sz="quarter" idx="12"/>
          </p:nvPr>
        </p:nvSpPr>
        <p:spPr/>
        <p:txBody>
          <a:bodyPr/>
          <a:lstStyle/>
          <a:p>
            <a:fld id="{330EA680-D336-4FF7-8B7A-9848BB0A1C32}" type="slidenum">
              <a:rPr lang="en-US" smtClean="0"/>
              <a:t>63</a:t>
            </a:fld>
            <a:endParaRPr lang="en-US"/>
          </a:p>
        </p:txBody>
      </p:sp>
      <p:sp>
        <p:nvSpPr>
          <p:cNvPr id="3" name="TextBox 2">
            <a:extLst>
              <a:ext uri="{FF2B5EF4-FFF2-40B4-BE49-F238E27FC236}">
                <a16:creationId xmlns:a16="http://schemas.microsoft.com/office/drawing/2014/main" id="{35090022-CA76-E1C6-3643-7D51D40A3602}"/>
              </a:ext>
            </a:extLst>
          </p:cNvPr>
          <p:cNvSpPr txBox="1"/>
          <p:nvPr/>
        </p:nvSpPr>
        <p:spPr>
          <a:xfrm>
            <a:off x="8397240" y="1387366"/>
            <a:ext cx="3581400" cy="3473291"/>
          </a:xfrm>
          <a:prstGeom prst="roundRect">
            <a:avLst/>
          </a:prstGeom>
          <a:ln w="28575">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atin typeface="Times New Roman" panose="02020603050405020304" pitchFamily="18" charset="0"/>
                <a:cs typeface="Times New Roman" panose="02020603050405020304" pitchFamily="18" charset="0"/>
              </a:rPr>
              <a:t>We performed the </a:t>
            </a:r>
            <a:r>
              <a:rPr lang="en-US" b="1">
                <a:latin typeface="Times New Roman" panose="02020603050405020304" pitchFamily="18" charset="0"/>
                <a:cs typeface="Times New Roman" panose="02020603050405020304" pitchFamily="18" charset="0"/>
              </a:rPr>
              <a:t>sensitivity analysis </a:t>
            </a:r>
            <a:r>
              <a:rPr lang="en-US">
                <a:latin typeface="Times New Roman" panose="02020603050405020304" pitchFamily="18" charset="0"/>
                <a:cs typeface="Times New Roman" panose="02020603050405020304" pitchFamily="18" charset="0"/>
              </a:rPr>
              <a:t>to optimize the profit of our plant, in which we have included the below cost.</a:t>
            </a:r>
          </a:p>
          <a:p>
            <a:endParaRPr lang="en-US">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Reboiler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Condenser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Heater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Tray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Reactor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Feed and Product Cost</a:t>
            </a:r>
          </a:p>
        </p:txBody>
      </p:sp>
      <p:grpSp>
        <p:nvGrpSpPr>
          <p:cNvPr id="5" name="Group 4">
            <a:extLst>
              <a:ext uri="{FF2B5EF4-FFF2-40B4-BE49-F238E27FC236}">
                <a16:creationId xmlns:a16="http://schemas.microsoft.com/office/drawing/2014/main" id="{7095B01B-9FFC-B425-3138-C4D8983B3A06}"/>
              </a:ext>
            </a:extLst>
          </p:cNvPr>
          <p:cNvGrpSpPr/>
          <p:nvPr/>
        </p:nvGrpSpPr>
        <p:grpSpPr>
          <a:xfrm>
            <a:off x="-139962" y="-10581648"/>
            <a:ext cx="8014244" cy="29874369"/>
            <a:chOff x="-139962" y="756912"/>
            <a:chExt cx="8014244" cy="29874369"/>
          </a:xfrm>
        </p:grpSpPr>
        <p:grpSp>
          <p:nvGrpSpPr>
            <p:cNvPr id="6" name="Group 5">
              <a:extLst>
                <a:ext uri="{FF2B5EF4-FFF2-40B4-BE49-F238E27FC236}">
                  <a16:creationId xmlns:a16="http://schemas.microsoft.com/office/drawing/2014/main" id="{B1E2D019-7195-13B3-666C-4A7DD880F5DE}"/>
                </a:ext>
              </a:extLst>
            </p:cNvPr>
            <p:cNvGrpSpPr/>
            <p:nvPr/>
          </p:nvGrpSpPr>
          <p:grpSpPr>
            <a:xfrm>
              <a:off x="-139962" y="756912"/>
              <a:ext cx="7483366" cy="12013701"/>
              <a:chOff x="-139962" y="756912"/>
              <a:chExt cx="7483366" cy="12013701"/>
            </a:xfrm>
          </p:grpSpPr>
          <p:pic>
            <p:nvPicPr>
              <p:cNvPr id="10" name="Picture 2">
                <a:extLst>
                  <a:ext uri="{FF2B5EF4-FFF2-40B4-BE49-F238E27FC236}">
                    <a16:creationId xmlns:a16="http://schemas.microsoft.com/office/drawing/2014/main" id="{0D2D51E7-A679-89D4-AA9A-AA116B7EE4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62" y="756912"/>
                <a:ext cx="7483366" cy="610108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a:extLst>
                  <a:ext uri="{FF2B5EF4-FFF2-40B4-BE49-F238E27FC236}">
                    <a16:creationId xmlns:a16="http://schemas.microsoft.com/office/drawing/2014/main" id="{87213B8D-5D4F-A548-D8AA-5664E7CD67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0"/>
                <a:ext cx="7104185" cy="5912613"/>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6">
              <a:extLst>
                <a:ext uri="{FF2B5EF4-FFF2-40B4-BE49-F238E27FC236}">
                  <a16:creationId xmlns:a16="http://schemas.microsoft.com/office/drawing/2014/main" id="{6F24685F-4E6D-8ACB-8BB4-E8A9CB001A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770612"/>
              <a:ext cx="7100660" cy="59126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5301544A-5323-D471-E9C1-735E75A8D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9" y="18683223"/>
              <a:ext cx="7863773" cy="597402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49E3A2CB-B1BD-00EB-FA2E-5CE722D191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 y="24636480"/>
              <a:ext cx="7535917" cy="599480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7AC1032E-1BF1-F060-E32C-21B5DB9B563A}"/>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a:p>
        </p:txBody>
      </p:sp>
    </p:spTree>
    <p:extLst>
      <p:ext uri="{BB962C8B-B14F-4D97-AF65-F5344CB8AC3E}">
        <p14:creationId xmlns:p14="http://schemas.microsoft.com/office/powerpoint/2010/main" val="2332881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92687-CB4C-1B9D-0AEB-3DF290AFFE6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BBF5E50-D2CE-AE37-3F80-FD2D1EBF3518}"/>
              </a:ext>
            </a:extLst>
          </p:cNvPr>
          <p:cNvSpPr txBox="1"/>
          <p:nvPr/>
        </p:nvSpPr>
        <p:spPr>
          <a:xfrm>
            <a:off x="0" y="756912"/>
            <a:ext cx="7874282" cy="6101088"/>
          </a:xfrm>
          <a:prstGeom prst="rect">
            <a:avLst/>
          </a:prstGeom>
          <a:solidFill>
            <a:srgbClr val="0D1117"/>
          </a:solidFill>
        </p:spPr>
        <p:txBody>
          <a:bodyPr wrap="square" rtlCol="0">
            <a:spAutoFit/>
          </a:bodyPr>
          <a:lstStyle/>
          <a:p>
            <a:endParaRPr lang="en-US"/>
          </a:p>
        </p:txBody>
      </p:sp>
      <p:sp>
        <p:nvSpPr>
          <p:cNvPr id="2" name="Slide Number Placeholder 1">
            <a:extLst>
              <a:ext uri="{FF2B5EF4-FFF2-40B4-BE49-F238E27FC236}">
                <a16:creationId xmlns:a16="http://schemas.microsoft.com/office/drawing/2014/main" id="{5D56917F-9C6D-EC85-99ED-6B1896EB491F}"/>
              </a:ext>
            </a:extLst>
          </p:cNvPr>
          <p:cNvSpPr>
            <a:spLocks noGrp="1"/>
          </p:cNvSpPr>
          <p:nvPr>
            <p:ph type="sldNum" sz="quarter" idx="12"/>
          </p:nvPr>
        </p:nvSpPr>
        <p:spPr/>
        <p:txBody>
          <a:bodyPr/>
          <a:lstStyle/>
          <a:p>
            <a:fld id="{330EA680-D336-4FF7-8B7A-9848BB0A1C32}" type="slidenum">
              <a:rPr lang="en-US" smtClean="0"/>
              <a:t>64</a:t>
            </a:fld>
            <a:endParaRPr lang="en-US"/>
          </a:p>
        </p:txBody>
      </p:sp>
      <p:sp>
        <p:nvSpPr>
          <p:cNvPr id="3" name="TextBox 2">
            <a:extLst>
              <a:ext uri="{FF2B5EF4-FFF2-40B4-BE49-F238E27FC236}">
                <a16:creationId xmlns:a16="http://schemas.microsoft.com/office/drawing/2014/main" id="{E3E983FA-346A-9090-DC76-AF2F31696BBB}"/>
              </a:ext>
            </a:extLst>
          </p:cNvPr>
          <p:cNvSpPr txBox="1"/>
          <p:nvPr/>
        </p:nvSpPr>
        <p:spPr>
          <a:xfrm>
            <a:off x="8397240" y="1387366"/>
            <a:ext cx="3581400" cy="3473291"/>
          </a:xfrm>
          <a:prstGeom prst="roundRect">
            <a:avLst/>
          </a:prstGeom>
          <a:ln w="28575">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atin typeface="Times New Roman" panose="02020603050405020304" pitchFamily="18" charset="0"/>
                <a:cs typeface="Times New Roman" panose="02020603050405020304" pitchFamily="18" charset="0"/>
              </a:rPr>
              <a:t>We performed the </a:t>
            </a:r>
            <a:r>
              <a:rPr lang="en-US" b="1">
                <a:latin typeface="Times New Roman" panose="02020603050405020304" pitchFamily="18" charset="0"/>
                <a:cs typeface="Times New Roman" panose="02020603050405020304" pitchFamily="18" charset="0"/>
              </a:rPr>
              <a:t>sensitivity analysis </a:t>
            </a:r>
            <a:r>
              <a:rPr lang="en-US">
                <a:latin typeface="Times New Roman" panose="02020603050405020304" pitchFamily="18" charset="0"/>
                <a:cs typeface="Times New Roman" panose="02020603050405020304" pitchFamily="18" charset="0"/>
              </a:rPr>
              <a:t>to optimize the profit of our plant, in which we have included the below cost.</a:t>
            </a:r>
          </a:p>
          <a:p>
            <a:endParaRPr lang="en-US">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Reboiler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Condenser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Heater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Tray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Reactor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Feed and Product Cost</a:t>
            </a:r>
          </a:p>
        </p:txBody>
      </p:sp>
      <p:grpSp>
        <p:nvGrpSpPr>
          <p:cNvPr id="12" name="Group 11">
            <a:extLst>
              <a:ext uri="{FF2B5EF4-FFF2-40B4-BE49-F238E27FC236}">
                <a16:creationId xmlns:a16="http://schemas.microsoft.com/office/drawing/2014/main" id="{3EB2FDDE-300F-148A-AF78-A4B36A08639A}"/>
              </a:ext>
            </a:extLst>
          </p:cNvPr>
          <p:cNvGrpSpPr/>
          <p:nvPr/>
        </p:nvGrpSpPr>
        <p:grpSpPr>
          <a:xfrm>
            <a:off x="-139962" y="-16433808"/>
            <a:ext cx="8014244" cy="29874369"/>
            <a:chOff x="-139962" y="756912"/>
            <a:chExt cx="8014244" cy="29874369"/>
          </a:xfrm>
        </p:grpSpPr>
        <p:grpSp>
          <p:nvGrpSpPr>
            <p:cNvPr id="11" name="Group 10">
              <a:extLst>
                <a:ext uri="{FF2B5EF4-FFF2-40B4-BE49-F238E27FC236}">
                  <a16:creationId xmlns:a16="http://schemas.microsoft.com/office/drawing/2014/main" id="{1A285946-D687-4DC4-490F-928363D2A64A}"/>
                </a:ext>
              </a:extLst>
            </p:cNvPr>
            <p:cNvGrpSpPr/>
            <p:nvPr/>
          </p:nvGrpSpPr>
          <p:grpSpPr>
            <a:xfrm>
              <a:off x="-139962" y="756912"/>
              <a:ext cx="7483366" cy="12013701"/>
              <a:chOff x="-139962" y="756912"/>
              <a:chExt cx="7483366" cy="12013701"/>
            </a:xfrm>
          </p:grpSpPr>
          <p:pic>
            <p:nvPicPr>
              <p:cNvPr id="1026" name="Picture 2">
                <a:extLst>
                  <a:ext uri="{FF2B5EF4-FFF2-40B4-BE49-F238E27FC236}">
                    <a16:creationId xmlns:a16="http://schemas.microsoft.com/office/drawing/2014/main" id="{9D5587EA-5CA3-6034-91D7-D60A24E49C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62" y="756912"/>
                <a:ext cx="7483366" cy="6101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8547131-8785-BDB2-DDD4-3306E928BF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0"/>
                <a:ext cx="7104185" cy="5912613"/>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6068EBFF-AD0C-F695-29D7-27DED5D06A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770612"/>
              <a:ext cx="7100660" cy="59126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CFFA75B-C67B-ECA9-2DDE-19B7C16A33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9" y="18683223"/>
              <a:ext cx="7863773" cy="59740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7CF64906-D04A-38B6-F6E2-CAF2F4F08D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 y="24636480"/>
              <a:ext cx="7535917" cy="599480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A5B70488-95B9-0659-BEB9-500430A0213A}"/>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a:p>
        </p:txBody>
      </p:sp>
    </p:spTree>
    <p:extLst>
      <p:ext uri="{BB962C8B-B14F-4D97-AF65-F5344CB8AC3E}">
        <p14:creationId xmlns:p14="http://schemas.microsoft.com/office/powerpoint/2010/main" val="3328361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5E18-F54F-CF99-2F78-08DA4BB20D7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5F070E56-2C00-8D02-2502-CFBE2687E3F0}"/>
              </a:ext>
            </a:extLst>
          </p:cNvPr>
          <p:cNvSpPr txBox="1"/>
          <p:nvPr/>
        </p:nvSpPr>
        <p:spPr>
          <a:xfrm>
            <a:off x="0" y="756912"/>
            <a:ext cx="7874282" cy="6101088"/>
          </a:xfrm>
          <a:prstGeom prst="rect">
            <a:avLst/>
          </a:prstGeom>
          <a:solidFill>
            <a:srgbClr val="0D1117"/>
          </a:solidFill>
        </p:spPr>
        <p:txBody>
          <a:bodyPr wrap="square" rtlCol="0">
            <a:spAutoFit/>
          </a:bodyPr>
          <a:lstStyle/>
          <a:p>
            <a:endParaRPr lang="en-US"/>
          </a:p>
        </p:txBody>
      </p:sp>
      <p:sp>
        <p:nvSpPr>
          <p:cNvPr id="2" name="Slide Number Placeholder 1">
            <a:extLst>
              <a:ext uri="{FF2B5EF4-FFF2-40B4-BE49-F238E27FC236}">
                <a16:creationId xmlns:a16="http://schemas.microsoft.com/office/drawing/2014/main" id="{822329C0-8DC9-B879-BE6C-4B438C37A4B3}"/>
              </a:ext>
            </a:extLst>
          </p:cNvPr>
          <p:cNvSpPr>
            <a:spLocks noGrp="1"/>
          </p:cNvSpPr>
          <p:nvPr>
            <p:ph type="sldNum" sz="quarter" idx="12"/>
          </p:nvPr>
        </p:nvSpPr>
        <p:spPr/>
        <p:txBody>
          <a:bodyPr/>
          <a:lstStyle/>
          <a:p>
            <a:fld id="{330EA680-D336-4FF7-8B7A-9848BB0A1C32}" type="slidenum">
              <a:rPr lang="en-US" smtClean="0"/>
              <a:t>65</a:t>
            </a:fld>
            <a:endParaRPr lang="en-US"/>
          </a:p>
        </p:txBody>
      </p:sp>
      <p:sp>
        <p:nvSpPr>
          <p:cNvPr id="3" name="TextBox 2">
            <a:extLst>
              <a:ext uri="{FF2B5EF4-FFF2-40B4-BE49-F238E27FC236}">
                <a16:creationId xmlns:a16="http://schemas.microsoft.com/office/drawing/2014/main" id="{F301863A-C8F1-B7B7-AC78-C7913D7F3F62}"/>
              </a:ext>
            </a:extLst>
          </p:cNvPr>
          <p:cNvSpPr txBox="1"/>
          <p:nvPr/>
        </p:nvSpPr>
        <p:spPr>
          <a:xfrm>
            <a:off x="8397240" y="1387366"/>
            <a:ext cx="3581400" cy="3473291"/>
          </a:xfrm>
          <a:prstGeom prst="roundRect">
            <a:avLst/>
          </a:prstGeom>
          <a:ln w="28575">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atin typeface="Times New Roman" panose="02020603050405020304" pitchFamily="18" charset="0"/>
                <a:cs typeface="Times New Roman" panose="02020603050405020304" pitchFamily="18" charset="0"/>
              </a:rPr>
              <a:t>We performed the </a:t>
            </a:r>
            <a:r>
              <a:rPr lang="en-US" b="1">
                <a:latin typeface="Times New Roman" panose="02020603050405020304" pitchFamily="18" charset="0"/>
                <a:cs typeface="Times New Roman" panose="02020603050405020304" pitchFamily="18" charset="0"/>
              </a:rPr>
              <a:t>sensitivity analysis </a:t>
            </a:r>
            <a:r>
              <a:rPr lang="en-US">
                <a:latin typeface="Times New Roman" panose="02020603050405020304" pitchFamily="18" charset="0"/>
                <a:cs typeface="Times New Roman" panose="02020603050405020304" pitchFamily="18" charset="0"/>
              </a:rPr>
              <a:t>to optimize the profit of our plant, in which we have included the below cost.</a:t>
            </a:r>
          </a:p>
          <a:p>
            <a:endParaRPr lang="en-US">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Reboiler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Condenser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Heater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Tray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Reactor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Feed and Product Cost</a:t>
            </a:r>
          </a:p>
        </p:txBody>
      </p:sp>
      <p:grpSp>
        <p:nvGrpSpPr>
          <p:cNvPr id="12" name="Group 11">
            <a:extLst>
              <a:ext uri="{FF2B5EF4-FFF2-40B4-BE49-F238E27FC236}">
                <a16:creationId xmlns:a16="http://schemas.microsoft.com/office/drawing/2014/main" id="{767729EB-22A3-05DD-EFF0-C0224C01CDE1}"/>
              </a:ext>
            </a:extLst>
          </p:cNvPr>
          <p:cNvGrpSpPr/>
          <p:nvPr/>
        </p:nvGrpSpPr>
        <p:grpSpPr>
          <a:xfrm>
            <a:off x="-139962" y="-21849088"/>
            <a:ext cx="8014244" cy="29874369"/>
            <a:chOff x="-139962" y="756912"/>
            <a:chExt cx="8014244" cy="29874369"/>
          </a:xfrm>
        </p:grpSpPr>
        <p:grpSp>
          <p:nvGrpSpPr>
            <p:cNvPr id="11" name="Group 10">
              <a:extLst>
                <a:ext uri="{FF2B5EF4-FFF2-40B4-BE49-F238E27FC236}">
                  <a16:creationId xmlns:a16="http://schemas.microsoft.com/office/drawing/2014/main" id="{F3A15579-A578-0996-5E12-E968FBB069D1}"/>
                </a:ext>
              </a:extLst>
            </p:cNvPr>
            <p:cNvGrpSpPr/>
            <p:nvPr/>
          </p:nvGrpSpPr>
          <p:grpSpPr>
            <a:xfrm>
              <a:off x="-139962" y="756912"/>
              <a:ext cx="7483366" cy="12013701"/>
              <a:chOff x="-139962" y="756912"/>
              <a:chExt cx="7483366" cy="12013701"/>
            </a:xfrm>
          </p:grpSpPr>
          <p:pic>
            <p:nvPicPr>
              <p:cNvPr id="1026" name="Picture 2">
                <a:extLst>
                  <a:ext uri="{FF2B5EF4-FFF2-40B4-BE49-F238E27FC236}">
                    <a16:creationId xmlns:a16="http://schemas.microsoft.com/office/drawing/2014/main" id="{B68B8BE3-48B1-E6BA-3549-B482AD2EE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62" y="756912"/>
                <a:ext cx="7483366" cy="6101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FFEFE23-E143-EF64-F9A2-A3513684FB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0"/>
                <a:ext cx="7104185" cy="5912613"/>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200CE1F2-37C4-F064-1340-715904425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770612"/>
              <a:ext cx="7100660" cy="59126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FB7B9BB-D879-DB1A-0294-6AB40C8DD8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9" y="18683223"/>
              <a:ext cx="7863773" cy="59740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938E7F0D-292A-BB36-44F9-03E79DBA3B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 y="24636480"/>
              <a:ext cx="7535917" cy="599480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2D1BF615-B45E-A047-11BB-59A3552A5CAD}"/>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a:p>
        </p:txBody>
      </p:sp>
    </p:spTree>
    <p:extLst>
      <p:ext uri="{BB962C8B-B14F-4D97-AF65-F5344CB8AC3E}">
        <p14:creationId xmlns:p14="http://schemas.microsoft.com/office/powerpoint/2010/main" val="3888081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CFB12-F073-B8AB-26FC-8FD8DDCE7263}"/>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8B231C1D-0F97-F55C-A031-7AB0721AB449}"/>
              </a:ext>
            </a:extLst>
          </p:cNvPr>
          <p:cNvSpPr txBox="1"/>
          <p:nvPr/>
        </p:nvSpPr>
        <p:spPr>
          <a:xfrm>
            <a:off x="0" y="756912"/>
            <a:ext cx="7874282" cy="6101088"/>
          </a:xfrm>
          <a:prstGeom prst="rect">
            <a:avLst/>
          </a:prstGeom>
          <a:solidFill>
            <a:srgbClr val="0D1117"/>
          </a:solidFill>
        </p:spPr>
        <p:txBody>
          <a:bodyPr wrap="square" rtlCol="0">
            <a:spAutoFit/>
          </a:bodyPr>
          <a:lstStyle/>
          <a:p>
            <a:endParaRPr lang="en-US"/>
          </a:p>
        </p:txBody>
      </p:sp>
      <p:sp>
        <p:nvSpPr>
          <p:cNvPr id="2" name="Slide Number Placeholder 1">
            <a:extLst>
              <a:ext uri="{FF2B5EF4-FFF2-40B4-BE49-F238E27FC236}">
                <a16:creationId xmlns:a16="http://schemas.microsoft.com/office/drawing/2014/main" id="{53EFD8B2-1E5B-423E-6F09-F15F8123FFCE}"/>
              </a:ext>
            </a:extLst>
          </p:cNvPr>
          <p:cNvSpPr>
            <a:spLocks noGrp="1"/>
          </p:cNvSpPr>
          <p:nvPr>
            <p:ph type="sldNum" sz="quarter" idx="12"/>
          </p:nvPr>
        </p:nvSpPr>
        <p:spPr/>
        <p:txBody>
          <a:bodyPr/>
          <a:lstStyle/>
          <a:p>
            <a:fld id="{330EA680-D336-4FF7-8B7A-9848BB0A1C32}" type="slidenum">
              <a:rPr lang="en-US" smtClean="0"/>
              <a:t>66</a:t>
            </a:fld>
            <a:endParaRPr lang="en-US"/>
          </a:p>
        </p:txBody>
      </p:sp>
      <p:sp>
        <p:nvSpPr>
          <p:cNvPr id="3" name="TextBox 2">
            <a:extLst>
              <a:ext uri="{FF2B5EF4-FFF2-40B4-BE49-F238E27FC236}">
                <a16:creationId xmlns:a16="http://schemas.microsoft.com/office/drawing/2014/main" id="{35F8589C-3FD5-6381-7B3D-2183E02AEAD3}"/>
              </a:ext>
            </a:extLst>
          </p:cNvPr>
          <p:cNvSpPr txBox="1"/>
          <p:nvPr/>
        </p:nvSpPr>
        <p:spPr>
          <a:xfrm>
            <a:off x="8397240" y="1387366"/>
            <a:ext cx="3581400" cy="3473291"/>
          </a:xfrm>
          <a:prstGeom prst="roundRect">
            <a:avLst/>
          </a:prstGeom>
          <a:ln w="28575">
            <a:solidFill>
              <a:srgbClr val="00206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atin typeface="Times New Roman" panose="02020603050405020304" pitchFamily="18" charset="0"/>
                <a:cs typeface="Times New Roman" panose="02020603050405020304" pitchFamily="18" charset="0"/>
              </a:rPr>
              <a:t>We performed the </a:t>
            </a:r>
            <a:r>
              <a:rPr lang="en-US" b="1">
                <a:latin typeface="Times New Roman" panose="02020603050405020304" pitchFamily="18" charset="0"/>
                <a:cs typeface="Times New Roman" panose="02020603050405020304" pitchFamily="18" charset="0"/>
              </a:rPr>
              <a:t>sensitivity analysis </a:t>
            </a:r>
            <a:r>
              <a:rPr lang="en-US">
                <a:latin typeface="Times New Roman" panose="02020603050405020304" pitchFamily="18" charset="0"/>
                <a:cs typeface="Times New Roman" panose="02020603050405020304" pitchFamily="18" charset="0"/>
              </a:rPr>
              <a:t>to optimize the profit of our plant, in which we have included the below cost.</a:t>
            </a:r>
          </a:p>
          <a:p>
            <a:endParaRPr lang="en-US">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Reboiler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Condenser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Heater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Tray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Reactor Cost</a:t>
            </a:r>
          </a:p>
          <a:p>
            <a:pPr marL="342900" indent="-342900" fontAlgn="base">
              <a:buFont typeface="+mj-lt"/>
              <a:buAutoNum type="arabicPeriod"/>
            </a:pPr>
            <a:r>
              <a:rPr lang="en-US" b="1">
                <a:latin typeface="Times New Roman" panose="02020603050405020304" pitchFamily="18" charset="0"/>
                <a:cs typeface="Times New Roman" panose="02020603050405020304" pitchFamily="18" charset="0"/>
              </a:rPr>
              <a:t>Feed and Product Cost</a:t>
            </a:r>
          </a:p>
        </p:txBody>
      </p:sp>
      <p:grpSp>
        <p:nvGrpSpPr>
          <p:cNvPr id="12" name="Group 11">
            <a:extLst>
              <a:ext uri="{FF2B5EF4-FFF2-40B4-BE49-F238E27FC236}">
                <a16:creationId xmlns:a16="http://schemas.microsoft.com/office/drawing/2014/main" id="{972D8336-DEE2-6D91-4E43-4353661C02D0}"/>
              </a:ext>
            </a:extLst>
          </p:cNvPr>
          <p:cNvGrpSpPr/>
          <p:nvPr/>
        </p:nvGrpSpPr>
        <p:grpSpPr>
          <a:xfrm>
            <a:off x="-139962" y="-23088608"/>
            <a:ext cx="8014244" cy="29874369"/>
            <a:chOff x="-139962" y="756912"/>
            <a:chExt cx="8014244" cy="29874369"/>
          </a:xfrm>
        </p:grpSpPr>
        <p:grpSp>
          <p:nvGrpSpPr>
            <p:cNvPr id="11" name="Group 10">
              <a:extLst>
                <a:ext uri="{FF2B5EF4-FFF2-40B4-BE49-F238E27FC236}">
                  <a16:creationId xmlns:a16="http://schemas.microsoft.com/office/drawing/2014/main" id="{F6CF37CF-63AD-36E5-AE2B-E3CDD53691E2}"/>
                </a:ext>
              </a:extLst>
            </p:cNvPr>
            <p:cNvGrpSpPr/>
            <p:nvPr/>
          </p:nvGrpSpPr>
          <p:grpSpPr>
            <a:xfrm>
              <a:off x="-139962" y="756912"/>
              <a:ext cx="7483366" cy="12013701"/>
              <a:chOff x="-139962" y="756912"/>
              <a:chExt cx="7483366" cy="12013701"/>
            </a:xfrm>
          </p:grpSpPr>
          <p:pic>
            <p:nvPicPr>
              <p:cNvPr id="1026" name="Picture 2">
                <a:extLst>
                  <a:ext uri="{FF2B5EF4-FFF2-40B4-BE49-F238E27FC236}">
                    <a16:creationId xmlns:a16="http://schemas.microsoft.com/office/drawing/2014/main" id="{32854CE1-4DCF-CA80-2612-5D695AD8E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62" y="756912"/>
                <a:ext cx="7483366" cy="6101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42A7292-8D42-3200-5FD0-C0DA7D3C17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0"/>
                <a:ext cx="7104185" cy="5912613"/>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A0494560-5ED1-3E48-08C2-05A939462D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770612"/>
              <a:ext cx="7100660" cy="59126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666C1B9-8615-E7A8-AB9A-2D6A5B513F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9" y="18683223"/>
              <a:ext cx="7863773" cy="59740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2A68737-B105-D3DE-27E7-84E47069BA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 y="24636480"/>
              <a:ext cx="7535917" cy="599480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224C8BF1-AD3E-D724-D2DC-7E59CF4C0ABC}"/>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a:p>
        </p:txBody>
      </p:sp>
    </p:spTree>
    <p:extLst>
      <p:ext uri="{BB962C8B-B14F-4D97-AF65-F5344CB8AC3E}">
        <p14:creationId xmlns:p14="http://schemas.microsoft.com/office/powerpoint/2010/main" val="3956877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9A515-7709-C5FA-1D30-6CADEB5A91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46B5FA-DA27-D887-CA7F-91D84ECAE32D}"/>
              </a:ext>
            </a:extLst>
          </p:cNvPr>
          <p:cNvSpPr>
            <a:spLocks noGrp="1"/>
          </p:cNvSpPr>
          <p:nvPr>
            <p:ph type="sldNum" sz="quarter" idx="12"/>
          </p:nvPr>
        </p:nvSpPr>
        <p:spPr/>
        <p:txBody>
          <a:bodyPr/>
          <a:lstStyle/>
          <a:p>
            <a:fld id="{330EA680-D336-4FF7-8B7A-9848BB0A1C32}" type="slidenum">
              <a:rPr lang="en-US" smtClean="0"/>
              <a:t>67</a:t>
            </a:fld>
            <a:endParaRPr lang="en-US"/>
          </a:p>
        </p:txBody>
      </p:sp>
      <p:sp>
        <p:nvSpPr>
          <p:cNvPr id="4" name="Rectangle 3">
            <a:extLst>
              <a:ext uri="{FF2B5EF4-FFF2-40B4-BE49-F238E27FC236}">
                <a16:creationId xmlns:a16="http://schemas.microsoft.com/office/drawing/2014/main" id="{F07C781E-9C14-902D-7DC1-089F37167ABA}"/>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sz="2800"/>
          </a:p>
        </p:txBody>
      </p:sp>
      <p:pic>
        <p:nvPicPr>
          <p:cNvPr id="2050" name="Picture 2">
            <a:extLst>
              <a:ext uri="{FF2B5EF4-FFF2-40B4-BE49-F238E27FC236}">
                <a16:creationId xmlns:a16="http://schemas.microsoft.com/office/drawing/2014/main" id="{D2A95930-A70C-576B-4B06-A49E88301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90" y="1709737"/>
            <a:ext cx="5734050" cy="3438525"/>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a:extLst>
              <a:ext uri="{FF2B5EF4-FFF2-40B4-BE49-F238E27FC236}">
                <a16:creationId xmlns:a16="http://schemas.microsoft.com/office/drawing/2014/main" id="{F5AAD691-8B2E-C097-989E-C1D729733B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09737"/>
            <a:ext cx="573405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7820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CA232-0052-27D6-03A9-E76BE7A112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36A8DF-D343-984D-743B-80501757AB5F}"/>
              </a:ext>
            </a:extLst>
          </p:cNvPr>
          <p:cNvSpPr>
            <a:spLocks noGrp="1"/>
          </p:cNvSpPr>
          <p:nvPr>
            <p:ph type="sldNum" sz="quarter" idx="12"/>
          </p:nvPr>
        </p:nvSpPr>
        <p:spPr/>
        <p:txBody>
          <a:bodyPr/>
          <a:lstStyle/>
          <a:p>
            <a:fld id="{330EA680-D336-4FF7-8B7A-9848BB0A1C32}" type="slidenum">
              <a:rPr lang="en-US" smtClean="0"/>
              <a:t>68</a:t>
            </a:fld>
            <a:endParaRPr lang="en-US"/>
          </a:p>
        </p:txBody>
      </p:sp>
      <p:sp>
        <p:nvSpPr>
          <p:cNvPr id="4" name="Rectangle 3">
            <a:extLst>
              <a:ext uri="{FF2B5EF4-FFF2-40B4-BE49-F238E27FC236}">
                <a16:creationId xmlns:a16="http://schemas.microsoft.com/office/drawing/2014/main" id="{953C68A8-4446-F7AC-81DA-191AADF6C72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sz="2800"/>
          </a:p>
        </p:txBody>
      </p:sp>
      <p:pic>
        <p:nvPicPr>
          <p:cNvPr id="2051" name="Picture 3">
            <a:extLst>
              <a:ext uri="{FF2B5EF4-FFF2-40B4-BE49-F238E27FC236}">
                <a16:creationId xmlns:a16="http://schemas.microsoft.com/office/drawing/2014/main" id="{341D813D-31D0-DFBC-5CCD-B88DBB5AD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90" y="1709735"/>
            <a:ext cx="5734050" cy="3438525"/>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FE440BF8-EEC8-7452-CE53-F9CA3C32C0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09736"/>
            <a:ext cx="573405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927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4A650-6EA1-E7C2-9006-C18820AE19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2AD073-0070-DDA4-8D2F-6739085EE7DD}"/>
              </a:ext>
            </a:extLst>
          </p:cNvPr>
          <p:cNvSpPr>
            <a:spLocks noGrp="1"/>
          </p:cNvSpPr>
          <p:nvPr>
            <p:ph type="sldNum" sz="quarter" idx="12"/>
          </p:nvPr>
        </p:nvSpPr>
        <p:spPr/>
        <p:txBody>
          <a:bodyPr/>
          <a:lstStyle/>
          <a:p>
            <a:fld id="{330EA680-D336-4FF7-8B7A-9848BB0A1C32}" type="slidenum">
              <a:rPr lang="en-US" smtClean="0"/>
              <a:t>69</a:t>
            </a:fld>
            <a:endParaRPr lang="en-US"/>
          </a:p>
        </p:txBody>
      </p:sp>
      <p:sp>
        <p:nvSpPr>
          <p:cNvPr id="4" name="Rectangle 3">
            <a:extLst>
              <a:ext uri="{FF2B5EF4-FFF2-40B4-BE49-F238E27FC236}">
                <a16:creationId xmlns:a16="http://schemas.microsoft.com/office/drawing/2014/main" id="{EDC07E6A-0FDE-C404-EF5E-9BAC1B4C46F9}"/>
              </a:ext>
            </a:extLst>
          </p:cNvPr>
          <p:cNvSpPr/>
          <p:nvPr/>
        </p:nvSpPr>
        <p:spPr>
          <a:xfrm>
            <a:off x="0" y="0"/>
            <a:ext cx="12192000" cy="76186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lgn="ctr"/>
            <a:r>
              <a:rPr lang="en-US" sz="2800" cap="all">
                <a:latin typeface="Times New Roman"/>
                <a:cs typeface="Times New Roman"/>
              </a:rPr>
              <a:t>Techno-economic Analysis</a:t>
            </a:r>
            <a:endParaRPr lang="en-US" sz="2800"/>
          </a:p>
        </p:txBody>
      </p:sp>
      <p:pic>
        <p:nvPicPr>
          <p:cNvPr id="2052" name="Picture 4">
            <a:extLst>
              <a:ext uri="{FF2B5EF4-FFF2-40B4-BE49-F238E27FC236}">
                <a16:creationId xmlns:a16="http://schemas.microsoft.com/office/drawing/2014/main" id="{EBDE73C8-96F7-BF67-81DB-62BF9D5B4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95" y="1709737"/>
            <a:ext cx="5734050" cy="34385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52347396-A58E-DAF1-6C97-925F170CCB15}"/>
              </a:ext>
            </a:extLst>
          </p:cNvPr>
          <p:cNvGraphicFramePr>
            <a:graphicFrameLocks noGrp="1"/>
          </p:cNvGraphicFramePr>
          <p:nvPr/>
        </p:nvGraphicFramePr>
        <p:xfrm>
          <a:off x="6842760" y="2170200"/>
          <a:ext cx="4831080" cy="2517598"/>
        </p:xfrm>
        <a:graphic>
          <a:graphicData uri="http://schemas.openxmlformats.org/drawingml/2006/table">
            <a:tbl>
              <a:tblPr firstRow="1" bandRow="1">
                <a:tableStyleId>{5C22544A-7EE6-4342-B048-85BDC9FD1C3A}</a:tableStyleId>
              </a:tblPr>
              <a:tblGrid>
                <a:gridCol w="3852370">
                  <a:extLst>
                    <a:ext uri="{9D8B030D-6E8A-4147-A177-3AD203B41FA5}">
                      <a16:colId xmlns:a16="http://schemas.microsoft.com/office/drawing/2014/main" val="221101851"/>
                    </a:ext>
                  </a:extLst>
                </a:gridCol>
                <a:gridCol w="978710">
                  <a:extLst>
                    <a:ext uri="{9D8B030D-6E8A-4147-A177-3AD203B41FA5}">
                      <a16:colId xmlns:a16="http://schemas.microsoft.com/office/drawing/2014/main" val="1608652518"/>
                    </a:ext>
                  </a:extLst>
                </a:gridCol>
              </a:tblGrid>
              <a:tr h="344399">
                <a:tc>
                  <a:txBody>
                    <a:bodyPr/>
                    <a:lstStyle/>
                    <a:p>
                      <a:pPr algn="ctr" rtl="0" fontAlgn="t">
                        <a:spcBef>
                          <a:spcPts val="1200"/>
                        </a:spcBef>
                        <a:buNone/>
                      </a:pPr>
                      <a:r>
                        <a:rPr lang="en-US" sz="1400" b="1">
                          <a:effectLst/>
                          <a:latin typeface="Times New Roman" panose="02020603050405020304" pitchFamily="18" charset="0"/>
                          <a:cs typeface="Times New Roman" panose="02020603050405020304" pitchFamily="18" charset="0"/>
                        </a:rPr>
                        <a:t>RESULTS (UNITS)</a:t>
                      </a:r>
                    </a:p>
                  </a:txBody>
                  <a:tcPr marL="63500" marR="63500" anchor="ctr">
                    <a:solidFill>
                      <a:srgbClr val="002060"/>
                    </a:solidFill>
                  </a:tcPr>
                </a:tc>
                <a:tc>
                  <a:txBody>
                    <a:bodyPr/>
                    <a:lstStyle/>
                    <a:p>
                      <a:pPr algn="ctr" rtl="0" fontAlgn="t">
                        <a:spcBef>
                          <a:spcPts val="1200"/>
                        </a:spcBef>
                        <a:buNone/>
                      </a:pPr>
                      <a:r>
                        <a:rPr lang="en-US" sz="1400" b="1">
                          <a:effectLst/>
                          <a:latin typeface="Times New Roman" panose="02020603050405020304" pitchFamily="18" charset="0"/>
                          <a:cs typeface="Times New Roman" panose="02020603050405020304" pitchFamily="18" charset="0"/>
                        </a:rPr>
                        <a:t>VALUES</a:t>
                      </a:r>
                    </a:p>
                  </a:txBody>
                  <a:tcPr marL="63500" marR="63500" anchor="ctr">
                    <a:solidFill>
                      <a:srgbClr val="002060"/>
                    </a:solidFill>
                  </a:tcPr>
                </a:tc>
                <a:extLst>
                  <a:ext uri="{0D108BD9-81ED-4DB2-BD59-A6C34878D82A}">
                    <a16:rowId xmlns:a16="http://schemas.microsoft.com/office/drawing/2014/main" val="633609135"/>
                  </a:ext>
                </a:extLst>
              </a:tr>
              <a:tr h="344399">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TOTAL CAPITAL COST (TCC) ($)</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2.98 x 10</a:t>
                      </a:r>
                      <a:r>
                        <a:rPr lang="en-US" sz="1400" b="0" u="none" strike="noStrike" baseline="30000">
                          <a:solidFill>
                            <a:srgbClr val="000000"/>
                          </a:solidFill>
                          <a:effectLst/>
                          <a:latin typeface="Times New Roman" panose="02020603050405020304" pitchFamily="18" charset="0"/>
                          <a:cs typeface="Times New Roman" panose="02020603050405020304" pitchFamily="18" charset="0"/>
                        </a:rPr>
                        <a:t>7</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437939040"/>
                  </a:ext>
                </a:extLst>
              </a:tr>
              <a:tr h="180975">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YEARLY OPERATING COST (YOC) ($)</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1.39 x 10</a:t>
                      </a:r>
                      <a:r>
                        <a:rPr lang="en-US" sz="1400" b="0" u="none" strike="noStrike" baseline="30000">
                          <a:solidFill>
                            <a:srgbClr val="000000"/>
                          </a:solidFill>
                          <a:effectLst/>
                          <a:latin typeface="Times New Roman" panose="02020603050405020304" pitchFamily="18" charset="0"/>
                          <a:cs typeface="Times New Roman" panose="02020603050405020304" pitchFamily="18" charset="0"/>
                        </a:rPr>
                        <a:t>8</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153467547"/>
                  </a:ext>
                </a:extLst>
              </a:tr>
              <a:tr h="180975">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INPUT COST (RAW MATERIALS COST) ($)</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1.06 x 10</a:t>
                      </a:r>
                      <a:r>
                        <a:rPr lang="en-US" sz="1400" b="0" u="none" strike="noStrike" baseline="30000">
                          <a:solidFill>
                            <a:srgbClr val="000000"/>
                          </a:solidFill>
                          <a:effectLst/>
                          <a:latin typeface="Times New Roman" panose="02020603050405020304" pitchFamily="18" charset="0"/>
                          <a:cs typeface="Times New Roman" panose="02020603050405020304" pitchFamily="18" charset="0"/>
                        </a:rPr>
                        <a:t>8</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1413674121"/>
                  </a:ext>
                </a:extLst>
              </a:tr>
              <a:tr h="261480">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REVENUE (PRODUCT MARKET PRICE) ($)</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2.14 x 10</a:t>
                      </a:r>
                      <a:r>
                        <a:rPr lang="en-US" sz="1400" b="0" u="none" strike="noStrike" baseline="30000">
                          <a:solidFill>
                            <a:srgbClr val="000000"/>
                          </a:solidFill>
                          <a:effectLst/>
                          <a:latin typeface="Times New Roman" panose="02020603050405020304" pitchFamily="18" charset="0"/>
                          <a:cs typeface="Times New Roman" panose="02020603050405020304" pitchFamily="18" charset="0"/>
                        </a:rPr>
                        <a:t>8</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587467276"/>
                  </a:ext>
                </a:extLst>
              </a:tr>
              <a:tr h="180975">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PAYBACK PERIOD (PBP) (YEARS)</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3</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4275894065"/>
                  </a:ext>
                </a:extLst>
              </a:tr>
              <a:tr h="180975">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TOTAL ANNUALISED COST (TAC) ($)</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1.49 x 10</a:t>
                      </a:r>
                      <a:r>
                        <a:rPr lang="en-US" sz="1400" b="0" u="none" strike="noStrike" baseline="30000">
                          <a:solidFill>
                            <a:srgbClr val="000000"/>
                          </a:solidFill>
                          <a:effectLst/>
                          <a:latin typeface="Times New Roman" panose="02020603050405020304" pitchFamily="18" charset="0"/>
                          <a:cs typeface="Times New Roman" panose="02020603050405020304" pitchFamily="18" charset="0"/>
                        </a:rPr>
                        <a:t>8</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1556541880"/>
                  </a:ext>
                </a:extLst>
              </a:tr>
              <a:tr h="180975">
                <a:tc>
                  <a:txBody>
                    <a:bodyPr/>
                    <a:lstStyle/>
                    <a:p>
                      <a:pPr algn="ctr" rtl="0" fontAlgn="t">
                        <a:spcBef>
                          <a:spcPts val="1200"/>
                        </a:spcBef>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TOTAL ANNUAL PROFIT (TAP) ($)</a:t>
                      </a:r>
                      <a:endParaRPr lang="en-US" sz="1400" b="1">
                        <a:effectLst/>
                        <a:latin typeface="Times New Roman" panose="02020603050405020304" pitchFamily="18" charset="0"/>
                        <a:cs typeface="Times New Roman" panose="02020603050405020304" pitchFamily="18" charset="0"/>
                      </a:endParaRPr>
                    </a:p>
                  </a:txBody>
                  <a:tcPr marL="63500" marR="63500" anchor="ctr"/>
                </a:tc>
                <a:tc>
                  <a:txBody>
                    <a:bodyPr/>
                    <a:lstStyle/>
                    <a:p>
                      <a:pPr algn="ctr" rtl="0" fontAlgn="t">
                        <a:spcBef>
                          <a:spcPts val="1200"/>
                        </a:spcBef>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6.46 x 10</a:t>
                      </a:r>
                      <a:r>
                        <a:rPr lang="en-US" sz="1400" b="0" u="none" strike="noStrike" baseline="30000">
                          <a:solidFill>
                            <a:srgbClr val="000000"/>
                          </a:solidFill>
                          <a:effectLst/>
                          <a:latin typeface="Times New Roman" panose="02020603050405020304" pitchFamily="18" charset="0"/>
                          <a:cs typeface="Times New Roman" panose="02020603050405020304" pitchFamily="18" charset="0"/>
                        </a:rPr>
                        <a:t>7</a:t>
                      </a:r>
                      <a:endParaRPr lang="en-US" sz="1400">
                        <a:effectLst/>
                        <a:latin typeface="Times New Roman" panose="02020603050405020304" pitchFamily="18" charset="0"/>
                        <a:cs typeface="Times New Roman" panose="02020603050405020304" pitchFamily="18" charset="0"/>
                      </a:endParaRPr>
                    </a:p>
                  </a:txBody>
                  <a:tcPr marL="63500" marR="63500" anchor="ctr"/>
                </a:tc>
                <a:extLst>
                  <a:ext uri="{0D108BD9-81ED-4DB2-BD59-A6C34878D82A}">
                    <a16:rowId xmlns:a16="http://schemas.microsoft.com/office/drawing/2014/main" val="2176006472"/>
                  </a:ext>
                </a:extLst>
              </a:tr>
            </a:tbl>
          </a:graphicData>
        </a:graphic>
      </p:graphicFrame>
    </p:spTree>
    <p:extLst>
      <p:ext uri="{BB962C8B-B14F-4D97-AF65-F5344CB8AC3E}">
        <p14:creationId xmlns:p14="http://schemas.microsoft.com/office/powerpoint/2010/main" val="7655708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CDE4684-92C2-4718-BB45-3E43A020FBD0}"/>
              </a:ext>
            </a:extLst>
          </p:cNvPr>
          <p:cNvSpPr/>
          <p:nvPr/>
        </p:nvSpPr>
        <p:spPr>
          <a:xfrm>
            <a:off x="719667" y="524931"/>
            <a:ext cx="10752666" cy="1921934"/>
          </a:xfrm>
          <a:prstGeom prst="roundRect">
            <a:avLst>
              <a:gd name="adj" fmla="val 12747"/>
            </a:avLst>
          </a:prstGeom>
          <a:solidFill>
            <a:srgbClr val="F2F2F2">
              <a:alpha val="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cap="all">
                <a:solidFill>
                  <a:schemeClr val="bg1">
                    <a:lumMod val="85000"/>
                  </a:schemeClr>
                </a:solidFill>
                <a:latin typeface="Times New Roman" panose="02020603050405020304" pitchFamily="18" charset="0"/>
                <a:cs typeface="Times New Roman" panose="02020603050405020304" pitchFamily="18" charset="0"/>
              </a:rPr>
              <a:t>Thanks!</a:t>
            </a:r>
          </a:p>
        </p:txBody>
      </p:sp>
      <p:sp>
        <p:nvSpPr>
          <p:cNvPr id="8" name="TextBox 7">
            <a:extLst>
              <a:ext uri="{FF2B5EF4-FFF2-40B4-BE49-F238E27FC236}">
                <a16:creationId xmlns:a16="http://schemas.microsoft.com/office/drawing/2014/main" id="{6C44F84A-B0D3-4915-89B3-48EAC917E08A}"/>
              </a:ext>
            </a:extLst>
          </p:cNvPr>
          <p:cNvSpPr txBox="1"/>
          <p:nvPr/>
        </p:nvSpPr>
        <p:spPr>
          <a:xfrm>
            <a:off x="719667" y="3780135"/>
            <a:ext cx="5080000" cy="2031325"/>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2400" err="1">
                <a:solidFill>
                  <a:schemeClr val="bg1">
                    <a:lumMod val="85000"/>
                  </a:schemeClr>
                </a:solidFill>
                <a:latin typeface="Times New Roman" panose="02020603050405020304" pitchFamily="18" charset="0"/>
                <a:cs typeface="Times New Roman" panose="02020603050405020304" pitchFamily="18" charset="0"/>
              </a:rPr>
              <a:t>Aaditya</a:t>
            </a:r>
            <a:r>
              <a:rPr lang="en-US" sz="2400">
                <a:solidFill>
                  <a:schemeClr val="bg1">
                    <a:lumMod val="85000"/>
                  </a:schemeClr>
                </a:solidFill>
                <a:latin typeface="Times New Roman" panose="02020603050405020304" pitchFamily="18" charset="0"/>
                <a:cs typeface="Times New Roman" panose="02020603050405020304" pitchFamily="18" charset="0"/>
              </a:rPr>
              <a:t> </a:t>
            </a:r>
            <a:r>
              <a:rPr lang="en-US" sz="2400" err="1">
                <a:solidFill>
                  <a:schemeClr val="bg1">
                    <a:lumMod val="85000"/>
                  </a:schemeClr>
                </a:solidFill>
                <a:latin typeface="Times New Roman" panose="02020603050405020304" pitchFamily="18" charset="0"/>
                <a:cs typeface="Times New Roman" panose="02020603050405020304" pitchFamily="18" charset="0"/>
              </a:rPr>
              <a:t>Amlan</a:t>
            </a:r>
            <a:r>
              <a:rPr lang="en-US" sz="2400">
                <a:solidFill>
                  <a:schemeClr val="bg1">
                    <a:lumMod val="85000"/>
                  </a:schemeClr>
                </a:solidFill>
                <a:latin typeface="Times New Roman" panose="02020603050405020304" pitchFamily="18" charset="0"/>
                <a:cs typeface="Times New Roman" panose="02020603050405020304" pitchFamily="18" charset="0"/>
              </a:rPr>
              <a:t> Panda (220007)</a:t>
            </a:r>
          </a:p>
          <a:p>
            <a:pPr marL="285750" indent="-285750" algn="just">
              <a:spcBef>
                <a:spcPts val="600"/>
              </a:spcBef>
              <a:spcAft>
                <a:spcPts val="600"/>
              </a:spcAft>
              <a:buFont typeface="Arial" panose="020B0604020202020204" pitchFamily="34" charset="0"/>
              <a:buChar char="•"/>
            </a:pPr>
            <a:r>
              <a:rPr lang="en-US" sz="2400">
                <a:solidFill>
                  <a:schemeClr val="bg1">
                    <a:lumMod val="85000"/>
                  </a:schemeClr>
                </a:solidFill>
                <a:latin typeface="Times New Roman" panose="02020603050405020304" pitchFamily="18" charset="0"/>
                <a:cs typeface="Times New Roman" panose="02020603050405020304" pitchFamily="18" charset="0"/>
              </a:rPr>
              <a:t>Abhijit Dalai (220030)</a:t>
            </a:r>
          </a:p>
          <a:p>
            <a:pPr marL="285750" indent="-285750" algn="just">
              <a:spcBef>
                <a:spcPts val="600"/>
              </a:spcBef>
              <a:spcAft>
                <a:spcPts val="600"/>
              </a:spcAft>
              <a:buFont typeface="Arial" panose="020B0604020202020204" pitchFamily="34" charset="0"/>
              <a:buChar char="•"/>
            </a:pPr>
            <a:r>
              <a:rPr lang="en-US" sz="2400">
                <a:solidFill>
                  <a:schemeClr val="bg1">
                    <a:lumMod val="85000"/>
                  </a:schemeClr>
                </a:solidFill>
                <a:latin typeface="Times New Roman" panose="02020603050405020304" pitchFamily="18" charset="0"/>
                <a:cs typeface="Times New Roman" panose="02020603050405020304" pitchFamily="18" charset="0"/>
              </a:rPr>
              <a:t>Adarsh Pal (220054)</a:t>
            </a:r>
          </a:p>
          <a:p>
            <a:pPr marL="285750" indent="-285750" algn="just">
              <a:spcBef>
                <a:spcPts val="600"/>
              </a:spcBef>
              <a:spcAft>
                <a:spcPts val="600"/>
              </a:spcAft>
              <a:buFont typeface="Arial" panose="020B0604020202020204" pitchFamily="34" charset="0"/>
              <a:buChar char="•"/>
            </a:pPr>
            <a:r>
              <a:rPr lang="en-US" sz="2400">
                <a:solidFill>
                  <a:schemeClr val="bg1">
                    <a:lumMod val="85000"/>
                  </a:schemeClr>
                </a:solidFill>
                <a:latin typeface="Times New Roman" panose="02020603050405020304" pitchFamily="18" charset="0"/>
                <a:cs typeface="Times New Roman" panose="02020603050405020304" pitchFamily="18" charset="0"/>
              </a:rPr>
              <a:t>Akash Kumar Gupta (220095)</a:t>
            </a:r>
          </a:p>
        </p:txBody>
      </p:sp>
      <p:sp>
        <p:nvSpPr>
          <p:cNvPr id="9" name="TextBox 8">
            <a:extLst>
              <a:ext uri="{FF2B5EF4-FFF2-40B4-BE49-F238E27FC236}">
                <a16:creationId xmlns:a16="http://schemas.microsoft.com/office/drawing/2014/main" id="{7119C5C7-6AD0-4764-8857-90DD61A135E9}"/>
              </a:ext>
            </a:extLst>
          </p:cNvPr>
          <p:cNvSpPr txBox="1"/>
          <p:nvPr/>
        </p:nvSpPr>
        <p:spPr>
          <a:xfrm>
            <a:off x="6866467" y="3780135"/>
            <a:ext cx="4605866" cy="2031325"/>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2400" err="1">
                <a:solidFill>
                  <a:schemeClr val="bg1">
                    <a:lumMod val="85000"/>
                  </a:schemeClr>
                </a:solidFill>
                <a:latin typeface="Times New Roman" panose="02020603050405020304" pitchFamily="18" charset="0"/>
                <a:cs typeface="Times New Roman" panose="02020603050405020304" pitchFamily="18" charset="0"/>
              </a:rPr>
              <a:t>Kushagra</a:t>
            </a:r>
            <a:r>
              <a:rPr lang="en-US" sz="2400">
                <a:solidFill>
                  <a:schemeClr val="bg1">
                    <a:lumMod val="85000"/>
                  </a:schemeClr>
                </a:solidFill>
                <a:latin typeface="Times New Roman" panose="02020603050405020304" pitchFamily="18" charset="0"/>
                <a:cs typeface="Times New Roman" panose="02020603050405020304" pitchFamily="18" charset="0"/>
              </a:rPr>
              <a:t> Tiwari (220574)</a:t>
            </a:r>
          </a:p>
          <a:p>
            <a:pPr marL="285750" indent="-285750" algn="just">
              <a:spcBef>
                <a:spcPts val="600"/>
              </a:spcBef>
              <a:spcAft>
                <a:spcPts val="600"/>
              </a:spcAft>
              <a:buFont typeface="Arial" panose="020B0604020202020204" pitchFamily="34" charset="0"/>
              <a:buChar char="•"/>
            </a:pPr>
            <a:r>
              <a:rPr lang="en-US" sz="2400">
                <a:solidFill>
                  <a:schemeClr val="bg1">
                    <a:lumMod val="85000"/>
                  </a:schemeClr>
                </a:solidFill>
                <a:latin typeface="Times New Roman" panose="02020603050405020304" pitchFamily="18" charset="0"/>
                <a:cs typeface="Times New Roman" panose="02020603050405020304" pitchFamily="18" charset="0"/>
              </a:rPr>
              <a:t>Saurabh Yadav (220991)</a:t>
            </a:r>
          </a:p>
          <a:p>
            <a:pPr marL="285750" indent="-285750" algn="just">
              <a:spcBef>
                <a:spcPts val="600"/>
              </a:spcBef>
              <a:spcAft>
                <a:spcPts val="600"/>
              </a:spcAft>
              <a:buFont typeface="Arial" panose="020B0604020202020204" pitchFamily="34" charset="0"/>
              <a:buChar char="•"/>
            </a:pPr>
            <a:r>
              <a:rPr lang="en-US" sz="2400" err="1">
                <a:solidFill>
                  <a:schemeClr val="bg1">
                    <a:lumMod val="85000"/>
                  </a:schemeClr>
                </a:solidFill>
                <a:latin typeface="Times New Roman" panose="02020603050405020304" pitchFamily="18" charset="0"/>
                <a:cs typeface="Times New Roman" panose="02020603050405020304" pitchFamily="18" charset="0"/>
              </a:rPr>
              <a:t>Snehil</a:t>
            </a:r>
            <a:r>
              <a:rPr lang="en-US" sz="2400">
                <a:solidFill>
                  <a:schemeClr val="bg1">
                    <a:lumMod val="85000"/>
                  </a:schemeClr>
                </a:solidFill>
                <a:latin typeface="Times New Roman" panose="02020603050405020304" pitchFamily="18" charset="0"/>
                <a:cs typeface="Times New Roman" panose="02020603050405020304" pitchFamily="18" charset="0"/>
              </a:rPr>
              <a:t> Tripathi (221071)</a:t>
            </a:r>
          </a:p>
          <a:p>
            <a:pPr marL="285750" indent="-285750" algn="just">
              <a:spcBef>
                <a:spcPts val="600"/>
              </a:spcBef>
              <a:spcAft>
                <a:spcPts val="600"/>
              </a:spcAft>
              <a:buFont typeface="Arial" panose="020B0604020202020204" pitchFamily="34" charset="0"/>
              <a:buChar char="•"/>
            </a:pPr>
            <a:r>
              <a:rPr lang="en-US" sz="2400">
                <a:solidFill>
                  <a:schemeClr val="bg1">
                    <a:lumMod val="85000"/>
                  </a:schemeClr>
                </a:solidFill>
                <a:latin typeface="Times New Roman" panose="02020603050405020304" pitchFamily="18" charset="0"/>
                <a:cs typeface="Times New Roman" panose="02020603050405020304" pitchFamily="18" charset="0"/>
              </a:rPr>
              <a:t>Tushar Verma (221147)</a:t>
            </a:r>
          </a:p>
        </p:txBody>
      </p:sp>
      <p:sp>
        <p:nvSpPr>
          <p:cNvPr id="11" name="TextBox 10">
            <a:extLst>
              <a:ext uri="{FF2B5EF4-FFF2-40B4-BE49-F238E27FC236}">
                <a16:creationId xmlns:a16="http://schemas.microsoft.com/office/drawing/2014/main" id="{2DDE1A4A-4963-456B-8BB6-9B0BDC5BAF51}"/>
              </a:ext>
            </a:extLst>
          </p:cNvPr>
          <p:cNvSpPr txBox="1"/>
          <p:nvPr/>
        </p:nvSpPr>
        <p:spPr>
          <a:xfrm>
            <a:off x="719667" y="2897200"/>
            <a:ext cx="6096000" cy="615553"/>
          </a:xfrm>
          <a:prstGeom prst="rect">
            <a:avLst/>
          </a:prstGeom>
          <a:noFill/>
        </p:spPr>
        <p:txBody>
          <a:bodyPr wrap="square">
            <a:spAutoFit/>
          </a:bodyPr>
          <a:lstStyle/>
          <a:p>
            <a:r>
              <a:rPr lang="en-US" sz="3400">
                <a:solidFill>
                  <a:schemeClr val="bg1"/>
                </a:solidFill>
                <a:latin typeface="Times New Roman" panose="02020603050405020304" pitchFamily="18" charset="0"/>
                <a:cs typeface="Times New Roman" panose="02020603050405020304" pitchFamily="18" charset="0"/>
              </a:rPr>
              <a:t>Presented by Group 4:</a:t>
            </a:r>
          </a:p>
        </p:txBody>
      </p:sp>
    </p:spTree>
    <p:extLst>
      <p:ext uri="{BB962C8B-B14F-4D97-AF65-F5344CB8AC3E}">
        <p14:creationId xmlns:p14="http://schemas.microsoft.com/office/powerpoint/2010/main" val="23898874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70</Slides>
  <Notes>25</Notes>
  <HiddenSlides>9</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 453: 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 453 – Capstone Project</dc:title>
  <dc:creator/>
  <cp:revision>4</cp:revision>
  <dcterms:created xsi:type="dcterms:W3CDTF">2025-09-19T12:53:51Z</dcterms:created>
  <dcterms:modified xsi:type="dcterms:W3CDTF">2026-02-05T16:42:07Z</dcterms:modified>
</cp:coreProperties>
</file>